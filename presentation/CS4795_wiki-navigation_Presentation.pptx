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7955280" y="228600"/>
            <a:ext cx="100584" cy="100584"/>
          </a:xfrm>
          <a:prstGeom prst="ellipse">
            <a:avLst/>
          </a:prstGeom>
          <a:solidFill>
            <a:srgbClr val="00A896">
              <a:alpha val="38000"/>
            </a:srgbClr>
          </a:solidFill>
          <a:ln w="12700">
            <a:solidFill>
              <a:srgbClr val="00A896">
                <a:alpha val="38000"/>
              </a:srgbClr>
            </a:solidFill>
            <a:prstDash val="solid"/>
          </a:ln>
        </p:spPr>
      </p:sp>
      <p:sp>
        <p:nvSpPr>
          <p:cNvPr id="3" name="Shape 1"/>
          <p:cNvSpPr/>
          <p:nvPr/>
        </p:nvSpPr>
        <p:spPr>
          <a:xfrm>
            <a:off x="7955280" y="530352"/>
            <a:ext cx="100584" cy="100584"/>
          </a:xfrm>
          <a:prstGeom prst="ellipse">
            <a:avLst/>
          </a:prstGeom>
          <a:solidFill>
            <a:srgbClr val="00A896">
              <a:alpha val="38000"/>
            </a:srgbClr>
          </a:solidFill>
          <a:ln w="12700">
            <a:solidFill>
              <a:srgbClr val="00A896">
                <a:alpha val="38000"/>
              </a:srgbClr>
            </a:solidFill>
            <a:prstDash val="solid"/>
          </a:ln>
        </p:spPr>
      </p:sp>
      <p:sp>
        <p:nvSpPr>
          <p:cNvPr id="4" name="Shape 2"/>
          <p:cNvSpPr/>
          <p:nvPr/>
        </p:nvSpPr>
        <p:spPr>
          <a:xfrm>
            <a:off x="7955280" y="832104"/>
            <a:ext cx="100584" cy="100584"/>
          </a:xfrm>
          <a:prstGeom prst="ellipse">
            <a:avLst/>
          </a:prstGeom>
          <a:solidFill>
            <a:srgbClr val="00A896">
              <a:alpha val="38000"/>
            </a:srgbClr>
          </a:solidFill>
          <a:ln w="12700">
            <a:solidFill>
              <a:srgbClr val="00A896">
                <a:alpha val="38000"/>
              </a:srgbClr>
            </a:solidFill>
            <a:prstDash val="solid"/>
          </a:ln>
        </p:spPr>
      </p:sp>
      <p:sp>
        <p:nvSpPr>
          <p:cNvPr id="5" name="Shape 3"/>
          <p:cNvSpPr/>
          <p:nvPr/>
        </p:nvSpPr>
        <p:spPr>
          <a:xfrm>
            <a:off x="7955280" y="1133856"/>
            <a:ext cx="100584" cy="100584"/>
          </a:xfrm>
          <a:prstGeom prst="ellipse">
            <a:avLst/>
          </a:prstGeom>
          <a:solidFill>
            <a:srgbClr val="00A896">
              <a:alpha val="38000"/>
            </a:srgbClr>
          </a:solidFill>
          <a:ln w="12700">
            <a:solidFill>
              <a:srgbClr val="00A896">
                <a:alpha val="38000"/>
              </a:srgbClr>
            </a:solidFill>
            <a:prstDash val="solid"/>
          </a:ln>
        </p:spPr>
      </p:sp>
      <p:sp>
        <p:nvSpPr>
          <p:cNvPr id="6" name="Shape 4"/>
          <p:cNvSpPr/>
          <p:nvPr/>
        </p:nvSpPr>
        <p:spPr>
          <a:xfrm>
            <a:off x="7955280" y="1435608"/>
            <a:ext cx="100584" cy="100584"/>
          </a:xfrm>
          <a:prstGeom prst="ellipse">
            <a:avLst/>
          </a:prstGeom>
          <a:solidFill>
            <a:srgbClr val="00A896">
              <a:alpha val="38000"/>
            </a:srgbClr>
          </a:solidFill>
          <a:ln w="12700">
            <a:solidFill>
              <a:srgbClr val="00A896">
                <a:alpha val="38000"/>
              </a:srgbClr>
            </a:solidFill>
            <a:prstDash val="solid"/>
          </a:ln>
        </p:spPr>
      </p:sp>
      <p:sp>
        <p:nvSpPr>
          <p:cNvPr id="7" name="Shape 5"/>
          <p:cNvSpPr/>
          <p:nvPr/>
        </p:nvSpPr>
        <p:spPr>
          <a:xfrm>
            <a:off x="8257032" y="228600"/>
            <a:ext cx="100584" cy="100584"/>
          </a:xfrm>
          <a:prstGeom prst="ellipse">
            <a:avLst/>
          </a:prstGeom>
          <a:solidFill>
            <a:srgbClr val="00A896">
              <a:alpha val="38000"/>
            </a:srgbClr>
          </a:solidFill>
          <a:ln w="12700">
            <a:solidFill>
              <a:srgbClr val="00A896">
                <a:alpha val="38000"/>
              </a:srgbClr>
            </a:solidFill>
            <a:prstDash val="solid"/>
          </a:ln>
        </p:spPr>
      </p:sp>
      <p:sp>
        <p:nvSpPr>
          <p:cNvPr id="8" name="Shape 6"/>
          <p:cNvSpPr/>
          <p:nvPr/>
        </p:nvSpPr>
        <p:spPr>
          <a:xfrm>
            <a:off x="8257032" y="530352"/>
            <a:ext cx="100584" cy="100584"/>
          </a:xfrm>
          <a:prstGeom prst="ellipse">
            <a:avLst/>
          </a:prstGeom>
          <a:solidFill>
            <a:srgbClr val="00A896">
              <a:alpha val="38000"/>
            </a:srgbClr>
          </a:solidFill>
          <a:ln w="12700">
            <a:solidFill>
              <a:srgbClr val="00A896">
                <a:alpha val="38000"/>
              </a:srgbClr>
            </a:solidFill>
            <a:prstDash val="solid"/>
          </a:ln>
        </p:spPr>
      </p:sp>
      <p:sp>
        <p:nvSpPr>
          <p:cNvPr id="9" name="Shape 7"/>
          <p:cNvSpPr/>
          <p:nvPr/>
        </p:nvSpPr>
        <p:spPr>
          <a:xfrm>
            <a:off x="8257032" y="832104"/>
            <a:ext cx="100584" cy="100584"/>
          </a:xfrm>
          <a:prstGeom prst="ellipse">
            <a:avLst/>
          </a:prstGeom>
          <a:solidFill>
            <a:srgbClr val="00A896">
              <a:alpha val="38000"/>
            </a:srgbClr>
          </a:solidFill>
          <a:ln w="12700">
            <a:solidFill>
              <a:srgbClr val="00A896">
                <a:alpha val="38000"/>
              </a:srgbClr>
            </a:solidFill>
            <a:prstDash val="solid"/>
          </a:ln>
        </p:spPr>
      </p:sp>
      <p:sp>
        <p:nvSpPr>
          <p:cNvPr id="10" name="Shape 8"/>
          <p:cNvSpPr/>
          <p:nvPr/>
        </p:nvSpPr>
        <p:spPr>
          <a:xfrm>
            <a:off x="8257032" y="1133856"/>
            <a:ext cx="100584" cy="100584"/>
          </a:xfrm>
          <a:prstGeom prst="ellipse">
            <a:avLst/>
          </a:prstGeom>
          <a:solidFill>
            <a:srgbClr val="00A896">
              <a:alpha val="38000"/>
            </a:srgbClr>
          </a:solidFill>
          <a:ln w="12700">
            <a:solidFill>
              <a:srgbClr val="00A896">
                <a:alpha val="38000"/>
              </a:srgbClr>
            </a:solidFill>
            <a:prstDash val="solid"/>
          </a:ln>
        </p:spPr>
      </p:sp>
      <p:sp>
        <p:nvSpPr>
          <p:cNvPr id="11" name="Shape 9"/>
          <p:cNvSpPr/>
          <p:nvPr/>
        </p:nvSpPr>
        <p:spPr>
          <a:xfrm>
            <a:off x="8257032" y="1435608"/>
            <a:ext cx="100584" cy="100584"/>
          </a:xfrm>
          <a:prstGeom prst="ellipse">
            <a:avLst/>
          </a:prstGeom>
          <a:solidFill>
            <a:srgbClr val="00A896">
              <a:alpha val="38000"/>
            </a:srgbClr>
          </a:solidFill>
          <a:ln w="12700">
            <a:solidFill>
              <a:srgbClr val="00A896">
                <a:alpha val="38000"/>
              </a:srgbClr>
            </a:solidFill>
            <a:prstDash val="solid"/>
          </a:ln>
        </p:spPr>
      </p:sp>
      <p:sp>
        <p:nvSpPr>
          <p:cNvPr id="12" name="Shape 10"/>
          <p:cNvSpPr/>
          <p:nvPr/>
        </p:nvSpPr>
        <p:spPr>
          <a:xfrm>
            <a:off x="8558784" y="228600"/>
            <a:ext cx="100584" cy="100584"/>
          </a:xfrm>
          <a:prstGeom prst="ellipse">
            <a:avLst/>
          </a:prstGeom>
          <a:solidFill>
            <a:srgbClr val="00A896">
              <a:alpha val="38000"/>
            </a:srgbClr>
          </a:solidFill>
          <a:ln w="12700">
            <a:solidFill>
              <a:srgbClr val="00A896">
                <a:alpha val="38000"/>
              </a:srgbClr>
            </a:solidFill>
            <a:prstDash val="solid"/>
          </a:ln>
        </p:spPr>
      </p:sp>
      <p:sp>
        <p:nvSpPr>
          <p:cNvPr id="13" name="Shape 11"/>
          <p:cNvSpPr/>
          <p:nvPr/>
        </p:nvSpPr>
        <p:spPr>
          <a:xfrm>
            <a:off x="8558784" y="530352"/>
            <a:ext cx="100584" cy="100584"/>
          </a:xfrm>
          <a:prstGeom prst="ellipse">
            <a:avLst/>
          </a:prstGeom>
          <a:solidFill>
            <a:srgbClr val="00A896">
              <a:alpha val="38000"/>
            </a:srgbClr>
          </a:solidFill>
          <a:ln w="12700">
            <a:solidFill>
              <a:srgbClr val="00A896">
                <a:alpha val="38000"/>
              </a:srgbClr>
            </a:solidFill>
            <a:prstDash val="solid"/>
          </a:ln>
        </p:spPr>
      </p:sp>
      <p:sp>
        <p:nvSpPr>
          <p:cNvPr id="14" name="Shape 12"/>
          <p:cNvSpPr/>
          <p:nvPr/>
        </p:nvSpPr>
        <p:spPr>
          <a:xfrm>
            <a:off x="8558784" y="832104"/>
            <a:ext cx="100584" cy="100584"/>
          </a:xfrm>
          <a:prstGeom prst="ellipse">
            <a:avLst/>
          </a:prstGeom>
          <a:solidFill>
            <a:srgbClr val="00A896">
              <a:alpha val="38000"/>
            </a:srgbClr>
          </a:solidFill>
          <a:ln w="12700">
            <a:solidFill>
              <a:srgbClr val="00A896">
                <a:alpha val="38000"/>
              </a:srgbClr>
            </a:solidFill>
            <a:prstDash val="solid"/>
          </a:ln>
        </p:spPr>
      </p:sp>
      <p:sp>
        <p:nvSpPr>
          <p:cNvPr id="15" name="Shape 13"/>
          <p:cNvSpPr/>
          <p:nvPr/>
        </p:nvSpPr>
        <p:spPr>
          <a:xfrm>
            <a:off x="8558784" y="1133856"/>
            <a:ext cx="100584" cy="100584"/>
          </a:xfrm>
          <a:prstGeom prst="ellipse">
            <a:avLst/>
          </a:prstGeom>
          <a:solidFill>
            <a:srgbClr val="00A896">
              <a:alpha val="38000"/>
            </a:srgbClr>
          </a:solidFill>
          <a:ln w="12700">
            <a:solidFill>
              <a:srgbClr val="00A896">
                <a:alpha val="38000"/>
              </a:srgbClr>
            </a:solidFill>
            <a:prstDash val="solid"/>
          </a:ln>
        </p:spPr>
      </p:sp>
      <p:sp>
        <p:nvSpPr>
          <p:cNvPr id="16" name="Shape 14"/>
          <p:cNvSpPr/>
          <p:nvPr/>
        </p:nvSpPr>
        <p:spPr>
          <a:xfrm>
            <a:off x="8558784" y="1435608"/>
            <a:ext cx="100584" cy="100584"/>
          </a:xfrm>
          <a:prstGeom prst="ellipse">
            <a:avLst/>
          </a:prstGeom>
          <a:solidFill>
            <a:srgbClr val="00A896">
              <a:alpha val="38000"/>
            </a:srgbClr>
          </a:solidFill>
          <a:ln w="12700">
            <a:solidFill>
              <a:srgbClr val="00A896">
                <a:alpha val="38000"/>
              </a:srgbClr>
            </a:solidFill>
            <a:prstDash val="solid"/>
          </a:ln>
        </p:spPr>
      </p:sp>
      <p:sp>
        <p:nvSpPr>
          <p:cNvPr id="17" name="Shape 15"/>
          <p:cNvSpPr/>
          <p:nvPr/>
        </p:nvSpPr>
        <p:spPr>
          <a:xfrm>
            <a:off x="8860536" y="228600"/>
            <a:ext cx="100584" cy="100584"/>
          </a:xfrm>
          <a:prstGeom prst="ellipse">
            <a:avLst/>
          </a:prstGeom>
          <a:solidFill>
            <a:srgbClr val="00A896">
              <a:alpha val="38000"/>
            </a:srgbClr>
          </a:solidFill>
          <a:ln w="12700">
            <a:solidFill>
              <a:srgbClr val="00A896">
                <a:alpha val="38000"/>
              </a:srgbClr>
            </a:solidFill>
            <a:prstDash val="solid"/>
          </a:ln>
        </p:spPr>
      </p:sp>
      <p:sp>
        <p:nvSpPr>
          <p:cNvPr id="18" name="Shape 16"/>
          <p:cNvSpPr/>
          <p:nvPr/>
        </p:nvSpPr>
        <p:spPr>
          <a:xfrm>
            <a:off x="8860536" y="530352"/>
            <a:ext cx="100584" cy="100584"/>
          </a:xfrm>
          <a:prstGeom prst="ellipse">
            <a:avLst/>
          </a:prstGeom>
          <a:solidFill>
            <a:srgbClr val="00A896">
              <a:alpha val="38000"/>
            </a:srgbClr>
          </a:solidFill>
          <a:ln w="12700">
            <a:solidFill>
              <a:srgbClr val="00A896">
                <a:alpha val="38000"/>
              </a:srgbClr>
            </a:solidFill>
            <a:prstDash val="solid"/>
          </a:ln>
        </p:spPr>
      </p:sp>
      <p:sp>
        <p:nvSpPr>
          <p:cNvPr id="19" name="Shape 17"/>
          <p:cNvSpPr/>
          <p:nvPr/>
        </p:nvSpPr>
        <p:spPr>
          <a:xfrm>
            <a:off x="8860536" y="832104"/>
            <a:ext cx="100584" cy="100584"/>
          </a:xfrm>
          <a:prstGeom prst="ellipse">
            <a:avLst/>
          </a:prstGeom>
          <a:solidFill>
            <a:srgbClr val="00A896">
              <a:alpha val="38000"/>
            </a:srgbClr>
          </a:solidFill>
          <a:ln w="12700">
            <a:solidFill>
              <a:srgbClr val="00A896">
                <a:alpha val="38000"/>
              </a:srgbClr>
            </a:solidFill>
            <a:prstDash val="solid"/>
          </a:ln>
        </p:spPr>
      </p:sp>
      <p:sp>
        <p:nvSpPr>
          <p:cNvPr id="20" name="Shape 18"/>
          <p:cNvSpPr/>
          <p:nvPr/>
        </p:nvSpPr>
        <p:spPr>
          <a:xfrm>
            <a:off x="8860536" y="1133856"/>
            <a:ext cx="100584" cy="100584"/>
          </a:xfrm>
          <a:prstGeom prst="ellipse">
            <a:avLst/>
          </a:prstGeom>
          <a:solidFill>
            <a:srgbClr val="00A896">
              <a:alpha val="38000"/>
            </a:srgbClr>
          </a:solidFill>
          <a:ln w="12700">
            <a:solidFill>
              <a:srgbClr val="00A896">
                <a:alpha val="38000"/>
              </a:srgbClr>
            </a:solidFill>
            <a:prstDash val="solid"/>
          </a:ln>
        </p:spPr>
      </p:sp>
      <p:sp>
        <p:nvSpPr>
          <p:cNvPr id="21" name="Shape 19"/>
          <p:cNvSpPr/>
          <p:nvPr/>
        </p:nvSpPr>
        <p:spPr>
          <a:xfrm>
            <a:off x="8860536" y="1435608"/>
            <a:ext cx="100584" cy="100584"/>
          </a:xfrm>
          <a:prstGeom prst="ellipse">
            <a:avLst/>
          </a:prstGeom>
          <a:solidFill>
            <a:srgbClr val="00A896">
              <a:alpha val="38000"/>
            </a:srgbClr>
          </a:solidFill>
          <a:ln w="12700">
            <a:solidFill>
              <a:srgbClr val="00A896">
                <a:alpha val="38000"/>
              </a:srgbClr>
            </a:solidFill>
            <a:prstDash val="solid"/>
          </a:ln>
        </p:spPr>
      </p:sp>
      <p:sp>
        <p:nvSpPr>
          <p:cNvPr id="22" name="Shape 20"/>
          <p:cNvSpPr/>
          <p:nvPr/>
        </p:nvSpPr>
        <p:spPr>
          <a:xfrm>
            <a:off x="0" y="0"/>
            <a:ext cx="146304" cy="5143500"/>
          </a:xfrm>
          <a:prstGeom prst="rect">
            <a:avLst/>
          </a:prstGeom>
          <a:solidFill>
            <a:srgbClr val="00A896"/>
          </a:solidFill>
          <a:ln w="12700">
            <a:solidFill>
              <a:srgbClr val="00A896"/>
            </a:solidFill>
            <a:prstDash val="solid"/>
          </a:ln>
        </p:spPr>
      </p:sp>
      <p:sp>
        <p:nvSpPr>
          <p:cNvPr id="23" name="Text 21"/>
          <p:cNvSpPr/>
          <p:nvPr/>
        </p:nvSpPr>
        <p:spPr>
          <a:xfrm>
            <a:off x="384048" y="566928"/>
            <a:ext cx="6400800" cy="274320"/>
          </a:xfrm>
          <a:prstGeom prst="rect">
            <a:avLst/>
          </a:prstGeom>
          <a:noFill/>
          <a:ln/>
        </p:spPr>
        <p:txBody>
          <a:bodyPr wrap="square" lIns="0" tIns="0" rIns="0" bIns="0" rtlCol="0" anchor="ctr"/>
          <a:lstStyle/>
          <a:p>
            <a:pPr indent="0" marL="0">
              <a:buNone/>
            </a:pPr>
            <a:r>
              <a:rPr lang="en-US" sz="1100" b="1" spc="300" kern="0" dirty="0">
                <a:solidFill>
                  <a:srgbClr val="00A896"/>
                </a:solidFill>
                <a:latin typeface="Trebuchet MS" pitchFamily="34" charset="0"/>
                <a:ea typeface="Trebuchet MS" pitchFamily="34" charset="-122"/>
                <a:cs typeface="Trebuchet MS" pitchFamily="34" charset="-120"/>
              </a:rPr>
              <a:t>CS4795  |  AI Class Project</a:t>
            </a:r>
            <a:endParaRPr lang="en-US" sz="1100" dirty="0"/>
          </a:p>
        </p:txBody>
      </p:sp>
      <p:sp>
        <p:nvSpPr>
          <p:cNvPr id="24" name="Text 22"/>
          <p:cNvSpPr/>
          <p:nvPr/>
        </p:nvSpPr>
        <p:spPr>
          <a:xfrm>
            <a:off x="384048" y="960120"/>
            <a:ext cx="6400800" cy="146304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Search Algorithm Comparison for
</a:t>
            </a:r>
            <a:pPr indent="0" marL="0">
              <a:buNone/>
            </a:pPr>
            <a:r>
              <a:rPr lang="en-US" sz="2600" b="1" dirty="0">
                <a:solidFill>
                  <a:srgbClr val="02C39A"/>
                </a:solidFill>
                <a:latin typeface="Trebuchet MS" pitchFamily="34" charset="0"/>
                <a:ea typeface="Trebuchet MS" pitchFamily="34" charset="-122"/>
                <a:cs typeface="Trebuchet MS" pitchFamily="34" charset="-120"/>
              </a:rPr>
              <a:t>the Wikipedia Navigation Problem</a:t>
            </a:r>
            <a:endParaRPr lang="en-US" sz="2600" dirty="0"/>
          </a:p>
        </p:txBody>
      </p:sp>
      <p:sp>
        <p:nvSpPr>
          <p:cNvPr id="25" name="Text 23"/>
          <p:cNvSpPr/>
          <p:nvPr/>
        </p:nvSpPr>
        <p:spPr>
          <a:xfrm>
            <a:off x="384048" y="2542032"/>
            <a:ext cx="5486400" cy="274320"/>
          </a:xfrm>
          <a:prstGeom prst="rect">
            <a:avLst/>
          </a:prstGeom>
          <a:noFill/>
          <a:ln/>
        </p:spPr>
        <p:txBody>
          <a:bodyPr wrap="square" lIns="0" tIns="0" rIns="0" bIns="0" rtlCol="0" anchor="ctr"/>
          <a:lstStyle/>
          <a:p>
            <a:pPr indent="0" marL="0">
              <a:buNone/>
            </a:pPr>
            <a:r>
              <a:rPr lang="en-US" sz="1300" i="1" dirty="0">
                <a:solidFill>
                  <a:srgbClr val="02C39A"/>
                </a:solidFill>
                <a:latin typeface="Trebuchet MS" pitchFamily="34" charset="0"/>
                <a:ea typeface="Trebuchet MS" pitchFamily="34" charset="-122"/>
                <a:cs typeface="Trebuchet MS" pitchFamily="34" charset="-120"/>
              </a:rPr>
              <a:t>Also known as Wikiracing</a:t>
            </a:r>
            <a:endParaRPr lang="en-US" sz="1300" dirty="0"/>
          </a:p>
        </p:txBody>
      </p:sp>
      <p:sp>
        <p:nvSpPr>
          <p:cNvPr id="26" name="Shape 24"/>
          <p:cNvSpPr/>
          <p:nvPr/>
        </p:nvSpPr>
        <p:spPr>
          <a:xfrm>
            <a:off x="384048" y="2907792"/>
            <a:ext cx="3840480" cy="36576"/>
          </a:xfrm>
          <a:prstGeom prst="rect">
            <a:avLst/>
          </a:prstGeom>
          <a:solidFill>
            <a:srgbClr val="8A9BB0">
              <a:alpha val="60000"/>
            </a:srgbClr>
          </a:solidFill>
          <a:ln w="12700">
            <a:solidFill>
              <a:srgbClr val="8A9BB0">
                <a:alpha val="60000"/>
              </a:srgbClr>
            </a:solidFill>
            <a:prstDash val="solid"/>
          </a:ln>
        </p:spPr>
      </p:sp>
      <p:sp>
        <p:nvSpPr>
          <p:cNvPr id="27" name="Text 25"/>
          <p:cNvSpPr/>
          <p:nvPr/>
        </p:nvSpPr>
        <p:spPr>
          <a:xfrm>
            <a:off x="384048" y="3063240"/>
            <a:ext cx="7315200" cy="274320"/>
          </a:xfrm>
          <a:prstGeom prst="rect">
            <a:avLst/>
          </a:prstGeom>
          <a:noFill/>
          <a:ln/>
        </p:spPr>
        <p:txBody>
          <a:bodyPr wrap="square" lIns="0" tIns="0" rIns="0" bIns="0" rtlCol="0" anchor="ctr"/>
          <a:lstStyle/>
          <a:p>
            <a:pPr indent="0" marL="0">
              <a:buNone/>
            </a:pPr>
            <a:r>
              <a:rPr lang="en-US" sz="1300" dirty="0">
                <a:solidFill>
                  <a:srgbClr val="8A9BB0"/>
                </a:solidFill>
                <a:latin typeface="Trebuchet MS" pitchFamily="34" charset="0"/>
                <a:ea typeface="Trebuchet MS" pitchFamily="34" charset="-122"/>
                <a:cs typeface="Trebuchet MS" pitchFamily="34" charset="-120"/>
              </a:rPr>
              <a:t>Nicholas Richard  ·  University of New Brunswick, Saint John</a:t>
            </a:r>
            <a:endParaRPr lang="en-US" sz="1300" dirty="0"/>
          </a:p>
        </p:txBody>
      </p:sp>
      <p:sp>
        <p:nvSpPr>
          <p:cNvPr id="28" name="Text 26"/>
          <p:cNvSpPr/>
          <p:nvPr/>
        </p:nvSpPr>
        <p:spPr>
          <a:xfrm>
            <a:off x="384048" y="3383280"/>
            <a:ext cx="5486400" cy="237744"/>
          </a:xfrm>
          <a:prstGeom prst="rect">
            <a:avLst/>
          </a:prstGeom>
          <a:noFill/>
          <a:ln/>
        </p:spPr>
        <p:txBody>
          <a:bodyPr wrap="square" lIns="0" tIns="0" rIns="0" bIns="0" rtlCol="0" anchor="ctr"/>
          <a:lstStyle/>
          <a:p>
            <a:pPr indent="0" marL="0">
              <a:buNone/>
            </a:pPr>
            <a:r>
              <a:rPr lang="en-US" sz="1100" i="1" dirty="0">
                <a:solidFill>
                  <a:srgbClr val="8A9BB0"/>
                </a:solidFill>
                <a:latin typeface="Trebuchet MS" pitchFamily="34" charset="0"/>
                <a:ea typeface="Trebuchet MS" pitchFamily="34" charset="-122"/>
                <a:cs typeface="Trebuchet MS" pitchFamily="34" charset="-120"/>
              </a:rPr>
              <a:t>Department of Computer Science</a:t>
            </a:r>
            <a:endParaRPr lang="en-US" sz="1100" dirty="0"/>
          </a:p>
        </p:txBody>
      </p:sp>
      <p:sp>
        <p:nvSpPr>
          <p:cNvPr id="29" name="Shape 27"/>
          <p:cNvSpPr/>
          <p:nvPr/>
        </p:nvSpPr>
        <p:spPr>
          <a:xfrm>
            <a:off x="384048" y="4160520"/>
            <a:ext cx="3566160" cy="402336"/>
          </a:xfrm>
          <a:prstGeom prst="rect">
            <a:avLst/>
          </a:prstGeom>
          <a:solidFill>
            <a:srgbClr val="028090"/>
          </a:solidFill>
          <a:ln w="12700">
            <a:solidFill>
              <a:srgbClr val="028090"/>
            </a:solidFill>
            <a:prstDash val="solid"/>
          </a:ln>
          <a:effectLst>
            <a:outerShdw sx="100000" sy="100000" kx="0" ky="0" algn="bl" rotWithShape="0" blurRad="88900" dist="38100" dir="8100000">
              <a:srgbClr val="000000">
                <a:alpha val="11000"/>
              </a:srgbClr>
            </a:outerShdw>
          </a:effectLst>
        </p:spPr>
      </p:sp>
      <p:sp>
        <p:nvSpPr>
          <p:cNvPr id="30" name="Text 28"/>
          <p:cNvSpPr/>
          <p:nvPr/>
        </p:nvSpPr>
        <p:spPr>
          <a:xfrm>
            <a:off x="475488" y="4160520"/>
            <a:ext cx="3383280" cy="402336"/>
          </a:xfrm>
          <a:prstGeom prst="rect">
            <a:avLst/>
          </a:prstGeom>
          <a:noFill/>
          <a:ln/>
        </p:spPr>
        <p:txBody>
          <a:bodyPr wrap="square" lIns="0" tIns="0" rIns="0" bIns="0" rtlCol="0" anchor="ctr"/>
          <a:lstStyle/>
          <a:p>
            <a:pPr algn="l" indent="0" marL="0">
              <a:buNone/>
            </a:pPr>
            <a:r>
              <a:rPr lang="en-US" sz="1100" dirty="0">
                <a:solidFill>
                  <a:srgbClr val="FFFFFF"/>
                </a:solidFill>
                <a:latin typeface="Trebuchet MS" pitchFamily="34" charset="0"/>
                <a:ea typeface="Trebuchet MS" pitchFamily="34" charset="-122"/>
                <a:cs typeface="Trebuchet MS" pitchFamily="34" charset="-120"/>
              </a:rPr>
              <a:t>github.com/nrichar1/wiki-navigation-ai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658368"/>
            <a:ext cx="9144000" cy="64008"/>
          </a:xfrm>
          <a:prstGeom prst="rect">
            <a:avLst/>
          </a:prstGeom>
          <a:solidFill>
            <a:srgbClr val="00A896"/>
          </a:solidFill>
          <a:ln w="12700">
            <a:solidFill>
              <a:srgbClr val="00A896"/>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What is the Wikipedia Navigation Problem?</a:t>
            </a:r>
            <a:endParaRPr lang="en-US" sz="2200" dirty="0"/>
          </a:p>
        </p:txBody>
      </p:sp>
      <p:sp>
        <p:nvSpPr>
          <p:cNvPr id="5" name="Shape 3"/>
          <p:cNvSpPr/>
          <p:nvPr/>
        </p:nvSpPr>
        <p:spPr>
          <a:xfrm>
            <a:off x="292608" y="886968"/>
            <a:ext cx="4937760" cy="1207008"/>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6" name="Shape 4"/>
          <p:cNvSpPr/>
          <p:nvPr/>
        </p:nvSpPr>
        <p:spPr>
          <a:xfrm>
            <a:off x="292608" y="886968"/>
            <a:ext cx="91440" cy="1207008"/>
          </a:xfrm>
          <a:prstGeom prst="rect">
            <a:avLst/>
          </a:prstGeom>
          <a:solidFill>
            <a:srgbClr val="00A896"/>
          </a:solidFill>
          <a:ln w="12700">
            <a:solidFill>
              <a:srgbClr val="00A896"/>
            </a:solidFill>
            <a:prstDash val="solid"/>
          </a:ln>
        </p:spPr>
      </p:sp>
      <p:sp>
        <p:nvSpPr>
          <p:cNvPr id="7" name="Shape 5"/>
          <p:cNvSpPr/>
          <p:nvPr/>
        </p:nvSpPr>
        <p:spPr>
          <a:xfrm>
            <a:off x="502920" y="1024128"/>
            <a:ext cx="201168" cy="201168"/>
          </a:xfrm>
          <a:prstGeom prst="ellipse">
            <a:avLst/>
          </a:prstGeom>
          <a:solidFill>
            <a:srgbClr val="00A896"/>
          </a:solidFill>
          <a:ln w="12700">
            <a:solidFill>
              <a:srgbClr val="00A896"/>
            </a:solidFill>
            <a:prstDash val="solid"/>
          </a:ln>
        </p:spPr>
      </p:sp>
      <p:sp>
        <p:nvSpPr>
          <p:cNvPr id="8" name="Text 6"/>
          <p:cNvSpPr/>
          <p:nvPr/>
        </p:nvSpPr>
        <p:spPr>
          <a:xfrm>
            <a:off x="804672" y="978408"/>
            <a:ext cx="4297680" cy="292608"/>
          </a:xfrm>
          <a:prstGeom prst="rect">
            <a:avLst/>
          </a:prstGeom>
          <a:noFill/>
          <a:ln/>
        </p:spPr>
        <p:txBody>
          <a:bodyPr wrap="square" lIns="0" tIns="0" rIns="0" bIns="0" rtlCol="0" anchor="ctr"/>
          <a:lstStyle/>
          <a:p>
            <a:pPr indent="0" marL="0">
              <a:buNone/>
            </a:pPr>
            <a:r>
              <a:rPr lang="en-US" sz="1400" b="1" dirty="0">
                <a:solidFill>
                  <a:srgbClr val="0D1B2A"/>
                </a:solidFill>
                <a:latin typeface="Trebuchet MS" pitchFamily="34" charset="0"/>
                <a:ea typeface="Trebuchet MS" pitchFamily="34" charset="-122"/>
                <a:cs typeface="Trebuchet MS" pitchFamily="34" charset="-120"/>
              </a:rPr>
              <a:t>The Game</a:t>
            </a:r>
            <a:endParaRPr lang="en-US" sz="1400" dirty="0"/>
          </a:p>
        </p:txBody>
      </p:sp>
      <p:sp>
        <p:nvSpPr>
          <p:cNvPr id="9" name="Text 7"/>
          <p:cNvSpPr/>
          <p:nvPr/>
        </p:nvSpPr>
        <p:spPr>
          <a:xfrm>
            <a:off x="512064" y="1325880"/>
            <a:ext cx="4572000" cy="640080"/>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Start on one Wikipedia article, reach a target using only hyperlinks. Fewest clicks wins. This is known as Wikiracing.</a:t>
            </a:r>
            <a:endParaRPr lang="en-US" sz="1200" dirty="0"/>
          </a:p>
        </p:txBody>
      </p:sp>
      <p:sp>
        <p:nvSpPr>
          <p:cNvPr id="10" name="Shape 8"/>
          <p:cNvSpPr/>
          <p:nvPr/>
        </p:nvSpPr>
        <p:spPr>
          <a:xfrm>
            <a:off x="292608" y="2212848"/>
            <a:ext cx="4937760" cy="1207008"/>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11" name="Shape 9"/>
          <p:cNvSpPr/>
          <p:nvPr/>
        </p:nvSpPr>
        <p:spPr>
          <a:xfrm>
            <a:off x="292608" y="2212848"/>
            <a:ext cx="91440" cy="1207008"/>
          </a:xfrm>
          <a:prstGeom prst="rect">
            <a:avLst/>
          </a:prstGeom>
          <a:solidFill>
            <a:srgbClr val="00A896"/>
          </a:solidFill>
          <a:ln w="12700">
            <a:solidFill>
              <a:srgbClr val="00A896"/>
            </a:solidFill>
            <a:prstDash val="solid"/>
          </a:ln>
        </p:spPr>
      </p:sp>
      <p:sp>
        <p:nvSpPr>
          <p:cNvPr id="12" name="Shape 10"/>
          <p:cNvSpPr/>
          <p:nvPr/>
        </p:nvSpPr>
        <p:spPr>
          <a:xfrm>
            <a:off x="502920" y="2350008"/>
            <a:ext cx="201168" cy="201168"/>
          </a:xfrm>
          <a:prstGeom prst="ellipse">
            <a:avLst/>
          </a:prstGeom>
          <a:solidFill>
            <a:srgbClr val="00A896"/>
          </a:solidFill>
          <a:ln w="12700">
            <a:solidFill>
              <a:srgbClr val="00A896"/>
            </a:solidFill>
            <a:prstDash val="solid"/>
          </a:ln>
        </p:spPr>
      </p:sp>
      <p:sp>
        <p:nvSpPr>
          <p:cNvPr id="13" name="Text 11"/>
          <p:cNvSpPr/>
          <p:nvPr/>
        </p:nvSpPr>
        <p:spPr>
          <a:xfrm>
            <a:off x="804672" y="2304288"/>
            <a:ext cx="4297680" cy="292608"/>
          </a:xfrm>
          <a:prstGeom prst="rect">
            <a:avLst/>
          </a:prstGeom>
          <a:noFill/>
          <a:ln/>
        </p:spPr>
        <p:txBody>
          <a:bodyPr wrap="square" lIns="0" tIns="0" rIns="0" bIns="0" rtlCol="0" anchor="ctr"/>
          <a:lstStyle/>
          <a:p>
            <a:pPr indent="0" marL="0">
              <a:buNone/>
            </a:pPr>
            <a:r>
              <a:rPr lang="en-US" sz="1400" b="1" dirty="0">
                <a:solidFill>
                  <a:srgbClr val="0D1B2A"/>
                </a:solidFill>
                <a:latin typeface="Trebuchet MS" pitchFamily="34" charset="0"/>
                <a:ea typeface="Trebuchet MS" pitchFamily="34" charset="-122"/>
                <a:cs typeface="Trebuchet MS" pitchFamily="34" charset="-120"/>
              </a:rPr>
              <a:t>Graph Model</a:t>
            </a:r>
            <a:endParaRPr lang="en-US" sz="1400" dirty="0"/>
          </a:p>
        </p:txBody>
      </p:sp>
      <p:sp>
        <p:nvSpPr>
          <p:cNvPr id="14" name="Text 12"/>
          <p:cNvSpPr/>
          <p:nvPr/>
        </p:nvSpPr>
        <p:spPr>
          <a:xfrm>
            <a:off x="512064" y="2651760"/>
            <a:ext cx="4572000" cy="640080"/>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Each article is a node. Each hyperlink is a directed edge. Finding the target = shortest path search.</a:t>
            </a:r>
            <a:endParaRPr lang="en-US" sz="1200" dirty="0"/>
          </a:p>
        </p:txBody>
      </p:sp>
      <p:sp>
        <p:nvSpPr>
          <p:cNvPr id="15" name="Shape 13"/>
          <p:cNvSpPr/>
          <p:nvPr/>
        </p:nvSpPr>
        <p:spPr>
          <a:xfrm>
            <a:off x="292608" y="3538728"/>
            <a:ext cx="4937760" cy="1207008"/>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16" name="Shape 14"/>
          <p:cNvSpPr/>
          <p:nvPr/>
        </p:nvSpPr>
        <p:spPr>
          <a:xfrm>
            <a:off x="292608" y="3538728"/>
            <a:ext cx="91440" cy="1207008"/>
          </a:xfrm>
          <a:prstGeom prst="rect">
            <a:avLst/>
          </a:prstGeom>
          <a:solidFill>
            <a:srgbClr val="00A896"/>
          </a:solidFill>
          <a:ln w="12700">
            <a:solidFill>
              <a:srgbClr val="00A896"/>
            </a:solidFill>
            <a:prstDash val="solid"/>
          </a:ln>
        </p:spPr>
      </p:sp>
      <p:sp>
        <p:nvSpPr>
          <p:cNvPr id="17" name="Shape 15"/>
          <p:cNvSpPr/>
          <p:nvPr/>
        </p:nvSpPr>
        <p:spPr>
          <a:xfrm>
            <a:off x="502920" y="3675888"/>
            <a:ext cx="201168" cy="201168"/>
          </a:xfrm>
          <a:prstGeom prst="ellipse">
            <a:avLst/>
          </a:prstGeom>
          <a:solidFill>
            <a:srgbClr val="00A896"/>
          </a:solidFill>
          <a:ln w="12700">
            <a:solidFill>
              <a:srgbClr val="00A896"/>
            </a:solidFill>
            <a:prstDash val="solid"/>
          </a:ln>
        </p:spPr>
      </p:sp>
      <p:sp>
        <p:nvSpPr>
          <p:cNvPr id="18" name="Text 16"/>
          <p:cNvSpPr/>
          <p:nvPr/>
        </p:nvSpPr>
        <p:spPr>
          <a:xfrm>
            <a:off x="804672" y="3630168"/>
            <a:ext cx="4297680" cy="292608"/>
          </a:xfrm>
          <a:prstGeom prst="rect">
            <a:avLst/>
          </a:prstGeom>
          <a:noFill/>
          <a:ln/>
        </p:spPr>
        <p:txBody>
          <a:bodyPr wrap="square" lIns="0" tIns="0" rIns="0" bIns="0" rtlCol="0" anchor="ctr"/>
          <a:lstStyle/>
          <a:p>
            <a:pPr indent="0" marL="0">
              <a:buNone/>
            </a:pPr>
            <a:r>
              <a:rPr lang="en-US" sz="1400" b="1" dirty="0">
                <a:solidFill>
                  <a:srgbClr val="0D1B2A"/>
                </a:solidFill>
                <a:latin typeface="Trebuchet MS" pitchFamily="34" charset="0"/>
                <a:ea typeface="Trebuchet MS" pitchFamily="34" charset="-122"/>
                <a:cs typeface="Trebuchet MS" pitchFamily="34" charset="-120"/>
              </a:rPr>
              <a:t>This Project</a:t>
            </a:r>
            <a:endParaRPr lang="en-US" sz="1400" dirty="0"/>
          </a:p>
        </p:txBody>
      </p:sp>
      <p:sp>
        <p:nvSpPr>
          <p:cNvPr id="19" name="Text 17"/>
          <p:cNvSpPr/>
          <p:nvPr/>
        </p:nvSpPr>
        <p:spPr>
          <a:xfrm>
            <a:off x="512064" y="3977640"/>
            <a:ext cx="4572000" cy="640080"/>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IDDFS, A*, and Bidirectional BFS compared on the SNAP Wikipedia graph: 4.2M pages, 101M edges.</a:t>
            </a:r>
            <a:endParaRPr lang="en-US" sz="1200" dirty="0"/>
          </a:p>
        </p:txBody>
      </p:sp>
      <p:sp>
        <p:nvSpPr>
          <p:cNvPr id="20" name="Shape 18"/>
          <p:cNvSpPr/>
          <p:nvPr/>
        </p:nvSpPr>
        <p:spPr>
          <a:xfrm>
            <a:off x="5916168" y="1271016"/>
            <a:ext cx="1417320" cy="822960"/>
          </a:xfrm>
          <a:prstGeom prst="line">
            <a:avLst/>
          </a:prstGeom>
          <a:noFill/>
          <a:ln w="19050">
            <a:solidFill>
              <a:srgbClr val="8A9BB0">
                <a:alpha val="65000"/>
              </a:srgbClr>
            </a:solidFill>
            <a:prstDash val="solid"/>
          </a:ln>
        </p:spPr>
      </p:sp>
      <p:sp>
        <p:nvSpPr>
          <p:cNvPr id="21" name="Shape 19"/>
          <p:cNvSpPr/>
          <p:nvPr/>
        </p:nvSpPr>
        <p:spPr>
          <a:xfrm>
            <a:off x="7333488" y="2093976"/>
            <a:ext cx="-1371600" cy="822960"/>
          </a:xfrm>
          <a:prstGeom prst="line">
            <a:avLst/>
          </a:prstGeom>
          <a:noFill/>
          <a:ln w="19050">
            <a:solidFill>
              <a:srgbClr val="8A9BB0">
                <a:alpha val="65000"/>
              </a:srgbClr>
            </a:solidFill>
            <a:prstDash val="solid"/>
          </a:ln>
        </p:spPr>
      </p:sp>
      <p:sp>
        <p:nvSpPr>
          <p:cNvPr id="22" name="Shape 20"/>
          <p:cNvSpPr/>
          <p:nvPr/>
        </p:nvSpPr>
        <p:spPr>
          <a:xfrm>
            <a:off x="7333488" y="2093976"/>
            <a:ext cx="45720" cy="1691640"/>
          </a:xfrm>
          <a:prstGeom prst="line">
            <a:avLst/>
          </a:prstGeom>
          <a:noFill/>
          <a:ln w="19050">
            <a:solidFill>
              <a:srgbClr val="8A9BB0">
                <a:alpha val="65000"/>
              </a:srgbClr>
            </a:solidFill>
            <a:prstDash val="solid"/>
          </a:ln>
        </p:spPr>
      </p:sp>
      <p:sp>
        <p:nvSpPr>
          <p:cNvPr id="23" name="Shape 21"/>
          <p:cNvSpPr/>
          <p:nvPr/>
        </p:nvSpPr>
        <p:spPr>
          <a:xfrm>
            <a:off x="5916168" y="1271016"/>
            <a:ext cx="45720" cy="1645920"/>
          </a:xfrm>
          <a:prstGeom prst="line">
            <a:avLst/>
          </a:prstGeom>
          <a:noFill/>
          <a:ln w="31750">
            <a:solidFill>
              <a:srgbClr val="00A896"/>
            </a:solidFill>
            <a:prstDash val="solid"/>
          </a:ln>
        </p:spPr>
      </p:sp>
      <p:sp>
        <p:nvSpPr>
          <p:cNvPr id="24" name="Shape 22"/>
          <p:cNvSpPr/>
          <p:nvPr/>
        </p:nvSpPr>
        <p:spPr>
          <a:xfrm>
            <a:off x="5961888" y="2916936"/>
            <a:ext cx="1417320" cy="868680"/>
          </a:xfrm>
          <a:prstGeom prst="line">
            <a:avLst/>
          </a:prstGeom>
          <a:noFill/>
          <a:ln w="31750">
            <a:solidFill>
              <a:srgbClr val="00A896"/>
            </a:solidFill>
            <a:prstDash val="solid"/>
          </a:ln>
        </p:spPr>
      </p:sp>
      <p:sp>
        <p:nvSpPr>
          <p:cNvPr id="25" name="Shape 23"/>
          <p:cNvSpPr/>
          <p:nvPr/>
        </p:nvSpPr>
        <p:spPr>
          <a:xfrm>
            <a:off x="5532120" y="1005840"/>
            <a:ext cx="768096" cy="530352"/>
          </a:xfrm>
          <a:prstGeom prst="ellipse">
            <a:avLst/>
          </a:prstGeom>
          <a:solidFill>
            <a:srgbClr val="00A896"/>
          </a:solidFill>
          <a:ln w="19050">
            <a:solidFill>
              <a:srgbClr val="FFFFFF"/>
            </a:solidFill>
            <a:prstDash val="solid"/>
          </a:ln>
          <a:effectLst>
            <a:outerShdw sx="100000" sy="100000" kx="0" ky="0" algn="bl" rotWithShape="0" blurRad="88900" dist="38100" dir="8100000">
              <a:srgbClr val="000000">
                <a:alpha val="11000"/>
              </a:srgbClr>
            </a:outerShdw>
          </a:effectLst>
        </p:spPr>
      </p:sp>
      <p:sp>
        <p:nvSpPr>
          <p:cNvPr id="26" name="Text 24"/>
          <p:cNvSpPr/>
          <p:nvPr/>
        </p:nvSpPr>
        <p:spPr>
          <a:xfrm>
            <a:off x="5532120" y="1005840"/>
            <a:ext cx="768096" cy="53035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Start</a:t>
            </a:r>
            <a:endParaRPr lang="en-US" sz="1000" dirty="0"/>
          </a:p>
        </p:txBody>
      </p:sp>
      <p:sp>
        <p:nvSpPr>
          <p:cNvPr id="27" name="Shape 25"/>
          <p:cNvSpPr/>
          <p:nvPr/>
        </p:nvSpPr>
        <p:spPr>
          <a:xfrm>
            <a:off x="6949440" y="1828800"/>
            <a:ext cx="768096" cy="530352"/>
          </a:xfrm>
          <a:prstGeom prst="ellipse">
            <a:avLst/>
          </a:prstGeom>
          <a:solidFill>
            <a:srgbClr val="8A9BB0"/>
          </a:solidFill>
          <a:ln w="19050">
            <a:solidFill>
              <a:srgbClr val="FFFFFF"/>
            </a:solidFill>
            <a:prstDash val="solid"/>
          </a:ln>
          <a:effectLst>
            <a:outerShdw sx="100000" sy="100000" kx="0" ky="0" algn="bl" rotWithShape="0" blurRad="88900" dist="38100" dir="8100000">
              <a:srgbClr val="000000">
                <a:alpha val="11000"/>
              </a:srgbClr>
            </a:outerShdw>
          </a:effectLst>
        </p:spPr>
      </p:sp>
      <p:sp>
        <p:nvSpPr>
          <p:cNvPr id="28" name="Text 26"/>
          <p:cNvSpPr/>
          <p:nvPr/>
        </p:nvSpPr>
        <p:spPr>
          <a:xfrm>
            <a:off x="6949440" y="1828800"/>
            <a:ext cx="768096" cy="53035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B</a:t>
            </a:r>
            <a:endParaRPr lang="en-US" sz="1000" dirty="0"/>
          </a:p>
        </p:txBody>
      </p:sp>
      <p:sp>
        <p:nvSpPr>
          <p:cNvPr id="29" name="Shape 27"/>
          <p:cNvSpPr/>
          <p:nvPr/>
        </p:nvSpPr>
        <p:spPr>
          <a:xfrm>
            <a:off x="5577840" y="2651760"/>
            <a:ext cx="768096" cy="530352"/>
          </a:xfrm>
          <a:prstGeom prst="ellipse">
            <a:avLst/>
          </a:prstGeom>
          <a:solidFill>
            <a:srgbClr val="8A9BB0"/>
          </a:solidFill>
          <a:ln w="19050">
            <a:solidFill>
              <a:srgbClr val="FFFFFF"/>
            </a:solidFill>
            <a:prstDash val="solid"/>
          </a:ln>
          <a:effectLst>
            <a:outerShdw sx="100000" sy="100000" kx="0" ky="0" algn="bl" rotWithShape="0" blurRad="88900" dist="38100" dir="8100000">
              <a:srgbClr val="000000">
                <a:alpha val="11000"/>
              </a:srgbClr>
            </a:outerShdw>
          </a:effectLst>
        </p:spPr>
      </p:sp>
      <p:sp>
        <p:nvSpPr>
          <p:cNvPr id="30" name="Text 28"/>
          <p:cNvSpPr/>
          <p:nvPr/>
        </p:nvSpPr>
        <p:spPr>
          <a:xfrm>
            <a:off x="5577840" y="2651760"/>
            <a:ext cx="768096" cy="53035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C</a:t>
            </a:r>
            <a:endParaRPr lang="en-US" sz="1000" dirty="0"/>
          </a:p>
        </p:txBody>
      </p:sp>
      <p:sp>
        <p:nvSpPr>
          <p:cNvPr id="31" name="Shape 29"/>
          <p:cNvSpPr/>
          <p:nvPr/>
        </p:nvSpPr>
        <p:spPr>
          <a:xfrm>
            <a:off x="6995160" y="3520440"/>
            <a:ext cx="768096" cy="530352"/>
          </a:xfrm>
          <a:prstGeom prst="ellipse">
            <a:avLst/>
          </a:prstGeom>
          <a:solidFill>
            <a:srgbClr val="02C39A"/>
          </a:solidFill>
          <a:ln w="19050">
            <a:solidFill>
              <a:srgbClr val="FFFFFF"/>
            </a:solidFill>
            <a:prstDash val="solid"/>
          </a:ln>
          <a:effectLst>
            <a:outerShdw sx="100000" sy="100000" kx="0" ky="0" algn="bl" rotWithShape="0" blurRad="88900" dist="38100" dir="8100000">
              <a:srgbClr val="000000">
                <a:alpha val="11000"/>
              </a:srgbClr>
            </a:outerShdw>
          </a:effectLst>
        </p:spPr>
      </p:sp>
      <p:sp>
        <p:nvSpPr>
          <p:cNvPr id="32" name="Text 30"/>
          <p:cNvSpPr/>
          <p:nvPr/>
        </p:nvSpPr>
        <p:spPr>
          <a:xfrm>
            <a:off x="6995160" y="3520440"/>
            <a:ext cx="768096" cy="530352"/>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Target</a:t>
            </a:r>
            <a:endParaRPr lang="en-US" sz="1000" dirty="0"/>
          </a:p>
        </p:txBody>
      </p:sp>
      <p:sp>
        <p:nvSpPr>
          <p:cNvPr id="33" name="Text 31"/>
          <p:cNvSpPr/>
          <p:nvPr/>
        </p:nvSpPr>
        <p:spPr>
          <a:xfrm>
            <a:off x="5303520" y="4315968"/>
            <a:ext cx="3474720" cy="256032"/>
          </a:xfrm>
          <a:prstGeom prst="rect">
            <a:avLst/>
          </a:prstGeom>
          <a:noFill/>
          <a:ln/>
        </p:spPr>
        <p:txBody>
          <a:bodyPr wrap="square" lIns="0" tIns="0" rIns="0" bIns="0" rtlCol="0" anchor="ctr"/>
          <a:lstStyle/>
          <a:p>
            <a:pPr algn="ctr" indent="0" marL="0">
              <a:buNone/>
            </a:pPr>
            <a:r>
              <a:rPr lang="en-US" sz="1000" i="1" dirty="0">
                <a:solidFill>
                  <a:srgbClr val="8A9BB0"/>
                </a:solidFill>
                <a:latin typeface="Trebuchet MS" pitchFamily="34" charset="0"/>
                <a:ea typeface="Trebuchet MS" pitchFamily="34" charset="-122"/>
                <a:cs typeface="Trebuchet MS" pitchFamily="34" charset="-120"/>
              </a:rPr>
              <a:t>Shortest path highlighted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3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658368"/>
            <a:ext cx="9144000" cy="64008"/>
          </a:xfrm>
          <a:prstGeom prst="rect">
            <a:avLst/>
          </a:prstGeom>
          <a:solidFill>
            <a:srgbClr val="00A896"/>
          </a:solidFill>
          <a:ln w="12700">
            <a:solidFill>
              <a:srgbClr val="00A896"/>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The Dataset: SNAP English Wikipedia Graph</a:t>
            </a:r>
            <a:endParaRPr lang="en-US" sz="2200" dirty="0"/>
          </a:p>
        </p:txBody>
      </p:sp>
      <p:sp>
        <p:nvSpPr>
          <p:cNvPr id="5" name="Shape 3"/>
          <p:cNvSpPr/>
          <p:nvPr/>
        </p:nvSpPr>
        <p:spPr>
          <a:xfrm>
            <a:off x="292608" y="886968"/>
            <a:ext cx="4041648" cy="1188720"/>
          </a:xfrm>
          <a:prstGeom prst="rect">
            <a:avLst/>
          </a:prstGeom>
          <a:solidFill>
            <a:srgbClr val="0D1B2A"/>
          </a:solidFill>
          <a:ln w="12700">
            <a:solidFill>
              <a:srgbClr val="0D1B2A"/>
            </a:solidFill>
            <a:prstDash val="solid"/>
          </a:ln>
          <a:effectLst>
            <a:outerShdw sx="100000" sy="100000" kx="0" ky="0" algn="bl" rotWithShape="0" blurRad="88900" dist="38100" dir="8100000">
              <a:srgbClr val="000000">
                <a:alpha val="11000"/>
              </a:srgbClr>
            </a:outerShdw>
          </a:effectLst>
        </p:spPr>
      </p:sp>
      <p:sp>
        <p:nvSpPr>
          <p:cNvPr id="6" name="Text 4"/>
          <p:cNvSpPr/>
          <p:nvPr/>
        </p:nvSpPr>
        <p:spPr>
          <a:xfrm>
            <a:off x="292608" y="886968"/>
            <a:ext cx="4041648" cy="685800"/>
          </a:xfrm>
          <a:prstGeom prst="rect">
            <a:avLst/>
          </a:prstGeom>
          <a:noFill/>
          <a:ln/>
        </p:spPr>
        <p:txBody>
          <a:bodyPr wrap="square" lIns="0" tIns="0" rIns="0" bIns="0" rtlCol="0" anchor="ctr"/>
          <a:lstStyle/>
          <a:p>
            <a:pPr algn="ctr" indent="0" marL="0">
              <a:buNone/>
            </a:pPr>
            <a:r>
              <a:rPr lang="en-US" sz="4200" b="1" dirty="0">
                <a:solidFill>
                  <a:srgbClr val="FFFFFF"/>
                </a:solidFill>
                <a:latin typeface="Trebuchet MS" pitchFamily="34" charset="0"/>
                <a:ea typeface="Trebuchet MS" pitchFamily="34" charset="-122"/>
                <a:cs typeface="Trebuchet MS" pitchFamily="34" charset="-120"/>
              </a:rPr>
              <a:t>4,198,894</a:t>
            </a:r>
            <a:endParaRPr lang="en-US" sz="4200" dirty="0"/>
          </a:p>
        </p:txBody>
      </p:sp>
      <p:sp>
        <p:nvSpPr>
          <p:cNvPr id="7" name="Text 5"/>
          <p:cNvSpPr/>
          <p:nvPr/>
        </p:nvSpPr>
        <p:spPr>
          <a:xfrm>
            <a:off x="292608" y="1572768"/>
            <a:ext cx="4041648" cy="384048"/>
          </a:xfrm>
          <a:prstGeom prst="rect">
            <a:avLst/>
          </a:prstGeom>
          <a:noFill/>
          <a:ln/>
        </p:spPr>
        <p:txBody>
          <a:bodyPr wrap="square" lIns="0" tIns="0" rIns="0" bIns="0" rtlCol="0" anchor="ctr"/>
          <a:lstStyle/>
          <a:p>
            <a:pPr algn="ctr" indent="0" marL="0">
              <a:buNone/>
            </a:pPr>
            <a:r>
              <a:rPr lang="en-US" sz="1200" dirty="0">
                <a:solidFill>
                  <a:srgbClr val="02C39A"/>
                </a:solidFill>
                <a:latin typeface="Trebuchet MS" pitchFamily="34" charset="0"/>
                <a:ea typeface="Trebuchet MS" pitchFamily="34" charset="-122"/>
                <a:cs typeface="Trebuchet MS" pitchFamily="34" charset="-120"/>
              </a:rPr>
              <a:t>Wikipedia pages</a:t>
            </a:r>
            <a:endParaRPr lang="en-US" sz="1200" dirty="0"/>
          </a:p>
        </p:txBody>
      </p:sp>
      <p:sp>
        <p:nvSpPr>
          <p:cNvPr id="8" name="Shape 6"/>
          <p:cNvSpPr/>
          <p:nvPr/>
        </p:nvSpPr>
        <p:spPr>
          <a:xfrm>
            <a:off x="4809744" y="886968"/>
            <a:ext cx="4041648" cy="1188720"/>
          </a:xfrm>
          <a:prstGeom prst="rect">
            <a:avLst/>
          </a:prstGeom>
          <a:solidFill>
            <a:srgbClr val="028090"/>
          </a:solidFill>
          <a:ln w="12700">
            <a:solidFill>
              <a:srgbClr val="028090"/>
            </a:solidFill>
            <a:prstDash val="solid"/>
          </a:ln>
          <a:effectLst>
            <a:outerShdw sx="100000" sy="100000" kx="0" ky="0" algn="bl" rotWithShape="0" blurRad="88900" dist="38100" dir="8100000">
              <a:srgbClr val="000000">
                <a:alpha val="11000"/>
              </a:srgbClr>
            </a:outerShdw>
          </a:effectLst>
        </p:spPr>
      </p:sp>
      <p:sp>
        <p:nvSpPr>
          <p:cNvPr id="9" name="Text 7"/>
          <p:cNvSpPr/>
          <p:nvPr/>
        </p:nvSpPr>
        <p:spPr>
          <a:xfrm>
            <a:off x="4809744" y="886968"/>
            <a:ext cx="4041648" cy="685800"/>
          </a:xfrm>
          <a:prstGeom prst="rect">
            <a:avLst/>
          </a:prstGeom>
          <a:noFill/>
          <a:ln/>
        </p:spPr>
        <p:txBody>
          <a:bodyPr wrap="square" lIns="0" tIns="0" rIns="0" bIns="0" rtlCol="0" anchor="ctr"/>
          <a:lstStyle/>
          <a:p>
            <a:pPr algn="ctr" indent="0" marL="0">
              <a:buNone/>
            </a:pPr>
            <a:r>
              <a:rPr lang="en-US" sz="4200" b="1" dirty="0">
                <a:solidFill>
                  <a:srgbClr val="FFFFFF"/>
                </a:solidFill>
                <a:latin typeface="Trebuchet MS" pitchFamily="34" charset="0"/>
                <a:ea typeface="Trebuchet MS" pitchFamily="34" charset="-122"/>
                <a:cs typeface="Trebuchet MS" pitchFamily="34" charset="-120"/>
              </a:rPr>
              <a:t>101,311,613</a:t>
            </a:r>
            <a:endParaRPr lang="en-US" sz="4200" dirty="0"/>
          </a:p>
        </p:txBody>
      </p:sp>
      <p:sp>
        <p:nvSpPr>
          <p:cNvPr id="10" name="Text 8"/>
          <p:cNvSpPr/>
          <p:nvPr/>
        </p:nvSpPr>
        <p:spPr>
          <a:xfrm>
            <a:off x="4809744" y="1572768"/>
            <a:ext cx="40416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Trebuchet MS" pitchFamily="34" charset="0"/>
                <a:ea typeface="Trebuchet MS" pitchFamily="34" charset="-122"/>
                <a:cs typeface="Trebuchet MS" pitchFamily="34" charset="-120"/>
              </a:rPr>
              <a:t>directed hyperlinks</a:t>
            </a:r>
            <a:endParaRPr lang="en-US" sz="1200" dirty="0"/>
          </a:p>
        </p:txBody>
      </p:sp>
      <p:sp>
        <p:nvSpPr>
          <p:cNvPr id="11" name="Shape 9"/>
          <p:cNvSpPr/>
          <p:nvPr/>
        </p:nvSpPr>
        <p:spPr>
          <a:xfrm>
            <a:off x="292608" y="2267712"/>
            <a:ext cx="4041648" cy="1353312"/>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12" name="Shape 10"/>
          <p:cNvSpPr/>
          <p:nvPr/>
        </p:nvSpPr>
        <p:spPr>
          <a:xfrm>
            <a:off x="292608" y="2267712"/>
            <a:ext cx="91440" cy="1353312"/>
          </a:xfrm>
          <a:prstGeom prst="rect">
            <a:avLst/>
          </a:prstGeom>
          <a:solidFill>
            <a:srgbClr val="00A896"/>
          </a:solidFill>
          <a:ln w="12700">
            <a:solidFill>
              <a:srgbClr val="00A896"/>
            </a:solidFill>
            <a:prstDash val="solid"/>
          </a:ln>
        </p:spPr>
      </p:sp>
      <p:sp>
        <p:nvSpPr>
          <p:cNvPr id="13" name="Text 11"/>
          <p:cNvSpPr/>
          <p:nvPr/>
        </p:nvSpPr>
        <p:spPr>
          <a:xfrm>
            <a:off x="512064" y="2359152"/>
            <a:ext cx="3657600" cy="310896"/>
          </a:xfrm>
          <a:prstGeom prst="rect">
            <a:avLst/>
          </a:prstGeom>
          <a:noFill/>
          <a:ln/>
        </p:spPr>
        <p:txBody>
          <a:bodyPr wrap="square" lIns="0" tIns="0" rIns="0" bIns="0" rtlCol="0" anchor="ctr"/>
          <a:lstStyle/>
          <a:p>
            <a:pPr indent="0" marL="0">
              <a:buNone/>
            </a:pPr>
            <a:r>
              <a:rPr lang="en-US" sz="1300" b="1" dirty="0">
                <a:solidFill>
                  <a:srgbClr val="0D1B2A"/>
                </a:solidFill>
                <a:latin typeface="Trebuchet MS" pitchFamily="34" charset="0"/>
                <a:ea typeface="Trebuchet MS" pitchFamily="34" charset="-122"/>
                <a:cs typeface="Trebuchet MS" pitchFamily="34" charset="-120"/>
              </a:rPr>
              <a:t>Why not the live Wikipedia API?</a:t>
            </a:r>
            <a:endParaRPr lang="en-US" sz="1300" dirty="0"/>
          </a:p>
        </p:txBody>
      </p:sp>
      <p:sp>
        <p:nvSpPr>
          <p:cNvPr id="14" name="Text 12"/>
          <p:cNvSpPr/>
          <p:nvPr/>
        </p:nvSpPr>
        <p:spPr>
          <a:xfrm>
            <a:off x="512064" y="2706624"/>
            <a:ext cx="3657600" cy="804672"/>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The initial approach fetched links from the MediaWiki API during search. It hit rate limits (HTTP 429) within seconds. Even with delays, wall time was dominated by network latency, not algorithm behavior.</a:t>
            </a:r>
            <a:endParaRPr lang="en-US" sz="1200" dirty="0"/>
          </a:p>
        </p:txBody>
      </p:sp>
      <p:sp>
        <p:nvSpPr>
          <p:cNvPr id="15" name="Shape 13"/>
          <p:cNvSpPr/>
          <p:nvPr/>
        </p:nvSpPr>
        <p:spPr>
          <a:xfrm>
            <a:off x="4809744" y="2267712"/>
            <a:ext cx="4041648" cy="1353312"/>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16" name="Shape 14"/>
          <p:cNvSpPr/>
          <p:nvPr/>
        </p:nvSpPr>
        <p:spPr>
          <a:xfrm>
            <a:off x="4809744" y="2267712"/>
            <a:ext cx="91440" cy="1353312"/>
          </a:xfrm>
          <a:prstGeom prst="rect">
            <a:avLst/>
          </a:prstGeom>
          <a:solidFill>
            <a:srgbClr val="00A896"/>
          </a:solidFill>
          <a:ln w="12700">
            <a:solidFill>
              <a:srgbClr val="00A896"/>
            </a:solidFill>
            <a:prstDash val="solid"/>
          </a:ln>
        </p:spPr>
      </p:sp>
      <p:sp>
        <p:nvSpPr>
          <p:cNvPr id="17" name="Text 15"/>
          <p:cNvSpPr/>
          <p:nvPr/>
        </p:nvSpPr>
        <p:spPr>
          <a:xfrm>
            <a:off x="5029200" y="2359152"/>
            <a:ext cx="3657600" cy="310896"/>
          </a:xfrm>
          <a:prstGeom prst="rect">
            <a:avLst/>
          </a:prstGeom>
          <a:noFill/>
          <a:ln/>
        </p:spPr>
        <p:txBody>
          <a:bodyPr wrap="square" lIns="0" tIns="0" rIns="0" bIns="0" rtlCol="0" anchor="ctr"/>
          <a:lstStyle/>
          <a:p>
            <a:pPr indent="0" marL="0">
              <a:buNone/>
            </a:pPr>
            <a:r>
              <a:rPr lang="en-US" sz="1300" b="1" dirty="0">
                <a:solidFill>
                  <a:srgbClr val="0D1B2A"/>
                </a:solidFill>
                <a:latin typeface="Trebuchet MS" pitchFamily="34" charset="0"/>
                <a:ea typeface="Trebuchet MS" pitchFamily="34" charset="-122"/>
                <a:cs typeface="Trebuchet MS" pitchFamily="34" charset="-120"/>
              </a:rPr>
              <a:t>Trade-off: 2013 snapshot</a:t>
            </a:r>
            <a:endParaRPr lang="en-US" sz="1300" dirty="0"/>
          </a:p>
        </p:txBody>
      </p:sp>
      <p:sp>
        <p:nvSpPr>
          <p:cNvPr id="18" name="Text 16"/>
          <p:cNvSpPr/>
          <p:nvPr/>
        </p:nvSpPr>
        <p:spPr>
          <a:xfrm>
            <a:off x="5029200" y="2706624"/>
            <a:ext cx="3657600" cy="804672"/>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Pages and links added since 2013 are not represented. For comparing algorithm behavior this is acceptable. The graph is still massive and well-connected, though paths may differ from a live version.</a:t>
            </a:r>
            <a:endParaRPr lang="en-US" sz="1200" dirty="0"/>
          </a:p>
        </p:txBody>
      </p:sp>
      <p:sp>
        <p:nvSpPr>
          <p:cNvPr id="19" name="Shape 17"/>
          <p:cNvSpPr/>
          <p:nvPr/>
        </p:nvSpPr>
        <p:spPr>
          <a:xfrm>
            <a:off x="292608" y="3822192"/>
            <a:ext cx="8558784" cy="512064"/>
          </a:xfrm>
          <a:prstGeom prst="rect">
            <a:avLst/>
          </a:prstGeom>
          <a:solidFill>
            <a:srgbClr val="E8EEF5"/>
          </a:solidFill>
          <a:ln w="12700">
            <a:solidFill>
              <a:srgbClr val="C8D6E5"/>
            </a:solidFill>
            <a:prstDash val="solid"/>
          </a:ln>
        </p:spPr>
      </p:sp>
      <p:sp>
        <p:nvSpPr>
          <p:cNvPr id="20" name="Text 18"/>
          <p:cNvSpPr/>
          <p:nvPr/>
        </p:nvSpPr>
        <p:spPr>
          <a:xfrm>
            <a:off x="475488" y="3822192"/>
            <a:ext cx="8229600" cy="512064"/>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The graph is parsed on first run and cached locally. Subsequent runs load in seconds instead of a minute.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3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658368"/>
            <a:ext cx="9144000" cy="64008"/>
          </a:xfrm>
          <a:prstGeom prst="rect">
            <a:avLst/>
          </a:prstGeom>
          <a:solidFill>
            <a:srgbClr val="00A896"/>
          </a:solidFill>
          <a:ln w="12700">
            <a:solidFill>
              <a:srgbClr val="00A896"/>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Three Algorithms Compared</a:t>
            </a:r>
            <a:endParaRPr lang="en-US" sz="2200" dirty="0"/>
          </a:p>
        </p:txBody>
      </p:sp>
      <p:sp>
        <p:nvSpPr>
          <p:cNvPr id="5" name="Shape 3"/>
          <p:cNvSpPr/>
          <p:nvPr/>
        </p:nvSpPr>
        <p:spPr>
          <a:xfrm>
            <a:off x="201168" y="859536"/>
            <a:ext cx="2816352" cy="4023360"/>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6" name="Shape 4"/>
          <p:cNvSpPr/>
          <p:nvPr/>
        </p:nvSpPr>
        <p:spPr>
          <a:xfrm>
            <a:off x="201168" y="859536"/>
            <a:ext cx="2816352" cy="585216"/>
          </a:xfrm>
          <a:prstGeom prst="rect">
            <a:avLst/>
          </a:prstGeom>
          <a:solidFill>
            <a:srgbClr val="0D1B2A"/>
          </a:solidFill>
          <a:ln w="12700">
            <a:solidFill>
              <a:srgbClr val="0D1B2A"/>
            </a:solidFill>
            <a:prstDash val="solid"/>
          </a:ln>
        </p:spPr>
      </p:sp>
      <p:sp>
        <p:nvSpPr>
          <p:cNvPr id="7" name="Text 5"/>
          <p:cNvSpPr/>
          <p:nvPr/>
        </p:nvSpPr>
        <p:spPr>
          <a:xfrm>
            <a:off x="201168" y="859536"/>
            <a:ext cx="2816352"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IDDFS</a:t>
            </a:r>
            <a:endParaRPr lang="en-US" sz="1600" dirty="0"/>
          </a:p>
        </p:txBody>
      </p:sp>
      <p:sp>
        <p:nvSpPr>
          <p:cNvPr id="8" name="Text 6"/>
          <p:cNvSpPr/>
          <p:nvPr/>
        </p:nvSpPr>
        <p:spPr>
          <a:xfrm>
            <a:off x="201168" y="1188720"/>
            <a:ext cx="2816352" cy="256032"/>
          </a:xfrm>
          <a:prstGeom prst="rect">
            <a:avLst/>
          </a:prstGeom>
          <a:noFill/>
          <a:ln/>
        </p:spPr>
        <p:txBody>
          <a:bodyPr wrap="square" lIns="0" tIns="0" rIns="0" bIns="0" rtlCol="0" anchor="ctr"/>
          <a:lstStyle/>
          <a:p>
            <a:pPr algn="ctr" indent="0" marL="0">
              <a:buNone/>
            </a:pPr>
            <a:r>
              <a:rPr lang="en-US" sz="1000" dirty="0">
                <a:solidFill>
                  <a:srgbClr val="FFFFFF"/>
                </a:solidFill>
                <a:latin typeface="Trebuchet MS" pitchFamily="34" charset="0"/>
                <a:ea typeface="Trebuchet MS" pitchFamily="34" charset="-122"/>
                <a:cs typeface="Trebuchet MS" pitchFamily="34" charset="-120"/>
              </a:rPr>
              <a:t>Iterative Deepening DFS</a:t>
            </a:r>
            <a:endParaRPr lang="en-US" sz="1000" dirty="0"/>
          </a:p>
        </p:txBody>
      </p:sp>
      <p:sp>
        <p:nvSpPr>
          <p:cNvPr id="9" name="Shape 7"/>
          <p:cNvSpPr/>
          <p:nvPr/>
        </p:nvSpPr>
        <p:spPr>
          <a:xfrm>
            <a:off x="365760" y="1581912"/>
            <a:ext cx="155448" cy="155448"/>
          </a:xfrm>
          <a:prstGeom prst="ellipse">
            <a:avLst/>
          </a:prstGeom>
          <a:solidFill>
            <a:srgbClr val="0D1B2A"/>
          </a:solidFill>
          <a:ln w="12700">
            <a:solidFill>
              <a:srgbClr val="0D1B2A"/>
            </a:solidFill>
            <a:prstDash val="solid"/>
          </a:ln>
        </p:spPr>
      </p:sp>
      <p:sp>
        <p:nvSpPr>
          <p:cNvPr id="10" name="Text 8"/>
          <p:cNvSpPr/>
          <p:nvPr/>
        </p:nvSpPr>
        <p:spPr>
          <a:xfrm>
            <a:off x="603504" y="1545336"/>
            <a:ext cx="2304288" cy="310896"/>
          </a:xfrm>
          <a:prstGeom prst="rect">
            <a:avLst/>
          </a:prstGeom>
          <a:noFill/>
          <a:ln/>
        </p:spPr>
        <p:txBody>
          <a:bodyPr wrap="square" lIns="0" tIns="0" rIns="0" bIns="0" rtlCol="0" anchor="ctr"/>
          <a:lstStyle/>
          <a:p>
            <a:pPr indent="0" marL="0">
              <a:buNone/>
            </a:pPr>
            <a:r>
              <a:rPr lang="en-US" sz="1100" dirty="0">
                <a:solidFill>
                  <a:srgbClr val="4A5568"/>
                </a:solidFill>
                <a:latin typeface="Trebuchet MS" pitchFamily="34" charset="0"/>
                <a:ea typeface="Trebuchet MS" pitchFamily="34" charset="-122"/>
                <a:cs typeface="Trebuchet MS" pitchFamily="34" charset="-120"/>
              </a:rPr>
              <a:t>Guarantees shortest path</a:t>
            </a:r>
            <a:endParaRPr lang="en-US" sz="1100" dirty="0"/>
          </a:p>
        </p:txBody>
      </p:sp>
      <p:sp>
        <p:nvSpPr>
          <p:cNvPr id="11" name="Shape 9"/>
          <p:cNvSpPr/>
          <p:nvPr/>
        </p:nvSpPr>
        <p:spPr>
          <a:xfrm>
            <a:off x="365760" y="2185416"/>
            <a:ext cx="155448" cy="155448"/>
          </a:xfrm>
          <a:prstGeom prst="ellipse">
            <a:avLst/>
          </a:prstGeom>
          <a:solidFill>
            <a:srgbClr val="0D1B2A"/>
          </a:solidFill>
          <a:ln w="12700">
            <a:solidFill>
              <a:srgbClr val="0D1B2A"/>
            </a:solidFill>
            <a:prstDash val="solid"/>
          </a:ln>
        </p:spPr>
      </p:sp>
      <p:sp>
        <p:nvSpPr>
          <p:cNvPr id="12" name="Text 10"/>
          <p:cNvSpPr/>
          <p:nvPr/>
        </p:nvSpPr>
        <p:spPr>
          <a:xfrm>
            <a:off x="603504" y="2148840"/>
            <a:ext cx="2304288" cy="310896"/>
          </a:xfrm>
          <a:prstGeom prst="rect">
            <a:avLst/>
          </a:prstGeom>
          <a:noFill/>
          <a:ln/>
        </p:spPr>
        <p:txBody>
          <a:bodyPr wrap="square" lIns="0" tIns="0" rIns="0" bIns="0" rtlCol="0" anchor="ctr"/>
          <a:lstStyle/>
          <a:p>
            <a:pPr indent="0" marL="0">
              <a:buNone/>
            </a:pPr>
            <a:r>
              <a:rPr lang="en-US" sz="1100" dirty="0">
                <a:solidFill>
                  <a:srgbClr val="4A5568"/>
                </a:solidFill>
                <a:latin typeface="Trebuchet MS" pitchFamily="34" charset="0"/>
                <a:ea typeface="Trebuchet MS" pitchFamily="34" charset="-122"/>
                <a:cs typeface="Trebuchet MS" pitchFamily="34" charset="-120"/>
              </a:rPr>
              <a:t>Only current path in memory</a:t>
            </a:r>
            <a:endParaRPr lang="en-US" sz="1100" dirty="0"/>
          </a:p>
        </p:txBody>
      </p:sp>
      <p:sp>
        <p:nvSpPr>
          <p:cNvPr id="13" name="Shape 11"/>
          <p:cNvSpPr/>
          <p:nvPr/>
        </p:nvSpPr>
        <p:spPr>
          <a:xfrm>
            <a:off x="365760" y="2788920"/>
            <a:ext cx="155448" cy="155448"/>
          </a:xfrm>
          <a:prstGeom prst="ellipse">
            <a:avLst/>
          </a:prstGeom>
          <a:solidFill>
            <a:srgbClr val="0D1B2A"/>
          </a:solidFill>
          <a:ln w="12700">
            <a:solidFill>
              <a:srgbClr val="0D1B2A"/>
            </a:solidFill>
            <a:prstDash val="solid"/>
          </a:ln>
        </p:spPr>
      </p:sp>
      <p:sp>
        <p:nvSpPr>
          <p:cNvPr id="14" name="Text 12"/>
          <p:cNvSpPr/>
          <p:nvPr/>
        </p:nvSpPr>
        <p:spPr>
          <a:xfrm>
            <a:off x="603504" y="2752344"/>
            <a:ext cx="2304288" cy="310896"/>
          </a:xfrm>
          <a:prstGeom prst="rect">
            <a:avLst/>
          </a:prstGeom>
          <a:noFill/>
          <a:ln/>
        </p:spPr>
        <p:txBody>
          <a:bodyPr wrap="square" lIns="0" tIns="0" rIns="0" bIns="0" rtlCol="0" anchor="ctr"/>
          <a:lstStyle/>
          <a:p>
            <a:pPr indent="0" marL="0">
              <a:buNone/>
            </a:pPr>
            <a:r>
              <a:rPr lang="en-US" sz="1100" dirty="0">
                <a:solidFill>
                  <a:srgbClr val="4A5568"/>
                </a:solidFill>
                <a:latin typeface="Trebuchet MS" pitchFamily="34" charset="0"/>
                <a:ea typeface="Trebuchet MS" pitchFamily="34" charset="-122"/>
                <a:cs typeface="Trebuchet MS" pitchFamily="34" charset="-120"/>
              </a:rPr>
              <a:t>O(b</a:t>
            </a:r>
            <a:pPr indent="0" marL="0">
              <a:buNone/>
            </a:pPr>
            <a:r>
              <a:rPr lang="en-US" sz="1100" baseline="30000" dirty="0">
                <a:solidFill>
                  <a:srgbClr val="4A5568"/>
                </a:solidFill>
                <a:latin typeface="Trebuchet MS" pitchFamily="34" charset="0"/>
                <a:ea typeface="Trebuchet MS" pitchFamily="34" charset="-122"/>
                <a:cs typeface="Trebuchet MS" pitchFamily="34" charset="-120"/>
              </a:rPr>
              <a:t>d</a:t>
            </a:r>
            <a:pPr indent="0" marL="0">
              <a:buNone/>
            </a:pPr>
            <a:r>
              <a:rPr lang="en-US" sz="1100" dirty="0">
                <a:solidFill>
                  <a:srgbClr val="4A5568"/>
                </a:solidFill>
                <a:latin typeface="Trebuchet MS" pitchFamily="34" charset="0"/>
                <a:ea typeface="Trebuchet MS" pitchFamily="34" charset="-122"/>
                <a:cs typeface="Trebuchet MS" pitchFamily="34" charset="-120"/>
              </a:rPr>
              <a:t>) exponential time</a:t>
            </a:r>
            <a:endParaRPr lang="en-US" sz="1100" dirty="0"/>
          </a:p>
        </p:txBody>
      </p:sp>
      <p:sp>
        <p:nvSpPr>
          <p:cNvPr id="15" name="Shape 13"/>
          <p:cNvSpPr/>
          <p:nvPr/>
        </p:nvSpPr>
        <p:spPr>
          <a:xfrm>
            <a:off x="365760" y="3392424"/>
            <a:ext cx="155448" cy="155448"/>
          </a:xfrm>
          <a:prstGeom prst="ellipse">
            <a:avLst/>
          </a:prstGeom>
          <a:solidFill>
            <a:srgbClr val="0D1B2A"/>
          </a:solidFill>
          <a:ln w="12700">
            <a:solidFill>
              <a:srgbClr val="0D1B2A"/>
            </a:solidFill>
            <a:prstDash val="solid"/>
          </a:ln>
        </p:spPr>
      </p:sp>
      <p:sp>
        <p:nvSpPr>
          <p:cNvPr id="16" name="Text 14"/>
          <p:cNvSpPr/>
          <p:nvPr/>
        </p:nvSpPr>
        <p:spPr>
          <a:xfrm>
            <a:off x="603504" y="3355848"/>
            <a:ext cx="2304288" cy="310896"/>
          </a:xfrm>
          <a:prstGeom prst="rect">
            <a:avLst/>
          </a:prstGeom>
          <a:noFill/>
          <a:ln/>
        </p:spPr>
        <p:txBody>
          <a:bodyPr wrap="square" lIns="0" tIns="0" rIns="0" bIns="0" rtlCol="0" anchor="ctr"/>
          <a:lstStyle/>
          <a:p>
            <a:pPr indent="0" marL="0">
              <a:buNone/>
            </a:pPr>
            <a:r>
              <a:rPr lang="en-US" sz="1100" dirty="0">
                <a:solidFill>
                  <a:srgbClr val="4A5568"/>
                </a:solidFill>
                <a:latin typeface="Trebuchet MS" pitchFamily="34" charset="0"/>
                <a:ea typeface="Trebuchet MS" pitchFamily="34" charset="-122"/>
                <a:cs typeface="Trebuchet MS" pitchFamily="34" charset="-120"/>
              </a:rPr>
              <a:t>Depth limit of 6 applied</a:t>
            </a:r>
            <a:endParaRPr lang="en-US" sz="1100" dirty="0"/>
          </a:p>
        </p:txBody>
      </p:sp>
      <p:sp>
        <p:nvSpPr>
          <p:cNvPr id="17" name="Shape 15"/>
          <p:cNvSpPr/>
          <p:nvPr/>
        </p:nvSpPr>
        <p:spPr>
          <a:xfrm>
            <a:off x="365760" y="3995928"/>
            <a:ext cx="155448" cy="155448"/>
          </a:xfrm>
          <a:prstGeom prst="ellipse">
            <a:avLst/>
          </a:prstGeom>
          <a:solidFill>
            <a:srgbClr val="0D1B2A"/>
          </a:solidFill>
          <a:ln w="12700">
            <a:solidFill>
              <a:srgbClr val="0D1B2A"/>
            </a:solidFill>
            <a:prstDash val="solid"/>
          </a:ln>
        </p:spPr>
      </p:sp>
      <p:sp>
        <p:nvSpPr>
          <p:cNvPr id="18" name="Text 16"/>
          <p:cNvSpPr/>
          <p:nvPr/>
        </p:nvSpPr>
        <p:spPr>
          <a:xfrm>
            <a:off x="603504" y="3959352"/>
            <a:ext cx="2304288" cy="310896"/>
          </a:xfrm>
          <a:prstGeom prst="rect">
            <a:avLst/>
          </a:prstGeom>
          <a:noFill/>
          <a:ln/>
        </p:spPr>
        <p:txBody>
          <a:bodyPr wrap="square" lIns="0" tIns="0" rIns="0" bIns="0" rtlCol="0" anchor="ctr"/>
          <a:lstStyle/>
          <a:p>
            <a:pPr indent="0" marL="0">
              <a:buNone/>
            </a:pPr>
            <a:r>
              <a:rPr lang="en-US" sz="1100" dirty="0">
                <a:solidFill>
                  <a:srgbClr val="4A5568"/>
                </a:solidFill>
                <a:latin typeface="Trebuchet MS" pitchFamily="34" charset="0"/>
                <a:ea typeface="Trebuchet MS" pitchFamily="34" charset="-122"/>
                <a:cs typeface="Trebuchet MS" pitchFamily="34" charset="-120"/>
              </a:rPr>
              <a:t>No heuristic, fully uninformed</a:t>
            </a:r>
            <a:endParaRPr lang="en-US" sz="1100" dirty="0"/>
          </a:p>
        </p:txBody>
      </p:sp>
      <p:sp>
        <p:nvSpPr>
          <p:cNvPr id="19" name="Shape 17"/>
          <p:cNvSpPr/>
          <p:nvPr/>
        </p:nvSpPr>
        <p:spPr>
          <a:xfrm>
            <a:off x="3182112" y="859536"/>
            <a:ext cx="2816352" cy="4023360"/>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20" name="Shape 18"/>
          <p:cNvSpPr/>
          <p:nvPr/>
        </p:nvSpPr>
        <p:spPr>
          <a:xfrm>
            <a:off x="3182112" y="859536"/>
            <a:ext cx="2816352" cy="585216"/>
          </a:xfrm>
          <a:prstGeom prst="rect">
            <a:avLst/>
          </a:prstGeom>
          <a:solidFill>
            <a:srgbClr val="028090"/>
          </a:solidFill>
          <a:ln w="12700">
            <a:solidFill>
              <a:srgbClr val="028090"/>
            </a:solidFill>
            <a:prstDash val="solid"/>
          </a:ln>
        </p:spPr>
      </p:sp>
      <p:sp>
        <p:nvSpPr>
          <p:cNvPr id="21" name="Text 19"/>
          <p:cNvSpPr/>
          <p:nvPr/>
        </p:nvSpPr>
        <p:spPr>
          <a:xfrm>
            <a:off x="3182112" y="859536"/>
            <a:ext cx="2816352"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A*</a:t>
            </a:r>
            <a:endParaRPr lang="en-US" sz="1600" dirty="0"/>
          </a:p>
        </p:txBody>
      </p:sp>
      <p:sp>
        <p:nvSpPr>
          <p:cNvPr id="22" name="Text 20"/>
          <p:cNvSpPr/>
          <p:nvPr/>
        </p:nvSpPr>
        <p:spPr>
          <a:xfrm>
            <a:off x="3182112" y="1188720"/>
            <a:ext cx="2816352" cy="256032"/>
          </a:xfrm>
          <a:prstGeom prst="rect">
            <a:avLst/>
          </a:prstGeom>
          <a:noFill/>
          <a:ln/>
        </p:spPr>
        <p:txBody>
          <a:bodyPr wrap="square" lIns="0" tIns="0" rIns="0" bIns="0" rtlCol="0" anchor="ctr"/>
          <a:lstStyle/>
          <a:p>
            <a:pPr algn="ctr" indent="0" marL="0">
              <a:buNone/>
            </a:pPr>
            <a:r>
              <a:rPr lang="en-US" sz="1000" dirty="0">
                <a:solidFill>
                  <a:srgbClr val="FFFFFF"/>
                </a:solidFill>
                <a:latin typeface="Trebuchet MS" pitchFamily="34" charset="0"/>
                <a:ea typeface="Trebuchet MS" pitchFamily="34" charset="-122"/>
                <a:cs typeface="Trebuchet MS" pitchFamily="34" charset="-120"/>
              </a:rPr>
              <a:t>Informed Search</a:t>
            </a:r>
            <a:endParaRPr lang="en-US" sz="1000" dirty="0"/>
          </a:p>
        </p:txBody>
      </p:sp>
      <p:sp>
        <p:nvSpPr>
          <p:cNvPr id="23" name="Shape 21"/>
          <p:cNvSpPr/>
          <p:nvPr/>
        </p:nvSpPr>
        <p:spPr>
          <a:xfrm>
            <a:off x="3346704" y="1581912"/>
            <a:ext cx="155448" cy="155448"/>
          </a:xfrm>
          <a:prstGeom prst="ellipse">
            <a:avLst/>
          </a:prstGeom>
          <a:solidFill>
            <a:srgbClr val="028090"/>
          </a:solidFill>
          <a:ln w="12700">
            <a:solidFill>
              <a:srgbClr val="028090"/>
            </a:solidFill>
            <a:prstDash val="solid"/>
          </a:ln>
        </p:spPr>
      </p:sp>
      <p:sp>
        <p:nvSpPr>
          <p:cNvPr id="24" name="Text 22"/>
          <p:cNvSpPr/>
          <p:nvPr/>
        </p:nvSpPr>
        <p:spPr>
          <a:xfrm>
            <a:off x="3584448" y="1545336"/>
            <a:ext cx="2304288" cy="310896"/>
          </a:xfrm>
          <a:prstGeom prst="rect">
            <a:avLst/>
          </a:prstGeom>
          <a:noFill/>
          <a:ln/>
        </p:spPr>
        <p:txBody>
          <a:bodyPr wrap="square" lIns="0" tIns="0" rIns="0" bIns="0" rtlCol="0" anchor="ctr"/>
          <a:lstStyle/>
          <a:p>
            <a:pPr indent="0" marL="0">
              <a:buNone/>
            </a:pPr>
            <a:r>
              <a:rPr lang="en-US" sz="1100" dirty="0">
                <a:solidFill>
                  <a:srgbClr val="4A5568"/>
                </a:solidFill>
                <a:latin typeface="Trebuchet MS" pitchFamily="34" charset="0"/>
                <a:ea typeface="Trebuchet MS" pitchFamily="34" charset="-122"/>
                <a:cs typeface="Trebuchet MS" pitchFamily="34" charset="-120"/>
              </a:rPr>
              <a:t>Priority queue: f = g + h(n)</a:t>
            </a:r>
            <a:endParaRPr lang="en-US" sz="1100" dirty="0"/>
          </a:p>
        </p:txBody>
      </p:sp>
      <p:sp>
        <p:nvSpPr>
          <p:cNvPr id="25" name="Shape 23"/>
          <p:cNvSpPr/>
          <p:nvPr/>
        </p:nvSpPr>
        <p:spPr>
          <a:xfrm>
            <a:off x="3346704" y="2185416"/>
            <a:ext cx="155448" cy="155448"/>
          </a:xfrm>
          <a:prstGeom prst="ellipse">
            <a:avLst/>
          </a:prstGeom>
          <a:solidFill>
            <a:srgbClr val="028090"/>
          </a:solidFill>
          <a:ln w="12700">
            <a:solidFill>
              <a:srgbClr val="028090"/>
            </a:solidFill>
            <a:prstDash val="solid"/>
          </a:ln>
        </p:spPr>
      </p:sp>
      <p:sp>
        <p:nvSpPr>
          <p:cNvPr id="26" name="Text 24"/>
          <p:cNvSpPr/>
          <p:nvPr/>
        </p:nvSpPr>
        <p:spPr>
          <a:xfrm>
            <a:off x="3584448" y="2148840"/>
            <a:ext cx="2304288" cy="310896"/>
          </a:xfrm>
          <a:prstGeom prst="rect">
            <a:avLst/>
          </a:prstGeom>
          <a:noFill/>
          <a:ln/>
        </p:spPr>
        <p:txBody>
          <a:bodyPr wrap="square" lIns="0" tIns="0" rIns="0" bIns="0" rtlCol="0" anchor="ctr"/>
          <a:lstStyle/>
          <a:p>
            <a:pPr indent="0" marL="0">
              <a:buNone/>
            </a:pPr>
            <a:r>
              <a:rPr lang="en-US" sz="1100" dirty="0">
                <a:solidFill>
                  <a:srgbClr val="4A5568"/>
                </a:solidFill>
                <a:latin typeface="Trebuchet MS" pitchFamily="34" charset="0"/>
                <a:ea typeface="Trebuchet MS" pitchFamily="34" charset="-122"/>
                <a:cs typeface="Trebuchet MS" pitchFamily="34" charset="-120"/>
              </a:rPr>
              <a:t>h(n): Wikipedia2Vec embeddings</a:t>
            </a:r>
            <a:endParaRPr lang="en-US" sz="1100" dirty="0"/>
          </a:p>
        </p:txBody>
      </p:sp>
      <p:sp>
        <p:nvSpPr>
          <p:cNvPr id="27" name="Shape 25"/>
          <p:cNvSpPr/>
          <p:nvPr/>
        </p:nvSpPr>
        <p:spPr>
          <a:xfrm>
            <a:off x="3346704" y="2788920"/>
            <a:ext cx="155448" cy="155448"/>
          </a:xfrm>
          <a:prstGeom prst="ellipse">
            <a:avLst/>
          </a:prstGeom>
          <a:solidFill>
            <a:srgbClr val="028090"/>
          </a:solidFill>
          <a:ln w="12700">
            <a:solidFill>
              <a:srgbClr val="028090"/>
            </a:solidFill>
            <a:prstDash val="solid"/>
          </a:ln>
        </p:spPr>
      </p:sp>
      <p:sp>
        <p:nvSpPr>
          <p:cNvPr id="28" name="Text 26"/>
          <p:cNvSpPr/>
          <p:nvPr/>
        </p:nvSpPr>
        <p:spPr>
          <a:xfrm>
            <a:off x="3584448" y="2752344"/>
            <a:ext cx="2304288" cy="310896"/>
          </a:xfrm>
          <a:prstGeom prst="rect">
            <a:avLst/>
          </a:prstGeom>
          <a:noFill/>
          <a:ln/>
        </p:spPr>
        <p:txBody>
          <a:bodyPr wrap="square" lIns="0" tIns="0" rIns="0" bIns="0" rtlCol="0" anchor="ctr"/>
          <a:lstStyle/>
          <a:p>
            <a:pPr indent="0" marL="0">
              <a:buNone/>
            </a:pPr>
            <a:r>
              <a:rPr lang="en-US" sz="1100" dirty="0">
                <a:solidFill>
                  <a:srgbClr val="4A5568"/>
                </a:solidFill>
                <a:latin typeface="Trebuchet MS" pitchFamily="34" charset="0"/>
                <a:ea typeface="Trebuchet MS" pitchFamily="34" charset="-122"/>
                <a:cs typeface="Trebuchet MS" pitchFamily="34" charset="-120"/>
              </a:rPr>
              <a:t>Explores fewer nodes when heuristic is good</a:t>
            </a:r>
            <a:endParaRPr lang="en-US" sz="1100" dirty="0"/>
          </a:p>
        </p:txBody>
      </p:sp>
      <p:sp>
        <p:nvSpPr>
          <p:cNvPr id="29" name="Shape 27"/>
          <p:cNvSpPr/>
          <p:nvPr/>
        </p:nvSpPr>
        <p:spPr>
          <a:xfrm>
            <a:off x="3346704" y="3392424"/>
            <a:ext cx="155448" cy="155448"/>
          </a:xfrm>
          <a:prstGeom prst="ellipse">
            <a:avLst/>
          </a:prstGeom>
          <a:solidFill>
            <a:srgbClr val="028090"/>
          </a:solidFill>
          <a:ln w="12700">
            <a:solidFill>
              <a:srgbClr val="028090"/>
            </a:solidFill>
            <a:prstDash val="solid"/>
          </a:ln>
        </p:spPr>
      </p:sp>
      <p:sp>
        <p:nvSpPr>
          <p:cNvPr id="30" name="Text 28"/>
          <p:cNvSpPr/>
          <p:nvPr/>
        </p:nvSpPr>
        <p:spPr>
          <a:xfrm>
            <a:off x="3584448" y="3355848"/>
            <a:ext cx="2304288" cy="310896"/>
          </a:xfrm>
          <a:prstGeom prst="rect">
            <a:avLst/>
          </a:prstGeom>
          <a:noFill/>
          <a:ln/>
        </p:spPr>
        <p:txBody>
          <a:bodyPr wrap="square" lIns="0" tIns="0" rIns="0" bIns="0" rtlCol="0" anchor="ctr"/>
          <a:lstStyle/>
          <a:p>
            <a:pPr indent="0" marL="0">
              <a:buNone/>
            </a:pPr>
            <a:r>
              <a:rPr lang="en-US" sz="1100" dirty="0">
                <a:solidFill>
                  <a:srgbClr val="4A5568"/>
                </a:solidFill>
                <a:latin typeface="Trebuchet MS" pitchFamily="34" charset="0"/>
                <a:ea typeface="Trebuchet MS" pitchFamily="34" charset="-122"/>
                <a:cs typeface="Trebuchet MS" pitchFamily="34" charset="-120"/>
              </a:rPr>
              <a:t>Standard benchmark for informed search</a:t>
            </a:r>
            <a:endParaRPr lang="en-US" sz="1100" dirty="0"/>
          </a:p>
        </p:txBody>
      </p:sp>
      <p:sp>
        <p:nvSpPr>
          <p:cNvPr id="31" name="Shape 29"/>
          <p:cNvSpPr/>
          <p:nvPr/>
        </p:nvSpPr>
        <p:spPr>
          <a:xfrm>
            <a:off x="6163056" y="859536"/>
            <a:ext cx="2816352" cy="4023360"/>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32" name="Shape 30"/>
          <p:cNvSpPr/>
          <p:nvPr/>
        </p:nvSpPr>
        <p:spPr>
          <a:xfrm>
            <a:off x="6163056" y="859536"/>
            <a:ext cx="2816352" cy="585216"/>
          </a:xfrm>
          <a:prstGeom prst="rect">
            <a:avLst/>
          </a:prstGeom>
          <a:solidFill>
            <a:srgbClr val="02C39A"/>
          </a:solidFill>
          <a:ln w="12700">
            <a:solidFill>
              <a:srgbClr val="02C39A"/>
            </a:solidFill>
            <a:prstDash val="solid"/>
          </a:ln>
        </p:spPr>
      </p:sp>
      <p:sp>
        <p:nvSpPr>
          <p:cNvPr id="33" name="Text 31"/>
          <p:cNvSpPr/>
          <p:nvPr/>
        </p:nvSpPr>
        <p:spPr>
          <a:xfrm>
            <a:off x="6163056" y="859536"/>
            <a:ext cx="2816352"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Bidirectional BFS</a:t>
            </a:r>
            <a:endParaRPr lang="en-US" sz="1600" dirty="0"/>
          </a:p>
        </p:txBody>
      </p:sp>
      <p:sp>
        <p:nvSpPr>
          <p:cNvPr id="34" name="Text 32"/>
          <p:cNvSpPr/>
          <p:nvPr/>
        </p:nvSpPr>
        <p:spPr>
          <a:xfrm>
            <a:off x="6163056" y="1188720"/>
            <a:ext cx="2816352" cy="256032"/>
          </a:xfrm>
          <a:prstGeom prst="rect">
            <a:avLst/>
          </a:prstGeom>
          <a:noFill/>
          <a:ln/>
        </p:spPr>
        <p:txBody>
          <a:bodyPr wrap="square" lIns="0" tIns="0" rIns="0" bIns="0" rtlCol="0" anchor="ctr"/>
          <a:lstStyle/>
          <a:p>
            <a:pPr algn="ctr" indent="0" marL="0">
              <a:buNone/>
            </a:pPr>
            <a:r>
              <a:rPr lang="en-US" sz="1000" dirty="0">
                <a:solidFill>
                  <a:srgbClr val="FFFFFF"/>
                </a:solidFill>
                <a:latin typeface="Trebuchet MS" pitchFamily="34" charset="0"/>
                <a:ea typeface="Trebuchet MS" pitchFamily="34" charset="-122"/>
                <a:cs typeface="Trebuchet MS" pitchFamily="34" charset="-120"/>
              </a:rPr>
              <a:t>Meet in the Middle</a:t>
            </a:r>
            <a:endParaRPr lang="en-US" sz="1000" dirty="0"/>
          </a:p>
        </p:txBody>
      </p:sp>
      <p:sp>
        <p:nvSpPr>
          <p:cNvPr id="35" name="Shape 33"/>
          <p:cNvSpPr/>
          <p:nvPr/>
        </p:nvSpPr>
        <p:spPr>
          <a:xfrm>
            <a:off x="6327648" y="1581912"/>
            <a:ext cx="155448" cy="155448"/>
          </a:xfrm>
          <a:prstGeom prst="ellipse">
            <a:avLst/>
          </a:prstGeom>
          <a:solidFill>
            <a:srgbClr val="02C39A"/>
          </a:solidFill>
          <a:ln w="12700">
            <a:solidFill>
              <a:srgbClr val="02C39A"/>
            </a:solidFill>
            <a:prstDash val="solid"/>
          </a:ln>
        </p:spPr>
      </p:sp>
      <p:sp>
        <p:nvSpPr>
          <p:cNvPr id="36" name="Text 34"/>
          <p:cNvSpPr/>
          <p:nvPr/>
        </p:nvSpPr>
        <p:spPr>
          <a:xfrm>
            <a:off x="6565392" y="1545336"/>
            <a:ext cx="2304288" cy="310896"/>
          </a:xfrm>
          <a:prstGeom prst="rect">
            <a:avLst/>
          </a:prstGeom>
          <a:noFill/>
          <a:ln/>
        </p:spPr>
        <p:txBody>
          <a:bodyPr wrap="square" lIns="0" tIns="0" rIns="0" bIns="0" rtlCol="0" anchor="ctr"/>
          <a:lstStyle/>
          <a:p>
            <a:pPr indent="0" marL="0">
              <a:buNone/>
            </a:pPr>
            <a:r>
              <a:rPr lang="en-US" sz="1100" dirty="0">
                <a:solidFill>
                  <a:srgbClr val="4A5568"/>
                </a:solidFill>
                <a:latin typeface="Trebuchet MS" pitchFamily="34" charset="0"/>
                <a:ea typeface="Trebuchet MS" pitchFamily="34" charset="-122"/>
                <a:cs typeface="Trebuchet MS" pitchFamily="34" charset="-120"/>
              </a:rPr>
              <a:t>Searches from start and goal</a:t>
            </a:r>
            <a:endParaRPr lang="en-US" sz="1100" dirty="0"/>
          </a:p>
        </p:txBody>
      </p:sp>
      <p:sp>
        <p:nvSpPr>
          <p:cNvPr id="37" name="Shape 35"/>
          <p:cNvSpPr/>
          <p:nvPr/>
        </p:nvSpPr>
        <p:spPr>
          <a:xfrm>
            <a:off x="6327648" y="2185416"/>
            <a:ext cx="155448" cy="155448"/>
          </a:xfrm>
          <a:prstGeom prst="ellipse">
            <a:avLst/>
          </a:prstGeom>
          <a:solidFill>
            <a:srgbClr val="02C39A"/>
          </a:solidFill>
          <a:ln w="12700">
            <a:solidFill>
              <a:srgbClr val="02C39A"/>
            </a:solidFill>
            <a:prstDash val="solid"/>
          </a:ln>
        </p:spPr>
      </p:sp>
      <p:sp>
        <p:nvSpPr>
          <p:cNvPr id="38" name="Text 36"/>
          <p:cNvSpPr/>
          <p:nvPr/>
        </p:nvSpPr>
        <p:spPr>
          <a:xfrm>
            <a:off x="6565392" y="2148840"/>
            <a:ext cx="2304288" cy="310896"/>
          </a:xfrm>
          <a:prstGeom prst="rect">
            <a:avLst/>
          </a:prstGeom>
          <a:noFill/>
          <a:ln/>
        </p:spPr>
        <p:txBody>
          <a:bodyPr wrap="square" lIns="0" tIns="0" rIns="0" bIns="0" rtlCol="0" anchor="ctr"/>
          <a:lstStyle/>
          <a:p>
            <a:pPr indent="0" marL="0">
              <a:buNone/>
            </a:pPr>
            <a:r>
              <a:rPr lang="en-US" sz="1100" dirty="0">
                <a:solidFill>
                  <a:srgbClr val="4A5568"/>
                </a:solidFill>
                <a:latin typeface="Trebuchet MS" pitchFamily="34" charset="0"/>
                <a:ea typeface="Trebuchet MS" pitchFamily="34" charset="-122"/>
                <a:cs typeface="Trebuchet MS" pitchFamily="34" charset="-120"/>
              </a:rPr>
              <a:t>Backward pass uses reverse graph</a:t>
            </a:r>
            <a:endParaRPr lang="en-US" sz="1100" dirty="0"/>
          </a:p>
        </p:txBody>
      </p:sp>
      <p:sp>
        <p:nvSpPr>
          <p:cNvPr id="39" name="Shape 37"/>
          <p:cNvSpPr/>
          <p:nvPr/>
        </p:nvSpPr>
        <p:spPr>
          <a:xfrm>
            <a:off x="6327648" y="2788920"/>
            <a:ext cx="155448" cy="155448"/>
          </a:xfrm>
          <a:prstGeom prst="ellipse">
            <a:avLst/>
          </a:prstGeom>
          <a:solidFill>
            <a:srgbClr val="02C39A"/>
          </a:solidFill>
          <a:ln w="12700">
            <a:solidFill>
              <a:srgbClr val="02C39A"/>
            </a:solidFill>
            <a:prstDash val="solid"/>
          </a:ln>
        </p:spPr>
      </p:sp>
      <p:sp>
        <p:nvSpPr>
          <p:cNvPr id="40" name="Text 38"/>
          <p:cNvSpPr/>
          <p:nvPr/>
        </p:nvSpPr>
        <p:spPr>
          <a:xfrm>
            <a:off x="6565392" y="2752344"/>
            <a:ext cx="2304288" cy="310896"/>
          </a:xfrm>
          <a:prstGeom prst="rect">
            <a:avLst/>
          </a:prstGeom>
          <a:noFill/>
          <a:ln/>
        </p:spPr>
        <p:txBody>
          <a:bodyPr wrap="square" lIns="0" tIns="0" rIns="0" bIns="0" rtlCol="0" anchor="ctr"/>
          <a:lstStyle/>
          <a:p>
            <a:pPr indent="0" marL="0">
              <a:buNone/>
            </a:pPr>
            <a:r>
              <a:rPr lang="en-US" sz="1100" dirty="0">
                <a:solidFill>
                  <a:srgbClr val="4A5568"/>
                </a:solidFill>
                <a:latin typeface="Trebuchet MS" pitchFamily="34" charset="0"/>
                <a:ea typeface="Trebuchet MS" pitchFamily="34" charset="-122"/>
                <a:cs typeface="Trebuchet MS" pitchFamily="34" charset="-120"/>
              </a:rPr>
              <a:t>O(b</a:t>
            </a:r>
            <a:pPr indent="0" marL="0">
              <a:buNone/>
            </a:pPr>
            <a:r>
              <a:rPr lang="en-US" sz="1100" baseline="30000" dirty="0">
                <a:solidFill>
                  <a:srgbClr val="4A5568"/>
                </a:solidFill>
                <a:latin typeface="Trebuchet MS" pitchFamily="34" charset="0"/>
                <a:ea typeface="Trebuchet MS" pitchFamily="34" charset="-122"/>
                <a:cs typeface="Trebuchet MS" pitchFamily="34" charset="-120"/>
              </a:rPr>
              <a:t>d/2</a:t>
            </a:r>
            <a:pPr indent="0" marL="0">
              <a:buNone/>
            </a:pPr>
            <a:r>
              <a:rPr lang="en-US" sz="1100" dirty="0">
                <a:solidFill>
                  <a:srgbClr val="4A5568"/>
                </a:solidFill>
                <a:latin typeface="Trebuchet MS" pitchFamily="34" charset="0"/>
                <a:ea typeface="Trebuchet MS" pitchFamily="34" charset="-122"/>
                <a:cs typeface="Trebuchet MS" pitchFamily="34" charset="-120"/>
              </a:rPr>
              <a:t>) complexity</a:t>
            </a:r>
            <a:endParaRPr lang="en-US" sz="1100" dirty="0"/>
          </a:p>
        </p:txBody>
      </p:sp>
      <p:sp>
        <p:nvSpPr>
          <p:cNvPr id="41" name="Shape 39"/>
          <p:cNvSpPr/>
          <p:nvPr/>
        </p:nvSpPr>
        <p:spPr>
          <a:xfrm>
            <a:off x="6327648" y="3392424"/>
            <a:ext cx="155448" cy="155448"/>
          </a:xfrm>
          <a:prstGeom prst="ellipse">
            <a:avLst/>
          </a:prstGeom>
          <a:solidFill>
            <a:srgbClr val="02C39A"/>
          </a:solidFill>
          <a:ln w="12700">
            <a:solidFill>
              <a:srgbClr val="02C39A"/>
            </a:solidFill>
            <a:prstDash val="solid"/>
          </a:ln>
        </p:spPr>
      </p:sp>
      <p:sp>
        <p:nvSpPr>
          <p:cNvPr id="42" name="Text 40"/>
          <p:cNvSpPr/>
          <p:nvPr/>
        </p:nvSpPr>
        <p:spPr>
          <a:xfrm>
            <a:off x="6565392" y="3355848"/>
            <a:ext cx="2304288" cy="310896"/>
          </a:xfrm>
          <a:prstGeom prst="rect">
            <a:avLst/>
          </a:prstGeom>
          <a:noFill/>
          <a:ln/>
        </p:spPr>
        <p:txBody>
          <a:bodyPr wrap="square" lIns="0" tIns="0" rIns="0" bIns="0" rtlCol="0" anchor="ctr"/>
          <a:lstStyle/>
          <a:p>
            <a:pPr indent="0" marL="0">
              <a:buNone/>
            </a:pPr>
            <a:r>
              <a:rPr lang="en-US" sz="1100" dirty="0">
                <a:solidFill>
                  <a:srgbClr val="4A5568"/>
                </a:solidFill>
                <a:latin typeface="Trebuchet MS" pitchFamily="34" charset="0"/>
                <a:ea typeface="Trebuchet MS" pitchFamily="34" charset="-122"/>
                <a:cs typeface="Trebuchet MS" pitchFamily="34" charset="-120"/>
              </a:rPr>
              <a:t>Smaller frontier expanded first</a:t>
            </a:r>
            <a:endParaRPr lang="en-US" sz="1100" dirty="0"/>
          </a:p>
        </p:txBody>
      </p:sp>
      <p:sp>
        <p:nvSpPr>
          <p:cNvPr id="43" name="Shape 41"/>
          <p:cNvSpPr/>
          <p:nvPr/>
        </p:nvSpPr>
        <p:spPr>
          <a:xfrm>
            <a:off x="6327648" y="3995928"/>
            <a:ext cx="155448" cy="155448"/>
          </a:xfrm>
          <a:prstGeom prst="ellipse">
            <a:avLst/>
          </a:prstGeom>
          <a:solidFill>
            <a:srgbClr val="02C39A"/>
          </a:solidFill>
          <a:ln w="12700">
            <a:solidFill>
              <a:srgbClr val="02C39A"/>
            </a:solidFill>
            <a:prstDash val="solid"/>
          </a:ln>
        </p:spPr>
      </p:sp>
      <p:sp>
        <p:nvSpPr>
          <p:cNvPr id="44" name="Text 42"/>
          <p:cNvSpPr/>
          <p:nvPr/>
        </p:nvSpPr>
        <p:spPr>
          <a:xfrm>
            <a:off x="6565392" y="3959352"/>
            <a:ext cx="2304288" cy="310896"/>
          </a:xfrm>
          <a:prstGeom prst="rect">
            <a:avLst/>
          </a:prstGeom>
          <a:noFill/>
          <a:ln/>
        </p:spPr>
        <p:txBody>
          <a:bodyPr wrap="square" lIns="0" tIns="0" rIns="0" bIns="0" rtlCol="0" anchor="ctr"/>
          <a:lstStyle/>
          <a:p>
            <a:pPr indent="0" marL="0">
              <a:buNone/>
            </a:pPr>
            <a:r>
              <a:rPr lang="en-US" sz="1100" dirty="0">
                <a:solidFill>
                  <a:srgbClr val="4A5568"/>
                </a:solidFill>
                <a:latin typeface="Trebuchet MS" pitchFamily="34" charset="0"/>
                <a:ea typeface="Trebuchet MS" pitchFamily="34" charset="-122"/>
                <a:cs typeface="Trebuchet MS" pitchFamily="34" charset="-120"/>
              </a:rPr>
              <a:t>No heuristic needed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3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658368"/>
            <a:ext cx="9144000" cy="64008"/>
          </a:xfrm>
          <a:prstGeom prst="rect">
            <a:avLst/>
          </a:prstGeom>
          <a:solidFill>
            <a:srgbClr val="00A896"/>
          </a:solidFill>
          <a:ln w="12700">
            <a:solidFill>
              <a:srgbClr val="00A896"/>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How IDDFS Works</a:t>
            </a:r>
            <a:endParaRPr lang="en-US" sz="2200" dirty="0"/>
          </a:p>
        </p:txBody>
      </p:sp>
      <p:sp>
        <p:nvSpPr>
          <p:cNvPr id="5" name="Text 3"/>
          <p:cNvSpPr/>
          <p:nvPr/>
        </p:nvSpPr>
        <p:spPr>
          <a:xfrm>
            <a:off x="384048" y="822960"/>
            <a:ext cx="8375904" cy="320040"/>
          </a:xfrm>
          <a:prstGeom prst="rect">
            <a:avLst/>
          </a:prstGeom>
          <a:noFill/>
          <a:ln/>
        </p:spPr>
        <p:txBody>
          <a:bodyPr wrap="square" lIns="0" tIns="0" rIns="0" bIns="0" rtlCol="0" anchor="ctr"/>
          <a:lstStyle/>
          <a:p>
            <a:pPr indent="0" marL="0">
              <a:buNone/>
            </a:pPr>
            <a:r>
              <a:rPr lang="en-US" sz="1300" dirty="0">
                <a:solidFill>
                  <a:srgbClr val="4A5568"/>
                </a:solidFill>
                <a:latin typeface="Trebuchet MS" pitchFamily="34" charset="0"/>
                <a:ea typeface="Trebuchet MS" pitchFamily="34" charset="-122"/>
                <a:cs typeface="Trebuchet MS" pitchFamily="34" charset="-120"/>
              </a:rPr>
              <a:t>Depth-limited DFS repeated with increasing limits until the goal is found or depth 6 is reached.</a:t>
            </a:r>
            <a:endParaRPr lang="en-US" sz="1300" dirty="0"/>
          </a:p>
        </p:txBody>
      </p:sp>
      <p:sp>
        <p:nvSpPr>
          <p:cNvPr id="6" name="Shape 4"/>
          <p:cNvSpPr/>
          <p:nvPr/>
        </p:nvSpPr>
        <p:spPr>
          <a:xfrm>
            <a:off x="292608" y="1417320"/>
            <a:ext cx="2011680" cy="2395728"/>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7" name="Shape 5"/>
          <p:cNvSpPr/>
          <p:nvPr/>
        </p:nvSpPr>
        <p:spPr>
          <a:xfrm>
            <a:off x="1097280" y="1197864"/>
            <a:ext cx="402336" cy="402336"/>
          </a:xfrm>
          <a:prstGeom prst="ellipse">
            <a:avLst/>
          </a:prstGeom>
          <a:solidFill>
            <a:srgbClr val="0D1B2A"/>
          </a:solidFill>
          <a:ln w="12700">
            <a:solidFill>
              <a:srgbClr val="0D1B2A"/>
            </a:solidFill>
            <a:prstDash val="solid"/>
          </a:ln>
        </p:spPr>
      </p:sp>
      <p:sp>
        <p:nvSpPr>
          <p:cNvPr id="8" name="Text 6"/>
          <p:cNvSpPr/>
          <p:nvPr/>
        </p:nvSpPr>
        <p:spPr>
          <a:xfrm>
            <a:off x="1097280" y="11978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1</a:t>
            </a:r>
            <a:endParaRPr lang="en-US" sz="1300" dirty="0"/>
          </a:p>
        </p:txBody>
      </p:sp>
      <p:sp>
        <p:nvSpPr>
          <p:cNvPr id="9" name="Text 7"/>
          <p:cNvSpPr/>
          <p:nvPr/>
        </p:nvSpPr>
        <p:spPr>
          <a:xfrm>
            <a:off x="402336" y="1673352"/>
            <a:ext cx="1792224" cy="329184"/>
          </a:xfrm>
          <a:prstGeom prst="rect">
            <a:avLst/>
          </a:prstGeom>
          <a:noFill/>
          <a:ln/>
        </p:spPr>
        <p:txBody>
          <a:bodyPr wrap="square" lIns="0" tIns="0" rIns="0" bIns="0" rtlCol="0" anchor="ctr"/>
          <a:lstStyle/>
          <a:p>
            <a:pPr algn="ctr" indent="0" marL="0">
              <a:buNone/>
            </a:pPr>
            <a:r>
              <a:rPr lang="en-US" sz="1200" b="1" dirty="0">
                <a:solidFill>
                  <a:srgbClr val="0D1B2A"/>
                </a:solidFill>
                <a:latin typeface="Trebuchet MS" pitchFamily="34" charset="0"/>
                <a:ea typeface="Trebuchet MS" pitchFamily="34" charset="-122"/>
                <a:cs typeface="Trebuchet MS" pitchFamily="34" charset="-120"/>
              </a:rPr>
              <a:t>Try depth 1</a:t>
            </a:r>
            <a:endParaRPr lang="en-US" sz="1200" dirty="0"/>
          </a:p>
        </p:txBody>
      </p:sp>
      <p:sp>
        <p:nvSpPr>
          <p:cNvPr id="10" name="Text 8"/>
          <p:cNvSpPr/>
          <p:nvPr/>
        </p:nvSpPr>
        <p:spPr>
          <a:xfrm>
            <a:off x="457200" y="2167128"/>
            <a:ext cx="1682496" cy="1508760"/>
          </a:xfrm>
          <a:prstGeom prst="rect">
            <a:avLst/>
          </a:prstGeom>
          <a:noFill/>
          <a:ln/>
        </p:spPr>
        <p:txBody>
          <a:bodyPr wrap="square" lIns="0" tIns="0" rIns="0" bIns="0" rtlCol="0" anchor="t"/>
          <a:lstStyle/>
          <a:p>
            <a:pPr algn="ctr" indent="0" marL="0">
              <a:buNone/>
            </a:pPr>
            <a:r>
              <a:rPr lang="en-US" sz="1200" dirty="0">
                <a:solidFill>
                  <a:srgbClr val="4A5568"/>
                </a:solidFill>
                <a:latin typeface="Trebuchet MS" pitchFamily="34" charset="0"/>
                <a:ea typeface="Trebuchet MS" pitchFamily="34" charset="-122"/>
                <a:cs typeface="Trebuchet MS" pitchFamily="34" charset="-120"/>
              </a:rPr>
              <a:t>DFS to depth 1.</a:t>
            </a:r>
            <a:endParaRPr lang="en-US" sz="1200" dirty="0"/>
          </a:p>
          <a:p>
            <a:pPr algn="ctr" indent="0" marL="0">
              <a:buNone/>
            </a:pPr>
            <a:r>
              <a:rPr lang="en-US" sz="1200" dirty="0">
                <a:solidFill>
                  <a:srgbClr val="4A5568"/>
                </a:solidFill>
                <a:latin typeface="Trebuchet MS" pitchFamily="34" charset="0"/>
                <a:ea typeface="Trebuchet MS" pitchFamily="34" charset="-122"/>
                <a:cs typeface="Trebuchet MS" pitchFamily="34" charset="-120"/>
              </a:rPr>
              <a:t>Goal not found.</a:t>
            </a:r>
            <a:endParaRPr lang="en-US" sz="1200" dirty="0"/>
          </a:p>
        </p:txBody>
      </p:sp>
      <p:sp>
        <p:nvSpPr>
          <p:cNvPr id="11" name="Shape 9"/>
          <p:cNvSpPr/>
          <p:nvPr/>
        </p:nvSpPr>
        <p:spPr>
          <a:xfrm>
            <a:off x="2487168" y="1417320"/>
            <a:ext cx="2011680" cy="2395728"/>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12" name="Shape 10"/>
          <p:cNvSpPr/>
          <p:nvPr/>
        </p:nvSpPr>
        <p:spPr>
          <a:xfrm>
            <a:off x="3291840" y="1197864"/>
            <a:ext cx="402336" cy="402336"/>
          </a:xfrm>
          <a:prstGeom prst="ellipse">
            <a:avLst/>
          </a:prstGeom>
          <a:solidFill>
            <a:srgbClr val="0D1B2A"/>
          </a:solidFill>
          <a:ln w="12700">
            <a:solidFill>
              <a:srgbClr val="0D1B2A"/>
            </a:solidFill>
            <a:prstDash val="solid"/>
          </a:ln>
        </p:spPr>
      </p:sp>
      <p:sp>
        <p:nvSpPr>
          <p:cNvPr id="13" name="Text 11"/>
          <p:cNvSpPr/>
          <p:nvPr/>
        </p:nvSpPr>
        <p:spPr>
          <a:xfrm>
            <a:off x="3291840" y="11978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2</a:t>
            </a:r>
            <a:endParaRPr lang="en-US" sz="1300" dirty="0"/>
          </a:p>
        </p:txBody>
      </p:sp>
      <p:sp>
        <p:nvSpPr>
          <p:cNvPr id="14" name="Text 12"/>
          <p:cNvSpPr/>
          <p:nvPr/>
        </p:nvSpPr>
        <p:spPr>
          <a:xfrm>
            <a:off x="2596896" y="1673352"/>
            <a:ext cx="1792224" cy="329184"/>
          </a:xfrm>
          <a:prstGeom prst="rect">
            <a:avLst/>
          </a:prstGeom>
          <a:noFill/>
          <a:ln/>
        </p:spPr>
        <p:txBody>
          <a:bodyPr wrap="square" lIns="0" tIns="0" rIns="0" bIns="0" rtlCol="0" anchor="ctr"/>
          <a:lstStyle/>
          <a:p>
            <a:pPr algn="ctr" indent="0" marL="0">
              <a:buNone/>
            </a:pPr>
            <a:r>
              <a:rPr lang="en-US" sz="1200" b="1" dirty="0">
                <a:solidFill>
                  <a:srgbClr val="0D1B2A"/>
                </a:solidFill>
                <a:latin typeface="Trebuchet MS" pitchFamily="34" charset="0"/>
                <a:ea typeface="Trebuchet MS" pitchFamily="34" charset="-122"/>
                <a:cs typeface="Trebuchet MS" pitchFamily="34" charset="-120"/>
              </a:rPr>
              <a:t>Try depth 2</a:t>
            </a:r>
            <a:endParaRPr lang="en-US" sz="1200" dirty="0"/>
          </a:p>
        </p:txBody>
      </p:sp>
      <p:sp>
        <p:nvSpPr>
          <p:cNvPr id="15" name="Text 13"/>
          <p:cNvSpPr/>
          <p:nvPr/>
        </p:nvSpPr>
        <p:spPr>
          <a:xfrm>
            <a:off x="2651760" y="2167128"/>
            <a:ext cx="1682496" cy="1508760"/>
          </a:xfrm>
          <a:prstGeom prst="rect">
            <a:avLst/>
          </a:prstGeom>
          <a:noFill/>
          <a:ln/>
        </p:spPr>
        <p:txBody>
          <a:bodyPr wrap="square" lIns="0" tIns="0" rIns="0" bIns="0" rtlCol="0" anchor="t"/>
          <a:lstStyle/>
          <a:p>
            <a:pPr algn="ctr" indent="0" marL="0">
              <a:buNone/>
            </a:pPr>
            <a:r>
              <a:rPr lang="en-US" sz="1200" dirty="0">
                <a:solidFill>
                  <a:srgbClr val="4A5568"/>
                </a:solidFill>
                <a:latin typeface="Trebuchet MS" pitchFamily="34" charset="0"/>
                <a:ea typeface="Trebuchet MS" pitchFamily="34" charset="-122"/>
                <a:cs typeface="Trebuchet MS" pitchFamily="34" charset="-120"/>
              </a:rPr>
              <a:t>DFS to depth 2.</a:t>
            </a:r>
            <a:endParaRPr lang="en-US" sz="1200" dirty="0"/>
          </a:p>
          <a:p>
            <a:pPr algn="ctr" indent="0" marL="0">
              <a:buNone/>
            </a:pPr>
            <a:r>
              <a:rPr lang="en-US" sz="1200" dirty="0">
                <a:solidFill>
                  <a:srgbClr val="4A5568"/>
                </a:solidFill>
                <a:latin typeface="Trebuchet MS" pitchFamily="34" charset="0"/>
                <a:ea typeface="Trebuchet MS" pitchFamily="34" charset="-122"/>
                <a:cs typeface="Trebuchet MS" pitchFamily="34" charset="-120"/>
              </a:rPr>
              <a:t>Revisits depth 1.</a:t>
            </a:r>
            <a:endParaRPr lang="en-US" sz="1200" dirty="0"/>
          </a:p>
          <a:p>
            <a:pPr algn="ctr" indent="0" marL="0">
              <a:buNone/>
            </a:pPr>
            <a:r>
              <a:rPr lang="en-US" sz="1200" dirty="0">
                <a:solidFill>
                  <a:srgbClr val="4A5568"/>
                </a:solidFill>
                <a:latin typeface="Trebuchet MS" pitchFamily="34" charset="0"/>
                <a:ea typeface="Trebuchet MS" pitchFamily="34" charset="-122"/>
                <a:cs typeface="Trebuchet MS" pitchFamily="34" charset="-120"/>
              </a:rPr>
              <a:t>Goal not found.</a:t>
            </a:r>
            <a:endParaRPr lang="en-US" sz="1200" dirty="0"/>
          </a:p>
        </p:txBody>
      </p:sp>
      <p:sp>
        <p:nvSpPr>
          <p:cNvPr id="16" name="Shape 14"/>
          <p:cNvSpPr/>
          <p:nvPr/>
        </p:nvSpPr>
        <p:spPr>
          <a:xfrm>
            <a:off x="4681728" y="1417320"/>
            <a:ext cx="2011680" cy="2395728"/>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17" name="Shape 15"/>
          <p:cNvSpPr/>
          <p:nvPr/>
        </p:nvSpPr>
        <p:spPr>
          <a:xfrm>
            <a:off x="5486400" y="1197864"/>
            <a:ext cx="402336" cy="402336"/>
          </a:xfrm>
          <a:prstGeom prst="ellipse">
            <a:avLst/>
          </a:prstGeom>
          <a:solidFill>
            <a:srgbClr val="0D1B2A"/>
          </a:solidFill>
          <a:ln w="12700">
            <a:solidFill>
              <a:srgbClr val="0D1B2A"/>
            </a:solidFill>
            <a:prstDash val="solid"/>
          </a:ln>
        </p:spPr>
      </p:sp>
      <p:sp>
        <p:nvSpPr>
          <p:cNvPr id="18" name="Text 16"/>
          <p:cNvSpPr/>
          <p:nvPr/>
        </p:nvSpPr>
        <p:spPr>
          <a:xfrm>
            <a:off x="5486400" y="11978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3</a:t>
            </a:r>
            <a:endParaRPr lang="en-US" sz="1300" dirty="0"/>
          </a:p>
        </p:txBody>
      </p:sp>
      <p:sp>
        <p:nvSpPr>
          <p:cNvPr id="19" name="Text 17"/>
          <p:cNvSpPr/>
          <p:nvPr/>
        </p:nvSpPr>
        <p:spPr>
          <a:xfrm>
            <a:off x="4791456" y="1673352"/>
            <a:ext cx="1792224" cy="329184"/>
          </a:xfrm>
          <a:prstGeom prst="rect">
            <a:avLst/>
          </a:prstGeom>
          <a:noFill/>
          <a:ln/>
        </p:spPr>
        <p:txBody>
          <a:bodyPr wrap="square" lIns="0" tIns="0" rIns="0" bIns="0" rtlCol="0" anchor="ctr"/>
          <a:lstStyle/>
          <a:p>
            <a:pPr algn="ctr" indent="0" marL="0">
              <a:buNone/>
            </a:pPr>
            <a:r>
              <a:rPr lang="en-US" sz="1200" b="1" dirty="0">
                <a:solidFill>
                  <a:srgbClr val="0D1B2A"/>
                </a:solidFill>
                <a:latin typeface="Trebuchet MS" pitchFamily="34" charset="0"/>
                <a:ea typeface="Trebuchet MS" pitchFamily="34" charset="-122"/>
                <a:cs typeface="Trebuchet MS" pitchFamily="34" charset="-120"/>
              </a:rPr>
              <a:t>Try depth 3</a:t>
            </a:r>
            <a:endParaRPr lang="en-US" sz="1200" dirty="0"/>
          </a:p>
        </p:txBody>
      </p:sp>
      <p:sp>
        <p:nvSpPr>
          <p:cNvPr id="20" name="Text 18"/>
          <p:cNvSpPr/>
          <p:nvPr/>
        </p:nvSpPr>
        <p:spPr>
          <a:xfrm>
            <a:off x="4846320" y="2167128"/>
            <a:ext cx="1682496" cy="1508760"/>
          </a:xfrm>
          <a:prstGeom prst="rect">
            <a:avLst/>
          </a:prstGeom>
          <a:noFill/>
          <a:ln/>
        </p:spPr>
        <p:txBody>
          <a:bodyPr wrap="square" lIns="0" tIns="0" rIns="0" bIns="0" rtlCol="0" anchor="t"/>
          <a:lstStyle/>
          <a:p>
            <a:pPr algn="ctr" indent="0" marL="0">
              <a:buNone/>
            </a:pPr>
            <a:r>
              <a:rPr lang="en-US" sz="1200" dirty="0">
                <a:solidFill>
                  <a:srgbClr val="4A5568"/>
                </a:solidFill>
                <a:latin typeface="Trebuchet MS" pitchFamily="34" charset="0"/>
                <a:ea typeface="Trebuchet MS" pitchFamily="34" charset="-122"/>
                <a:cs typeface="Trebuchet MS" pitchFamily="34" charset="-120"/>
              </a:rPr>
              <a:t>DFS to depth 3.</a:t>
            </a:r>
            <a:endParaRPr lang="en-US" sz="1200" dirty="0"/>
          </a:p>
          <a:p>
            <a:pPr algn="ctr" indent="0" marL="0">
              <a:buNone/>
            </a:pPr>
            <a:r>
              <a:rPr lang="en-US" sz="1200" dirty="0">
                <a:solidFill>
                  <a:srgbClr val="4A5568"/>
                </a:solidFill>
                <a:latin typeface="Trebuchet MS" pitchFamily="34" charset="0"/>
                <a:ea typeface="Trebuchet MS" pitchFamily="34" charset="-122"/>
                <a:cs typeface="Trebuchet MS" pitchFamily="34" charset="-120"/>
              </a:rPr>
              <a:t>Goal found.</a:t>
            </a:r>
            <a:endParaRPr lang="en-US" sz="1200" dirty="0"/>
          </a:p>
          <a:p>
            <a:pPr algn="ctr" indent="0" marL="0">
              <a:buNone/>
            </a:pPr>
            <a:r>
              <a:rPr lang="en-US" sz="1200" dirty="0">
                <a:solidFill>
                  <a:srgbClr val="4A5568"/>
                </a:solidFill>
                <a:latin typeface="Trebuchet MS" pitchFamily="34" charset="0"/>
                <a:ea typeface="Trebuchet MS" pitchFamily="34" charset="-122"/>
                <a:cs typeface="Trebuchet MS" pitchFamily="34" charset="-120"/>
              </a:rPr>
              <a:t>Return path.</a:t>
            </a:r>
            <a:endParaRPr lang="en-US" sz="1200" dirty="0"/>
          </a:p>
        </p:txBody>
      </p:sp>
      <p:sp>
        <p:nvSpPr>
          <p:cNvPr id="21" name="Shape 19"/>
          <p:cNvSpPr/>
          <p:nvPr/>
        </p:nvSpPr>
        <p:spPr>
          <a:xfrm>
            <a:off x="6876288" y="1417320"/>
            <a:ext cx="2011680" cy="2395728"/>
          </a:xfrm>
          <a:prstGeom prst="rect">
            <a:avLst/>
          </a:prstGeom>
          <a:solidFill>
            <a:srgbClr val="E8EEF5"/>
          </a:solidFill>
          <a:ln w="12700">
            <a:solidFill>
              <a:srgbClr val="00A896"/>
            </a:solidFill>
            <a:prstDash val="solid"/>
          </a:ln>
          <a:effectLst>
            <a:outerShdw sx="100000" sy="100000" kx="0" ky="0" algn="bl" rotWithShape="0" blurRad="88900" dist="38100" dir="8100000">
              <a:srgbClr val="000000">
                <a:alpha val="11000"/>
              </a:srgbClr>
            </a:outerShdw>
          </a:effectLst>
        </p:spPr>
      </p:sp>
      <p:sp>
        <p:nvSpPr>
          <p:cNvPr id="22" name="Shape 20"/>
          <p:cNvSpPr/>
          <p:nvPr/>
        </p:nvSpPr>
        <p:spPr>
          <a:xfrm>
            <a:off x="7680960" y="1197864"/>
            <a:ext cx="402336" cy="402336"/>
          </a:xfrm>
          <a:prstGeom prst="ellipse">
            <a:avLst/>
          </a:prstGeom>
          <a:solidFill>
            <a:srgbClr val="00A896"/>
          </a:solidFill>
          <a:ln w="12700">
            <a:solidFill>
              <a:srgbClr val="00A896"/>
            </a:solidFill>
            <a:prstDash val="solid"/>
          </a:ln>
        </p:spPr>
      </p:sp>
      <p:sp>
        <p:nvSpPr>
          <p:cNvPr id="23" name="Text 21"/>
          <p:cNvSpPr/>
          <p:nvPr/>
        </p:nvSpPr>
        <p:spPr>
          <a:xfrm>
            <a:off x="7680960" y="11978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4</a:t>
            </a:r>
            <a:endParaRPr lang="en-US" sz="1300" dirty="0"/>
          </a:p>
        </p:txBody>
      </p:sp>
      <p:sp>
        <p:nvSpPr>
          <p:cNvPr id="24" name="Text 22"/>
          <p:cNvSpPr/>
          <p:nvPr/>
        </p:nvSpPr>
        <p:spPr>
          <a:xfrm>
            <a:off x="6986016" y="1673352"/>
            <a:ext cx="1792224" cy="329184"/>
          </a:xfrm>
          <a:prstGeom prst="rect">
            <a:avLst/>
          </a:prstGeom>
          <a:noFill/>
          <a:ln/>
        </p:spPr>
        <p:txBody>
          <a:bodyPr wrap="square" lIns="0" tIns="0" rIns="0" bIns="0" rtlCol="0" anchor="ctr"/>
          <a:lstStyle/>
          <a:p>
            <a:pPr algn="ctr" indent="0" marL="0">
              <a:buNone/>
            </a:pPr>
            <a:r>
              <a:rPr lang="en-US" sz="1200" b="1" dirty="0">
                <a:solidFill>
                  <a:srgbClr val="0D1B2A"/>
                </a:solidFill>
                <a:latin typeface="Trebuchet MS" pitchFamily="34" charset="0"/>
                <a:ea typeface="Trebuchet MS" pitchFamily="34" charset="-122"/>
                <a:cs typeface="Trebuchet MS" pitchFamily="34" charset="-120"/>
              </a:rPr>
              <a:t>Why bother?</a:t>
            </a:r>
            <a:endParaRPr lang="en-US" sz="1200" dirty="0"/>
          </a:p>
        </p:txBody>
      </p:sp>
      <p:sp>
        <p:nvSpPr>
          <p:cNvPr id="25" name="Text 23"/>
          <p:cNvSpPr/>
          <p:nvPr/>
        </p:nvSpPr>
        <p:spPr>
          <a:xfrm>
            <a:off x="7040880" y="2167128"/>
            <a:ext cx="1682496" cy="1508760"/>
          </a:xfrm>
          <a:prstGeom prst="rect">
            <a:avLst/>
          </a:prstGeom>
          <a:noFill/>
          <a:ln/>
        </p:spPr>
        <p:txBody>
          <a:bodyPr wrap="square" lIns="0" tIns="0" rIns="0" bIns="0" rtlCol="0" anchor="t"/>
          <a:lstStyle/>
          <a:p>
            <a:pPr algn="ctr" indent="0" marL="0">
              <a:buNone/>
            </a:pPr>
            <a:r>
              <a:rPr lang="en-US" sz="1200" dirty="0">
                <a:solidFill>
                  <a:srgbClr val="4A5568"/>
                </a:solidFill>
                <a:latin typeface="Trebuchet MS" pitchFamily="34" charset="0"/>
                <a:ea typeface="Trebuchet MS" pitchFamily="34" charset="-122"/>
                <a:cs typeface="Trebuchet MS" pitchFamily="34" charset="-120"/>
              </a:rPr>
              <a:t>Most nodes are at the deepest level, so re-exploration cost is small.</a:t>
            </a:r>
            <a:endParaRPr lang="en-US" sz="1200" dirty="0"/>
          </a:p>
        </p:txBody>
      </p:sp>
      <p:sp>
        <p:nvSpPr>
          <p:cNvPr id="26" name="Shape 24"/>
          <p:cNvSpPr/>
          <p:nvPr/>
        </p:nvSpPr>
        <p:spPr>
          <a:xfrm>
            <a:off x="292608" y="4005072"/>
            <a:ext cx="8558784" cy="36576"/>
          </a:xfrm>
          <a:prstGeom prst="rect">
            <a:avLst/>
          </a:prstGeom>
          <a:solidFill>
            <a:srgbClr val="00A896"/>
          </a:solidFill>
          <a:ln w="12700">
            <a:solidFill>
              <a:srgbClr val="00A896"/>
            </a:solidFill>
            <a:prstDash val="solid"/>
          </a:ln>
        </p:spPr>
      </p:sp>
      <p:sp>
        <p:nvSpPr>
          <p:cNvPr id="27" name="Text 25"/>
          <p:cNvSpPr/>
          <p:nvPr/>
        </p:nvSpPr>
        <p:spPr>
          <a:xfrm>
            <a:off x="292608" y="4096512"/>
            <a:ext cx="2011680" cy="256032"/>
          </a:xfrm>
          <a:prstGeom prst="rect">
            <a:avLst/>
          </a:prstGeom>
          <a:noFill/>
          <a:ln/>
        </p:spPr>
        <p:txBody>
          <a:bodyPr wrap="square" lIns="0" tIns="0" rIns="0" bIns="0" rtlCol="0" anchor="ctr"/>
          <a:lstStyle/>
          <a:p>
            <a:pPr indent="0" marL="0">
              <a:buNone/>
            </a:pPr>
            <a:r>
              <a:rPr lang="en-US" sz="1200" b="1" dirty="0">
                <a:solidFill>
                  <a:srgbClr val="0D1B2A"/>
                </a:solidFill>
                <a:latin typeface="Trebuchet MS" pitchFamily="34" charset="0"/>
                <a:ea typeface="Trebuchet MS" pitchFamily="34" charset="-122"/>
                <a:cs typeface="Trebuchet MS" pitchFamily="34" charset="-120"/>
              </a:rPr>
              <a:t>Optimal</a:t>
            </a:r>
            <a:endParaRPr lang="en-US" sz="1200" dirty="0"/>
          </a:p>
        </p:txBody>
      </p:sp>
      <p:sp>
        <p:nvSpPr>
          <p:cNvPr id="28" name="Text 26"/>
          <p:cNvSpPr/>
          <p:nvPr/>
        </p:nvSpPr>
        <p:spPr>
          <a:xfrm>
            <a:off x="292608" y="4370832"/>
            <a:ext cx="2011680" cy="347472"/>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Always finds shortest path</a:t>
            </a:r>
            <a:endParaRPr lang="en-US" sz="1200" dirty="0"/>
          </a:p>
        </p:txBody>
      </p:sp>
      <p:sp>
        <p:nvSpPr>
          <p:cNvPr id="29" name="Text 27"/>
          <p:cNvSpPr/>
          <p:nvPr/>
        </p:nvSpPr>
        <p:spPr>
          <a:xfrm>
            <a:off x="2487168" y="4096512"/>
            <a:ext cx="2011680" cy="256032"/>
          </a:xfrm>
          <a:prstGeom prst="rect">
            <a:avLst/>
          </a:prstGeom>
          <a:noFill/>
          <a:ln/>
        </p:spPr>
        <p:txBody>
          <a:bodyPr wrap="square" lIns="0" tIns="0" rIns="0" bIns="0" rtlCol="0" anchor="ctr"/>
          <a:lstStyle/>
          <a:p>
            <a:pPr indent="0" marL="0">
              <a:buNone/>
            </a:pPr>
            <a:r>
              <a:rPr lang="en-US" sz="1200" b="1" dirty="0">
                <a:solidFill>
                  <a:srgbClr val="0D1B2A"/>
                </a:solidFill>
                <a:latin typeface="Trebuchet MS" pitchFamily="34" charset="0"/>
                <a:ea typeface="Trebuchet MS" pitchFamily="34" charset="-122"/>
                <a:cs typeface="Trebuchet MS" pitchFamily="34" charset="-120"/>
              </a:rPr>
              <a:t>Memory</a:t>
            </a:r>
            <a:endParaRPr lang="en-US" sz="1200" dirty="0"/>
          </a:p>
        </p:txBody>
      </p:sp>
      <p:sp>
        <p:nvSpPr>
          <p:cNvPr id="30" name="Text 28"/>
          <p:cNvSpPr/>
          <p:nvPr/>
        </p:nvSpPr>
        <p:spPr>
          <a:xfrm>
            <a:off x="2487168" y="4370832"/>
            <a:ext cx="2011680" cy="347472"/>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O(d), only the current path is kept</a:t>
            </a:r>
            <a:endParaRPr lang="en-US" sz="1200" dirty="0"/>
          </a:p>
        </p:txBody>
      </p:sp>
      <p:sp>
        <p:nvSpPr>
          <p:cNvPr id="31" name="Text 29"/>
          <p:cNvSpPr/>
          <p:nvPr/>
        </p:nvSpPr>
        <p:spPr>
          <a:xfrm>
            <a:off x="4681728" y="4096512"/>
            <a:ext cx="2011680" cy="256032"/>
          </a:xfrm>
          <a:prstGeom prst="rect">
            <a:avLst/>
          </a:prstGeom>
          <a:noFill/>
          <a:ln/>
        </p:spPr>
        <p:txBody>
          <a:bodyPr wrap="square" lIns="0" tIns="0" rIns="0" bIns="0" rtlCol="0" anchor="ctr"/>
          <a:lstStyle/>
          <a:p>
            <a:pPr indent="0" marL="0">
              <a:buNone/>
            </a:pPr>
            <a:r>
              <a:rPr lang="en-US" sz="1200" b="1" dirty="0">
                <a:solidFill>
                  <a:srgbClr val="0D1B2A"/>
                </a:solidFill>
                <a:latin typeface="Trebuchet MS" pitchFamily="34" charset="0"/>
                <a:ea typeface="Trebuchet MS" pitchFamily="34" charset="-122"/>
                <a:cs typeface="Trebuchet MS" pitchFamily="34" charset="-120"/>
              </a:rPr>
              <a:t>Time</a:t>
            </a:r>
            <a:endParaRPr lang="en-US" sz="1200" dirty="0"/>
          </a:p>
        </p:txBody>
      </p:sp>
      <p:sp>
        <p:nvSpPr>
          <p:cNvPr id="32" name="Text 30"/>
          <p:cNvSpPr/>
          <p:nvPr/>
        </p:nvSpPr>
        <p:spPr>
          <a:xfrm>
            <a:off x="4681728" y="4370832"/>
            <a:ext cx="2011680" cy="347472"/>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O(b</a:t>
            </a:r>
            <a:pPr indent="0" marL="0">
              <a:buNone/>
            </a:pPr>
            <a:r>
              <a:rPr lang="en-US" sz="1200" baseline="30000" dirty="0">
                <a:solidFill>
                  <a:srgbClr val="4A5568"/>
                </a:solidFill>
                <a:latin typeface="Trebuchet MS" pitchFamily="34" charset="0"/>
                <a:ea typeface="Trebuchet MS" pitchFamily="34" charset="-122"/>
                <a:cs typeface="Trebuchet MS" pitchFamily="34" charset="-120"/>
              </a:rPr>
              <a:t>d</a:t>
            </a:r>
            <a:pPr indent="0" marL="0">
              <a:buNone/>
            </a:pPr>
            <a:r>
              <a:rPr lang="en-US" sz="1200" dirty="0">
                <a:solidFill>
                  <a:srgbClr val="4A5568"/>
                </a:solidFill>
                <a:latin typeface="Trebuchet MS" pitchFamily="34" charset="0"/>
                <a:ea typeface="Trebuchet MS" pitchFamily="34" charset="-122"/>
                <a:cs typeface="Trebuchet MS" pitchFamily="34" charset="-120"/>
              </a:rPr>
              <a:t>), depth limit essential</a:t>
            </a:r>
            <a:endParaRPr lang="en-US" sz="1200" dirty="0"/>
          </a:p>
        </p:txBody>
      </p:sp>
      <p:sp>
        <p:nvSpPr>
          <p:cNvPr id="33" name="Text 31"/>
          <p:cNvSpPr/>
          <p:nvPr/>
        </p:nvSpPr>
        <p:spPr>
          <a:xfrm>
            <a:off x="6876288" y="4096512"/>
            <a:ext cx="2011680" cy="256032"/>
          </a:xfrm>
          <a:prstGeom prst="rect">
            <a:avLst/>
          </a:prstGeom>
          <a:noFill/>
          <a:ln/>
        </p:spPr>
        <p:txBody>
          <a:bodyPr wrap="square" lIns="0" tIns="0" rIns="0" bIns="0" rtlCol="0" anchor="ctr"/>
          <a:lstStyle/>
          <a:p>
            <a:pPr indent="0" marL="0">
              <a:buNone/>
            </a:pPr>
            <a:r>
              <a:rPr lang="en-US" sz="1200" b="1" dirty="0">
                <a:solidFill>
                  <a:srgbClr val="0D1B2A"/>
                </a:solidFill>
                <a:latin typeface="Trebuchet MS" pitchFamily="34" charset="0"/>
                <a:ea typeface="Trebuchet MS" pitchFamily="34" charset="-122"/>
                <a:cs typeface="Trebuchet MS" pitchFamily="34" charset="-120"/>
              </a:rPr>
              <a:t>Heuristic</a:t>
            </a:r>
            <a:endParaRPr lang="en-US" sz="1200" dirty="0"/>
          </a:p>
        </p:txBody>
      </p:sp>
      <p:sp>
        <p:nvSpPr>
          <p:cNvPr id="34" name="Text 32"/>
          <p:cNvSpPr/>
          <p:nvPr/>
        </p:nvSpPr>
        <p:spPr>
          <a:xfrm>
            <a:off x="6876288" y="4370832"/>
            <a:ext cx="2011680" cy="347472"/>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None, pure structure-driven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3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658368"/>
            <a:ext cx="9144000" cy="64008"/>
          </a:xfrm>
          <a:prstGeom prst="rect">
            <a:avLst/>
          </a:prstGeom>
          <a:solidFill>
            <a:srgbClr val="00A896"/>
          </a:solidFill>
          <a:ln w="12700">
            <a:solidFill>
              <a:srgbClr val="00A896"/>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A* Heuristic Design</a:t>
            </a:r>
            <a:endParaRPr lang="en-US" sz="2200" dirty="0"/>
          </a:p>
        </p:txBody>
      </p:sp>
      <p:sp>
        <p:nvSpPr>
          <p:cNvPr id="5" name="Shape 3"/>
          <p:cNvSpPr/>
          <p:nvPr/>
        </p:nvSpPr>
        <p:spPr>
          <a:xfrm>
            <a:off x="256032" y="886968"/>
            <a:ext cx="1965960" cy="1417320"/>
          </a:xfrm>
          <a:prstGeom prst="rect">
            <a:avLst/>
          </a:prstGeom>
          <a:solidFill>
            <a:srgbClr val="0D1B2A"/>
          </a:solidFill>
          <a:ln w="12700">
            <a:solidFill>
              <a:srgbClr val="0D1B2A"/>
            </a:solidFill>
            <a:prstDash val="solid"/>
          </a:ln>
          <a:effectLst>
            <a:outerShdw sx="100000" sy="100000" kx="0" ky="0" algn="bl" rotWithShape="0" blurRad="88900" dist="38100" dir="8100000">
              <a:srgbClr val="000000">
                <a:alpha val="11000"/>
              </a:srgbClr>
            </a:outerShdw>
          </a:effectLst>
        </p:spPr>
      </p:sp>
      <p:sp>
        <p:nvSpPr>
          <p:cNvPr id="6" name="Text 4"/>
          <p:cNvSpPr/>
          <p:nvPr/>
        </p:nvSpPr>
        <p:spPr>
          <a:xfrm>
            <a:off x="256032" y="914400"/>
            <a:ext cx="1965960"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Wikipedia2Vec</a:t>
            </a:r>
            <a:endParaRPr lang="en-US" sz="1500" dirty="0"/>
          </a:p>
          <a:p>
            <a:pPr algn="ctr" indent="0" marL="0">
              <a:buNone/>
            </a:pPr>
            <a:r>
              <a:rPr lang="en-US" sz="1500" b="1" dirty="0">
                <a:solidFill>
                  <a:srgbClr val="FFFFFF"/>
                </a:solidFill>
                <a:latin typeface="Trebuchet MS" pitchFamily="34" charset="0"/>
                <a:ea typeface="Trebuchet MS" pitchFamily="34" charset="-122"/>
                <a:cs typeface="Trebuchet MS" pitchFamily="34" charset="-120"/>
              </a:rPr>
              <a:t>Embeddings</a:t>
            </a:r>
            <a:endParaRPr lang="en-US" sz="1500" dirty="0"/>
          </a:p>
        </p:txBody>
      </p:sp>
      <p:sp>
        <p:nvSpPr>
          <p:cNvPr id="7" name="Text 5"/>
          <p:cNvSpPr/>
          <p:nvPr/>
        </p:nvSpPr>
        <p:spPr>
          <a:xfrm>
            <a:off x="256032" y="1463040"/>
            <a:ext cx="1965960" cy="713232"/>
          </a:xfrm>
          <a:prstGeom prst="rect">
            <a:avLst/>
          </a:prstGeom>
          <a:noFill/>
          <a:ln/>
        </p:spPr>
        <p:txBody>
          <a:bodyPr wrap="square" lIns="50800" tIns="50800" rIns="50800" bIns="50800" rtlCol="0" anchor="t"/>
          <a:lstStyle/>
          <a:p>
            <a:pPr algn="ctr" indent="0" marL="0">
              <a:buNone/>
            </a:pPr>
            <a:r>
              <a:rPr lang="en-US" sz="1100" dirty="0">
                <a:solidFill>
                  <a:srgbClr val="FFFFFF"/>
                </a:solidFill>
                <a:latin typeface="Trebuchet MS" pitchFamily="34" charset="0"/>
                <a:ea typeface="Trebuchet MS" pitchFamily="34" charset="-122"/>
                <a:cs typeface="Trebuchet MS" pitchFamily="34" charset="-120"/>
              </a:rPr>
              <a:t>Pretrained vectors from Wikipedia text and links</a:t>
            </a:r>
            <a:endParaRPr lang="en-US" sz="1100" dirty="0"/>
          </a:p>
        </p:txBody>
      </p:sp>
      <p:sp>
        <p:nvSpPr>
          <p:cNvPr id="8" name="Shape 6"/>
          <p:cNvSpPr/>
          <p:nvPr/>
        </p:nvSpPr>
        <p:spPr>
          <a:xfrm>
            <a:off x="2221992" y="1572768"/>
            <a:ext cx="182880" cy="73152"/>
          </a:xfrm>
          <a:prstGeom prst="rect">
            <a:avLst/>
          </a:prstGeom>
          <a:solidFill>
            <a:srgbClr val="4A5568"/>
          </a:solidFill>
          <a:ln w="12700">
            <a:solidFill>
              <a:srgbClr val="4A5568"/>
            </a:solidFill>
            <a:prstDash val="solid"/>
          </a:ln>
        </p:spPr>
      </p:sp>
      <p:sp>
        <p:nvSpPr>
          <p:cNvPr id="9" name="Shape 7"/>
          <p:cNvSpPr/>
          <p:nvPr/>
        </p:nvSpPr>
        <p:spPr>
          <a:xfrm>
            <a:off x="2432304" y="886968"/>
            <a:ext cx="1965960" cy="1417320"/>
          </a:xfrm>
          <a:prstGeom prst="rect">
            <a:avLst/>
          </a:prstGeom>
          <a:solidFill>
            <a:srgbClr val="028090"/>
          </a:solidFill>
          <a:ln w="12700">
            <a:solidFill>
              <a:srgbClr val="028090"/>
            </a:solidFill>
            <a:prstDash val="solid"/>
          </a:ln>
          <a:effectLst>
            <a:outerShdw sx="100000" sy="100000" kx="0" ky="0" algn="bl" rotWithShape="0" blurRad="88900" dist="38100" dir="8100000">
              <a:srgbClr val="000000">
                <a:alpha val="11000"/>
              </a:srgbClr>
            </a:outerShdw>
          </a:effectLst>
        </p:spPr>
      </p:sp>
      <p:sp>
        <p:nvSpPr>
          <p:cNvPr id="10" name="Text 8"/>
          <p:cNvSpPr/>
          <p:nvPr/>
        </p:nvSpPr>
        <p:spPr>
          <a:xfrm>
            <a:off x="2432304" y="914400"/>
            <a:ext cx="1965960"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Cosine</a:t>
            </a:r>
            <a:endParaRPr lang="en-US" sz="1500" dirty="0"/>
          </a:p>
          <a:p>
            <a:pPr algn="ctr" indent="0" marL="0">
              <a:buNone/>
            </a:pPr>
            <a:r>
              <a:rPr lang="en-US" sz="1500" b="1" dirty="0">
                <a:solidFill>
                  <a:srgbClr val="FFFFFF"/>
                </a:solidFill>
                <a:latin typeface="Trebuchet MS" pitchFamily="34" charset="0"/>
                <a:ea typeface="Trebuchet MS" pitchFamily="34" charset="-122"/>
                <a:cs typeface="Trebuchet MS" pitchFamily="34" charset="-120"/>
              </a:rPr>
              <a:t>Similarity</a:t>
            </a:r>
            <a:endParaRPr lang="en-US" sz="1500" dirty="0"/>
          </a:p>
        </p:txBody>
      </p:sp>
      <p:sp>
        <p:nvSpPr>
          <p:cNvPr id="11" name="Text 9"/>
          <p:cNvSpPr/>
          <p:nvPr/>
        </p:nvSpPr>
        <p:spPr>
          <a:xfrm>
            <a:off x="2432304" y="1463040"/>
            <a:ext cx="1965960" cy="713232"/>
          </a:xfrm>
          <a:prstGeom prst="rect">
            <a:avLst/>
          </a:prstGeom>
          <a:noFill/>
          <a:ln/>
        </p:spPr>
        <p:txBody>
          <a:bodyPr wrap="square" lIns="50800" tIns="50800" rIns="50800" bIns="50800" rtlCol="0" anchor="t"/>
          <a:lstStyle/>
          <a:p>
            <a:pPr algn="ctr" indent="0" marL="0">
              <a:buNone/>
            </a:pPr>
            <a:r>
              <a:rPr lang="en-US" sz="1100" dirty="0">
                <a:solidFill>
                  <a:srgbClr val="FFFFFF"/>
                </a:solidFill>
                <a:latin typeface="Trebuchet MS" pitchFamily="34" charset="0"/>
                <a:ea typeface="Trebuchet MS" pitchFamily="34" charset="-122"/>
                <a:cs typeface="Trebuchet MS" pitchFamily="34" charset="-120"/>
              </a:rPr>
              <a:t>Compare page vector to goal vector</a:t>
            </a:r>
            <a:endParaRPr lang="en-US" sz="1100" dirty="0"/>
          </a:p>
        </p:txBody>
      </p:sp>
      <p:sp>
        <p:nvSpPr>
          <p:cNvPr id="12" name="Shape 10"/>
          <p:cNvSpPr/>
          <p:nvPr/>
        </p:nvSpPr>
        <p:spPr>
          <a:xfrm>
            <a:off x="4398264" y="1572768"/>
            <a:ext cx="182880" cy="73152"/>
          </a:xfrm>
          <a:prstGeom prst="rect">
            <a:avLst/>
          </a:prstGeom>
          <a:solidFill>
            <a:srgbClr val="4A5568"/>
          </a:solidFill>
          <a:ln w="12700">
            <a:solidFill>
              <a:srgbClr val="4A5568"/>
            </a:solidFill>
            <a:prstDash val="solid"/>
          </a:ln>
        </p:spPr>
      </p:sp>
      <p:sp>
        <p:nvSpPr>
          <p:cNvPr id="13" name="Shape 11"/>
          <p:cNvSpPr/>
          <p:nvPr/>
        </p:nvSpPr>
        <p:spPr>
          <a:xfrm>
            <a:off x="4608576" y="886968"/>
            <a:ext cx="1965960" cy="1417320"/>
          </a:xfrm>
          <a:prstGeom prst="rect">
            <a:avLst/>
          </a:prstGeom>
          <a:solidFill>
            <a:srgbClr val="00A896"/>
          </a:solidFill>
          <a:ln w="12700">
            <a:solidFill>
              <a:srgbClr val="00A896"/>
            </a:solidFill>
            <a:prstDash val="solid"/>
          </a:ln>
          <a:effectLst>
            <a:outerShdw sx="100000" sy="100000" kx="0" ky="0" algn="bl" rotWithShape="0" blurRad="88900" dist="38100" dir="8100000">
              <a:srgbClr val="000000">
                <a:alpha val="11000"/>
              </a:srgbClr>
            </a:outerShdw>
          </a:effectLst>
        </p:spPr>
      </p:sp>
      <p:sp>
        <p:nvSpPr>
          <p:cNvPr id="14" name="Text 12"/>
          <p:cNvSpPr/>
          <p:nvPr/>
        </p:nvSpPr>
        <p:spPr>
          <a:xfrm>
            <a:off x="4608576" y="914400"/>
            <a:ext cx="1965960"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Incoming</a:t>
            </a:r>
            <a:endParaRPr lang="en-US" sz="1500" dirty="0"/>
          </a:p>
          <a:p>
            <a:pPr algn="ctr" indent="0" marL="0">
              <a:buNone/>
            </a:pPr>
            <a:r>
              <a:rPr lang="en-US" sz="1500" b="1" dirty="0">
                <a:solidFill>
                  <a:srgbClr val="FFFFFF"/>
                </a:solidFill>
                <a:latin typeface="Trebuchet MS" pitchFamily="34" charset="0"/>
                <a:ea typeface="Trebuchet MS" pitchFamily="34" charset="-122"/>
                <a:cs typeface="Trebuchet MS" pitchFamily="34" charset="-120"/>
              </a:rPr>
              <a:t>Degree</a:t>
            </a:r>
            <a:endParaRPr lang="en-US" sz="1500" dirty="0"/>
          </a:p>
        </p:txBody>
      </p:sp>
      <p:sp>
        <p:nvSpPr>
          <p:cNvPr id="15" name="Text 13"/>
          <p:cNvSpPr/>
          <p:nvPr/>
        </p:nvSpPr>
        <p:spPr>
          <a:xfrm>
            <a:off x="4608576" y="1463040"/>
            <a:ext cx="1965960" cy="713232"/>
          </a:xfrm>
          <a:prstGeom prst="rect">
            <a:avLst/>
          </a:prstGeom>
          <a:noFill/>
          <a:ln/>
        </p:spPr>
        <p:txBody>
          <a:bodyPr wrap="square" lIns="50800" tIns="50800" rIns="50800" bIns="50800" rtlCol="0" anchor="t"/>
          <a:lstStyle/>
          <a:p>
            <a:pPr algn="ctr" indent="0" marL="0">
              <a:buNone/>
            </a:pPr>
            <a:r>
              <a:rPr lang="en-US" sz="1100" dirty="0">
                <a:solidFill>
                  <a:srgbClr val="FFFFFF"/>
                </a:solidFill>
                <a:latin typeface="Trebuchet MS" pitchFamily="34" charset="0"/>
                <a:ea typeface="Trebuchet MS" pitchFamily="34" charset="-122"/>
                <a:cs typeface="Trebuchet MS" pitchFamily="34" charset="-120"/>
              </a:rPr>
              <a:t>Hub pages with many incoming links score lower</a:t>
            </a:r>
            <a:endParaRPr lang="en-US" sz="1100" dirty="0"/>
          </a:p>
        </p:txBody>
      </p:sp>
      <p:sp>
        <p:nvSpPr>
          <p:cNvPr id="16" name="Shape 14"/>
          <p:cNvSpPr/>
          <p:nvPr/>
        </p:nvSpPr>
        <p:spPr>
          <a:xfrm>
            <a:off x="6574536" y="1572768"/>
            <a:ext cx="182880" cy="73152"/>
          </a:xfrm>
          <a:prstGeom prst="rect">
            <a:avLst/>
          </a:prstGeom>
          <a:solidFill>
            <a:srgbClr val="4A5568"/>
          </a:solidFill>
          <a:ln w="12700">
            <a:solidFill>
              <a:srgbClr val="4A5568"/>
            </a:solidFill>
            <a:prstDash val="solid"/>
          </a:ln>
        </p:spPr>
      </p:sp>
      <p:sp>
        <p:nvSpPr>
          <p:cNvPr id="17" name="Shape 15"/>
          <p:cNvSpPr/>
          <p:nvPr/>
        </p:nvSpPr>
        <p:spPr>
          <a:xfrm>
            <a:off x="6784848" y="886968"/>
            <a:ext cx="1965960" cy="1417320"/>
          </a:xfrm>
          <a:prstGeom prst="rect">
            <a:avLst/>
          </a:prstGeom>
          <a:solidFill>
            <a:srgbClr val="02C39A"/>
          </a:solidFill>
          <a:ln w="12700">
            <a:solidFill>
              <a:srgbClr val="02C39A"/>
            </a:solidFill>
            <a:prstDash val="solid"/>
          </a:ln>
          <a:effectLst>
            <a:outerShdw sx="100000" sy="100000" kx="0" ky="0" algn="bl" rotWithShape="0" blurRad="88900" dist="38100" dir="8100000">
              <a:srgbClr val="000000">
                <a:alpha val="11000"/>
              </a:srgbClr>
            </a:outerShdw>
          </a:effectLst>
        </p:spPr>
      </p:sp>
      <p:sp>
        <p:nvSpPr>
          <p:cNvPr id="18" name="Text 16"/>
          <p:cNvSpPr/>
          <p:nvPr/>
        </p:nvSpPr>
        <p:spPr>
          <a:xfrm>
            <a:off x="6784848" y="914400"/>
            <a:ext cx="1965960"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h(n) Score</a:t>
            </a:r>
            <a:endParaRPr lang="en-US" sz="1500" dirty="0"/>
          </a:p>
        </p:txBody>
      </p:sp>
      <p:sp>
        <p:nvSpPr>
          <p:cNvPr id="19" name="Text 17"/>
          <p:cNvSpPr/>
          <p:nvPr/>
        </p:nvSpPr>
        <p:spPr>
          <a:xfrm>
            <a:off x="6784848" y="1463040"/>
            <a:ext cx="1965960" cy="713232"/>
          </a:xfrm>
          <a:prstGeom prst="rect">
            <a:avLst/>
          </a:prstGeom>
          <a:noFill/>
          <a:ln/>
        </p:spPr>
        <p:txBody>
          <a:bodyPr wrap="square" lIns="50800" tIns="50800" rIns="50800" bIns="50800" rtlCol="0" anchor="t"/>
          <a:lstStyle/>
          <a:p>
            <a:pPr algn="ctr" indent="0" marL="0">
              <a:buNone/>
            </a:pPr>
            <a:r>
              <a:rPr lang="en-US" sz="1100" dirty="0">
                <a:solidFill>
                  <a:srgbClr val="FFFFFF"/>
                </a:solidFill>
                <a:latin typeface="Trebuchet MS" pitchFamily="34" charset="0"/>
                <a:ea typeface="Trebuchet MS" pitchFamily="34" charset="-122"/>
                <a:cs typeface="Trebuchet MS" pitchFamily="34" charset="-120"/>
              </a:rPr>
              <a:t>0.7 x semantic + 0.3 x degree.</a:t>
            </a:r>
            <a:endParaRPr lang="en-US" sz="1100" dirty="0"/>
          </a:p>
          <a:p>
            <a:pPr algn="ctr" indent="0" marL="0">
              <a:buNone/>
            </a:pPr>
            <a:r>
              <a:rPr lang="en-US" sz="1100" dirty="0">
                <a:solidFill>
                  <a:srgbClr val="FFFFFF"/>
                </a:solidFill>
                <a:latin typeface="Trebuchet MS" pitchFamily="34" charset="0"/>
                <a:ea typeface="Trebuchet MS" pitchFamily="34" charset="-122"/>
                <a:cs typeface="Trebuchet MS" pitchFamily="34" charset="-120"/>
              </a:rPr>
              <a:t>Lower = explored first</a:t>
            </a:r>
            <a:endParaRPr lang="en-US" sz="1100" dirty="0"/>
          </a:p>
        </p:txBody>
      </p:sp>
      <p:sp>
        <p:nvSpPr>
          <p:cNvPr id="20" name="Text 18"/>
          <p:cNvSpPr/>
          <p:nvPr/>
        </p:nvSpPr>
        <p:spPr>
          <a:xfrm>
            <a:off x="292608" y="2496312"/>
            <a:ext cx="8595360" cy="329184"/>
          </a:xfrm>
          <a:prstGeom prst="rect">
            <a:avLst/>
          </a:prstGeom>
          <a:noFill/>
          <a:ln/>
        </p:spPr>
        <p:txBody>
          <a:bodyPr wrap="square" lIns="0" tIns="0" rIns="0" bIns="0" rtlCol="0" anchor="ctr"/>
          <a:lstStyle/>
          <a:p>
            <a:pPr indent="0" marL="0">
              <a:buNone/>
            </a:pPr>
            <a:r>
              <a:rPr lang="en-US" sz="1400" b="1" dirty="0">
                <a:solidFill>
                  <a:srgbClr val="0D1B2A"/>
                </a:solidFill>
                <a:latin typeface="Trebuchet MS" pitchFamily="34" charset="0"/>
                <a:ea typeface="Trebuchet MS" pitchFamily="34" charset="-122"/>
                <a:cs typeface="Trebuchet MS" pitchFamily="34" charset="-120"/>
              </a:rPr>
              <a:t>Three Heuristic Iterations</a:t>
            </a:r>
            <a:endParaRPr lang="en-US" sz="1400" dirty="0"/>
          </a:p>
        </p:txBody>
      </p:sp>
      <p:sp>
        <p:nvSpPr>
          <p:cNvPr id="21" name="Shape 19"/>
          <p:cNvSpPr/>
          <p:nvPr/>
        </p:nvSpPr>
        <p:spPr>
          <a:xfrm>
            <a:off x="292608" y="2852928"/>
            <a:ext cx="8595360" cy="45720"/>
          </a:xfrm>
          <a:prstGeom prst="rect">
            <a:avLst/>
          </a:prstGeom>
          <a:solidFill>
            <a:srgbClr val="00A896"/>
          </a:solidFill>
          <a:ln w="12700">
            <a:solidFill>
              <a:srgbClr val="00A896"/>
            </a:solidFill>
            <a:prstDash val="solid"/>
          </a:ln>
        </p:spPr>
      </p:sp>
      <p:sp>
        <p:nvSpPr>
          <p:cNvPr id="22" name="Shape 20"/>
          <p:cNvSpPr/>
          <p:nvPr/>
        </p:nvSpPr>
        <p:spPr>
          <a:xfrm>
            <a:off x="292608" y="3017520"/>
            <a:ext cx="2761488" cy="1783080"/>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23" name="Shape 21"/>
          <p:cNvSpPr/>
          <p:nvPr/>
        </p:nvSpPr>
        <p:spPr>
          <a:xfrm>
            <a:off x="429768" y="3145536"/>
            <a:ext cx="402336" cy="402336"/>
          </a:xfrm>
          <a:prstGeom prst="ellipse">
            <a:avLst/>
          </a:prstGeom>
          <a:solidFill>
            <a:srgbClr val="00A896"/>
          </a:solidFill>
          <a:ln w="12700">
            <a:solidFill>
              <a:srgbClr val="00A896"/>
            </a:solidFill>
            <a:prstDash val="solid"/>
          </a:ln>
        </p:spPr>
      </p:sp>
      <p:sp>
        <p:nvSpPr>
          <p:cNvPr id="24" name="Text 22"/>
          <p:cNvSpPr/>
          <p:nvPr/>
        </p:nvSpPr>
        <p:spPr>
          <a:xfrm>
            <a:off x="429768"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25" name="Text 23"/>
          <p:cNvSpPr/>
          <p:nvPr/>
        </p:nvSpPr>
        <p:spPr>
          <a:xfrm>
            <a:off x="932688" y="3172968"/>
            <a:ext cx="2011680" cy="292608"/>
          </a:xfrm>
          <a:prstGeom prst="rect">
            <a:avLst/>
          </a:prstGeom>
          <a:noFill/>
          <a:ln/>
        </p:spPr>
        <p:txBody>
          <a:bodyPr wrap="square" lIns="0" tIns="0" rIns="0" bIns="0" rtlCol="0" anchor="ctr"/>
          <a:lstStyle/>
          <a:p>
            <a:pPr indent="0" marL="0">
              <a:buNone/>
            </a:pPr>
            <a:r>
              <a:rPr lang="en-US" sz="1200" b="1" dirty="0">
                <a:solidFill>
                  <a:srgbClr val="0D1B2A"/>
                </a:solidFill>
                <a:latin typeface="Trebuchet MS" pitchFamily="34" charset="0"/>
                <a:ea typeface="Trebuchet MS" pitchFamily="34" charset="-122"/>
                <a:cs typeface="Trebuchet MS" pitchFamily="34" charset="-120"/>
              </a:rPr>
              <a:t>Semantic only</a:t>
            </a:r>
            <a:endParaRPr lang="en-US" sz="1200" dirty="0"/>
          </a:p>
        </p:txBody>
      </p:sp>
      <p:sp>
        <p:nvSpPr>
          <p:cNvPr id="26" name="Text 24"/>
          <p:cNvSpPr/>
          <p:nvPr/>
        </p:nvSpPr>
        <p:spPr>
          <a:xfrm>
            <a:off x="457200" y="3584448"/>
            <a:ext cx="2468880" cy="1005840"/>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Pure Wiki2Vec cosine similarity</a:t>
            </a:r>
            <a:endParaRPr lang="en-US" sz="1200" dirty="0"/>
          </a:p>
        </p:txBody>
      </p:sp>
      <p:sp>
        <p:nvSpPr>
          <p:cNvPr id="27" name="Shape 25"/>
          <p:cNvSpPr/>
          <p:nvPr/>
        </p:nvSpPr>
        <p:spPr>
          <a:xfrm>
            <a:off x="3236976" y="3017520"/>
            <a:ext cx="2761488" cy="1783080"/>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28" name="Shape 26"/>
          <p:cNvSpPr/>
          <p:nvPr/>
        </p:nvSpPr>
        <p:spPr>
          <a:xfrm>
            <a:off x="3374136" y="3145536"/>
            <a:ext cx="402336" cy="402336"/>
          </a:xfrm>
          <a:prstGeom prst="ellipse">
            <a:avLst/>
          </a:prstGeom>
          <a:solidFill>
            <a:srgbClr val="00A896"/>
          </a:solidFill>
          <a:ln w="12700">
            <a:solidFill>
              <a:srgbClr val="00A896"/>
            </a:solidFill>
            <a:prstDash val="solid"/>
          </a:ln>
        </p:spPr>
      </p:sp>
      <p:sp>
        <p:nvSpPr>
          <p:cNvPr id="29" name="Text 27"/>
          <p:cNvSpPr/>
          <p:nvPr/>
        </p:nvSpPr>
        <p:spPr>
          <a:xfrm>
            <a:off x="3374136"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30" name="Text 28"/>
          <p:cNvSpPr/>
          <p:nvPr/>
        </p:nvSpPr>
        <p:spPr>
          <a:xfrm>
            <a:off x="3877056" y="3172968"/>
            <a:ext cx="2011680" cy="292608"/>
          </a:xfrm>
          <a:prstGeom prst="rect">
            <a:avLst/>
          </a:prstGeom>
          <a:noFill/>
          <a:ln/>
        </p:spPr>
        <p:txBody>
          <a:bodyPr wrap="square" lIns="0" tIns="0" rIns="0" bIns="0" rtlCol="0" anchor="ctr"/>
          <a:lstStyle/>
          <a:p>
            <a:pPr indent="0" marL="0">
              <a:buNone/>
            </a:pPr>
            <a:r>
              <a:rPr lang="en-US" sz="1200" b="1" dirty="0">
                <a:solidFill>
                  <a:srgbClr val="0D1B2A"/>
                </a:solidFill>
                <a:latin typeface="Trebuchet MS" pitchFamily="34" charset="0"/>
                <a:ea typeface="Trebuchet MS" pitchFamily="34" charset="-122"/>
                <a:cs typeface="Trebuchet MS" pitchFamily="34" charset="-120"/>
              </a:rPr>
              <a:t>Semantic + outgoing degree</a:t>
            </a:r>
            <a:endParaRPr lang="en-US" sz="1200" dirty="0"/>
          </a:p>
        </p:txBody>
      </p:sp>
      <p:sp>
        <p:nvSpPr>
          <p:cNvPr id="31" name="Text 29"/>
          <p:cNvSpPr/>
          <p:nvPr/>
        </p:nvSpPr>
        <p:spPr>
          <a:xfrm>
            <a:off x="3401568" y="3584448"/>
            <a:ext cx="2468880" cy="1005840"/>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Added outgoing link count as structural signal</a:t>
            </a:r>
            <a:endParaRPr lang="en-US" sz="1200" dirty="0"/>
          </a:p>
        </p:txBody>
      </p:sp>
      <p:sp>
        <p:nvSpPr>
          <p:cNvPr id="32" name="Shape 30"/>
          <p:cNvSpPr/>
          <p:nvPr/>
        </p:nvSpPr>
        <p:spPr>
          <a:xfrm>
            <a:off x="6181344" y="3017520"/>
            <a:ext cx="2761488" cy="1783080"/>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33" name="Shape 31"/>
          <p:cNvSpPr/>
          <p:nvPr/>
        </p:nvSpPr>
        <p:spPr>
          <a:xfrm>
            <a:off x="6318504" y="3145536"/>
            <a:ext cx="402336" cy="402336"/>
          </a:xfrm>
          <a:prstGeom prst="ellipse">
            <a:avLst/>
          </a:prstGeom>
          <a:solidFill>
            <a:srgbClr val="00A896"/>
          </a:solidFill>
          <a:ln w="12700">
            <a:solidFill>
              <a:srgbClr val="00A896"/>
            </a:solidFill>
            <a:prstDash val="solid"/>
          </a:ln>
        </p:spPr>
      </p:sp>
      <p:sp>
        <p:nvSpPr>
          <p:cNvPr id="34" name="Text 32"/>
          <p:cNvSpPr/>
          <p:nvPr/>
        </p:nvSpPr>
        <p:spPr>
          <a:xfrm>
            <a:off x="6318504"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35" name="Text 33"/>
          <p:cNvSpPr/>
          <p:nvPr/>
        </p:nvSpPr>
        <p:spPr>
          <a:xfrm>
            <a:off x="6821424" y="3172968"/>
            <a:ext cx="2011680" cy="292608"/>
          </a:xfrm>
          <a:prstGeom prst="rect">
            <a:avLst/>
          </a:prstGeom>
          <a:noFill/>
          <a:ln/>
        </p:spPr>
        <p:txBody>
          <a:bodyPr wrap="square" lIns="0" tIns="0" rIns="0" bIns="0" rtlCol="0" anchor="ctr"/>
          <a:lstStyle/>
          <a:p>
            <a:pPr indent="0" marL="0">
              <a:buNone/>
            </a:pPr>
            <a:r>
              <a:rPr lang="en-US" sz="1200" b="1" dirty="0">
                <a:solidFill>
                  <a:srgbClr val="0D1B2A"/>
                </a:solidFill>
                <a:latin typeface="Trebuchet MS" pitchFamily="34" charset="0"/>
                <a:ea typeface="Trebuchet MS" pitchFamily="34" charset="-122"/>
                <a:cs typeface="Trebuchet MS" pitchFamily="34" charset="-120"/>
              </a:rPr>
              <a:t>Semantic + incoming degree</a:t>
            </a:r>
            <a:endParaRPr lang="en-US" sz="1200" dirty="0"/>
          </a:p>
        </p:txBody>
      </p:sp>
      <p:sp>
        <p:nvSpPr>
          <p:cNvPr id="36" name="Text 34"/>
          <p:cNvSpPr/>
          <p:nvPr/>
        </p:nvSpPr>
        <p:spPr>
          <a:xfrm>
            <a:off x="6345936" y="3584448"/>
            <a:ext cx="2468880" cy="1005840"/>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Final: incoming degree better reflects hub pages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3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658368"/>
            <a:ext cx="9144000" cy="64008"/>
          </a:xfrm>
          <a:prstGeom prst="rect">
            <a:avLst/>
          </a:prstGeom>
          <a:solidFill>
            <a:srgbClr val="00A896"/>
          </a:solidFill>
          <a:ln w="12700">
            <a:solidFill>
              <a:srgbClr val="00A896"/>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Results</a:t>
            </a:r>
            <a:endParaRPr lang="en-US" sz="2200" dirty="0"/>
          </a:p>
        </p:txBody>
      </p:sp>
      <p:sp>
        <p:nvSpPr>
          <p:cNvPr id="5" name="Shape 3"/>
          <p:cNvSpPr/>
          <p:nvPr/>
        </p:nvSpPr>
        <p:spPr>
          <a:xfrm>
            <a:off x="256032" y="804672"/>
            <a:ext cx="2761488" cy="1261872"/>
          </a:xfrm>
          <a:prstGeom prst="rect">
            <a:avLst/>
          </a:prstGeom>
          <a:solidFill>
            <a:srgbClr val="0D1B2A"/>
          </a:solidFill>
          <a:ln w="12700">
            <a:solidFill>
              <a:srgbClr val="0D1B2A"/>
            </a:solidFill>
            <a:prstDash val="solid"/>
          </a:ln>
          <a:effectLst>
            <a:outerShdw sx="100000" sy="100000" kx="0" ky="0" algn="bl" rotWithShape="0" blurRad="88900" dist="38100" dir="8100000">
              <a:srgbClr val="000000">
                <a:alpha val="11000"/>
              </a:srgbClr>
            </a:outerShdw>
          </a:effectLst>
        </p:spPr>
      </p:sp>
      <p:sp>
        <p:nvSpPr>
          <p:cNvPr id="6" name="Text 4"/>
          <p:cNvSpPr/>
          <p:nvPr/>
        </p:nvSpPr>
        <p:spPr>
          <a:xfrm>
            <a:off x="256032" y="822960"/>
            <a:ext cx="2761488" cy="694944"/>
          </a:xfrm>
          <a:prstGeom prst="rect">
            <a:avLst/>
          </a:prstGeom>
          <a:noFill/>
          <a:ln/>
        </p:spPr>
        <p:txBody>
          <a:bodyPr wrap="square" lIns="0" tIns="0" rIns="0" bIns="0" rtlCol="0" anchor="ctr"/>
          <a:lstStyle/>
          <a:p>
            <a:pPr algn="ctr" indent="0" marL="0">
              <a:buNone/>
            </a:pPr>
            <a:r>
              <a:rPr lang="en-US" sz="5000" b="1" dirty="0">
                <a:solidFill>
                  <a:srgbClr val="FFFFFF"/>
                </a:solidFill>
                <a:latin typeface="Trebuchet MS" pitchFamily="34" charset="0"/>
                <a:ea typeface="Trebuchet MS" pitchFamily="34" charset="-122"/>
                <a:cs typeface="Trebuchet MS" pitchFamily="34" charset="-120"/>
              </a:rPr>
              <a:t>6/6</a:t>
            </a:r>
            <a:endParaRPr lang="en-US" sz="5000" dirty="0"/>
          </a:p>
        </p:txBody>
      </p:sp>
      <p:sp>
        <p:nvSpPr>
          <p:cNvPr id="7" name="Text 5"/>
          <p:cNvSpPr/>
          <p:nvPr/>
        </p:nvSpPr>
        <p:spPr>
          <a:xfrm>
            <a:off x="256032" y="1517904"/>
            <a:ext cx="2761488" cy="438912"/>
          </a:xfrm>
          <a:prstGeom prst="rect">
            <a:avLst/>
          </a:prstGeom>
          <a:noFill/>
          <a:ln/>
        </p:spPr>
        <p:txBody>
          <a:bodyPr wrap="square" lIns="0" tIns="0" rIns="0" bIns="0" rtlCol="0" anchor="ctr"/>
          <a:lstStyle/>
          <a:p>
            <a:pPr algn="ctr" indent="0" marL="0">
              <a:buNone/>
            </a:pPr>
            <a:r>
              <a:rPr lang="en-US" sz="1050" dirty="0">
                <a:solidFill>
                  <a:srgbClr val="FFFFFF"/>
                </a:solidFill>
                <a:latin typeface="Trebuchet MS" pitchFamily="34" charset="0"/>
                <a:ea typeface="Trebuchet MS" pitchFamily="34" charset="-122"/>
                <a:cs typeface="Trebuchet MS" pitchFamily="34" charset="-120"/>
              </a:rPr>
              <a:t>queries found</a:t>
            </a:r>
            <a:endParaRPr lang="en-US" sz="1050" dirty="0"/>
          </a:p>
          <a:p>
            <a:pPr algn="ctr" indent="0" marL="0">
              <a:buNone/>
            </a:pPr>
            <a:r>
              <a:rPr lang="en-US" sz="1050" dirty="0">
                <a:solidFill>
                  <a:srgbClr val="FFFFFF"/>
                </a:solidFill>
                <a:latin typeface="Trebuchet MS" pitchFamily="34" charset="0"/>
                <a:ea typeface="Trebuchet MS" pitchFamily="34" charset="-122"/>
                <a:cs typeface="Trebuchet MS" pitchFamily="34" charset="-120"/>
              </a:rPr>
              <a:t>optimal path</a:t>
            </a:r>
            <a:endParaRPr lang="en-US" sz="1050" dirty="0"/>
          </a:p>
        </p:txBody>
      </p:sp>
      <p:sp>
        <p:nvSpPr>
          <p:cNvPr id="8" name="Shape 6"/>
          <p:cNvSpPr/>
          <p:nvPr/>
        </p:nvSpPr>
        <p:spPr>
          <a:xfrm>
            <a:off x="3200400" y="804672"/>
            <a:ext cx="2761488" cy="1261872"/>
          </a:xfrm>
          <a:prstGeom prst="rect">
            <a:avLst/>
          </a:prstGeom>
          <a:solidFill>
            <a:srgbClr val="028090"/>
          </a:solidFill>
          <a:ln w="12700">
            <a:solidFill>
              <a:srgbClr val="028090"/>
            </a:solidFill>
            <a:prstDash val="solid"/>
          </a:ln>
          <a:effectLst>
            <a:outerShdw sx="100000" sy="100000" kx="0" ky="0" algn="bl" rotWithShape="0" blurRad="88900" dist="38100" dir="8100000">
              <a:srgbClr val="000000">
                <a:alpha val="11000"/>
              </a:srgbClr>
            </a:outerShdw>
          </a:effectLst>
        </p:spPr>
      </p:sp>
      <p:sp>
        <p:nvSpPr>
          <p:cNvPr id="9" name="Text 7"/>
          <p:cNvSpPr/>
          <p:nvPr/>
        </p:nvSpPr>
        <p:spPr>
          <a:xfrm>
            <a:off x="3200400" y="822960"/>
            <a:ext cx="2761488" cy="694944"/>
          </a:xfrm>
          <a:prstGeom prst="rect">
            <a:avLst/>
          </a:prstGeom>
          <a:noFill/>
          <a:ln/>
        </p:spPr>
        <p:txBody>
          <a:bodyPr wrap="square" lIns="0" tIns="0" rIns="0" bIns="0" rtlCol="0" anchor="ctr"/>
          <a:lstStyle/>
          <a:p>
            <a:pPr algn="ctr" indent="0" marL="0">
              <a:buNone/>
            </a:pPr>
            <a:r>
              <a:rPr lang="en-US" sz="5000" b="1" dirty="0">
                <a:solidFill>
                  <a:srgbClr val="FFFFFF"/>
                </a:solidFill>
                <a:latin typeface="Trebuchet MS" pitchFamily="34" charset="0"/>
                <a:ea typeface="Trebuchet MS" pitchFamily="34" charset="-122"/>
                <a:cs typeface="Trebuchet MS" pitchFamily="34" charset="-120"/>
              </a:rPr>
              <a:t>63</a:t>
            </a:r>
            <a:endParaRPr lang="en-US" sz="5000" dirty="0"/>
          </a:p>
        </p:txBody>
      </p:sp>
      <p:sp>
        <p:nvSpPr>
          <p:cNvPr id="10" name="Text 8"/>
          <p:cNvSpPr/>
          <p:nvPr/>
        </p:nvSpPr>
        <p:spPr>
          <a:xfrm>
            <a:off x="3200400" y="1517904"/>
            <a:ext cx="2761488" cy="438912"/>
          </a:xfrm>
          <a:prstGeom prst="rect">
            <a:avLst/>
          </a:prstGeom>
          <a:noFill/>
          <a:ln/>
        </p:spPr>
        <p:txBody>
          <a:bodyPr wrap="square" lIns="0" tIns="0" rIns="0" bIns="0" rtlCol="0" anchor="ctr"/>
          <a:lstStyle/>
          <a:p>
            <a:pPr algn="ctr" indent="0" marL="0">
              <a:buNone/>
            </a:pPr>
            <a:r>
              <a:rPr lang="en-US" sz="1050" dirty="0">
                <a:solidFill>
                  <a:srgbClr val="FFFFFF"/>
                </a:solidFill>
                <a:latin typeface="Trebuchet MS" pitchFamily="34" charset="0"/>
                <a:ea typeface="Trebuchet MS" pitchFamily="34" charset="-122"/>
                <a:cs typeface="Trebuchet MS" pitchFamily="34" charset="-120"/>
              </a:rPr>
              <a:t>pages by BiDir</a:t>
            </a:r>
            <a:endParaRPr lang="en-US" sz="1050" dirty="0"/>
          </a:p>
          <a:p>
            <a:pPr algn="ctr" indent="0" marL="0">
              <a:buNone/>
            </a:pPr>
            <a:r>
              <a:rPr lang="en-US" sz="1050" dirty="0">
                <a:solidFill>
                  <a:srgbClr val="FFFFFF"/>
                </a:solidFill>
                <a:latin typeface="Trebuchet MS" pitchFamily="34" charset="0"/>
                <a:ea typeface="Trebuchet MS" pitchFamily="34" charset="-122"/>
                <a:cs typeface="Trebuchet MS" pitchFamily="34" charset="-120"/>
              </a:rPr>
              <a:t>vs 897,194 for A*</a:t>
            </a:r>
            <a:endParaRPr lang="en-US" sz="1050" dirty="0"/>
          </a:p>
        </p:txBody>
      </p:sp>
      <p:sp>
        <p:nvSpPr>
          <p:cNvPr id="11" name="Shape 9"/>
          <p:cNvSpPr/>
          <p:nvPr/>
        </p:nvSpPr>
        <p:spPr>
          <a:xfrm>
            <a:off x="6144768" y="804672"/>
            <a:ext cx="2761488" cy="1261872"/>
          </a:xfrm>
          <a:prstGeom prst="rect">
            <a:avLst/>
          </a:prstGeom>
          <a:solidFill>
            <a:srgbClr val="02C39A"/>
          </a:solidFill>
          <a:ln w="12700">
            <a:solidFill>
              <a:srgbClr val="02C39A"/>
            </a:solidFill>
            <a:prstDash val="solid"/>
          </a:ln>
          <a:effectLst>
            <a:outerShdw sx="100000" sy="100000" kx="0" ky="0" algn="bl" rotWithShape="0" blurRad="88900" dist="38100" dir="8100000">
              <a:srgbClr val="000000">
                <a:alpha val="11000"/>
              </a:srgbClr>
            </a:outerShdw>
          </a:effectLst>
        </p:spPr>
      </p:sp>
      <p:sp>
        <p:nvSpPr>
          <p:cNvPr id="12" name="Text 10"/>
          <p:cNvSpPr/>
          <p:nvPr/>
        </p:nvSpPr>
        <p:spPr>
          <a:xfrm>
            <a:off x="6144768" y="822960"/>
            <a:ext cx="2761488" cy="694944"/>
          </a:xfrm>
          <a:prstGeom prst="rect">
            <a:avLst/>
          </a:prstGeom>
          <a:noFill/>
          <a:ln/>
        </p:spPr>
        <p:txBody>
          <a:bodyPr wrap="square" lIns="0" tIns="0" rIns="0" bIns="0" rtlCol="0" anchor="ctr"/>
          <a:lstStyle/>
          <a:p>
            <a:pPr algn="ctr" indent="0" marL="0">
              <a:buNone/>
            </a:pPr>
            <a:r>
              <a:rPr lang="en-US" sz="5000" b="1" dirty="0">
                <a:solidFill>
                  <a:srgbClr val="FFFFFF"/>
                </a:solidFill>
                <a:latin typeface="Trebuchet MS" pitchFamily="34" charset="0"/>
                <a:ea typeface="Trebuchet MS" pitchFamily="34" charset="-122"/>
                <a:cs typeface="Trebuchet MS" pitchFamily="34" charset="-120"/>
              </a:rPr>
              <a:t>3x</a:t>
            </a:r>
            <a:endParaRPr lang="en-US" sz="5000" dirty="0"/>
          </a:p>
        </p:txBody>
      </p:sp>
      <p:sp>
        <p:nvSpPr>
          <p:cNvPr id="13" name="Text 11"/>
          <p:cNvSpPr/>
          <p:nvPr/>
        </p:nvSpPr>
        <p:spPr>
          <a:xfrm>
            <a:off x="6144768" y="1517904"/>
            <a:ext cx="2761488" cy="438912"/>
          </a:xfrm>
          <a:prstGeom prst="rect">
            <a:avLst/>
          </a:prstGeom>
          <a:noFill/>
          <a:ln/>
        </p:spPr>
        <p:txBody>
          <a:bodyPr wrap="square" lIns="0" tIns="0" rIns="0" bIns="0" rtlCol="0" anchor="ctr"/>
          <a:lstStyle/>
          <a:p>
            <a:pPr algn="ctr" indent="0" marL="0">
              <a:buNone/>
            </a:pPr>
            <a:r>
              <a:rPr lang="en-US" sz="1050" dirty="0">
                <a:solidFill>
                  <a:srgbClr val="FFFFFF"/>
                </a:solidFill>
                <a:latin typeface="Trebuchet MS" pitchFamily="34" charset="0"/>
                <a:ea typeface="Trebuchet MS" pitchFamily="34" charset="-122"/>
                <a:cs typeface="Trebuchet MS" pitchFamily="34" charset="-120"/>
              </a:rPr>
              <a:t>heuristic iterations</a:t>
            </a:r>
            <a:endParaRPr lang="en-US" sz="1050" dirty="0"/>
          </a:p>
          <a:p>
            <a:pPr algn="ctr" indent="0" marL="0">
              <a:buNone/>
            </a:pPr>
            <a:r>
              <a:rPr lang="en-US" sz="1050" dirty="0">
                <a:solidFill>
                  <a:srgbClr val="FFFFFF"/>
                </a:solidFill>
                <a:latin typeface="Trebuchet MS" pitchFamily="34" charset="0"/>
                <a:ea typeface="Trebuchet MS" pitchFamily="34" charset="-122"/>
                <a:cs typeface="Trebuchet MS" pitchFamily="34" charset="-120"/>
              </a:rPr>
              <a:t>all near-identical</a:t>
            </a:r>
            <a:endParaRPr lang="en-US" sz="1050" dirty="0"/>
          </a:p>
        </p:txBody>
      </p:sp>
      <p:sp>
        <p:nvSpPr>
          <p:cNvPr id="14" name="Shape 12"/>
          <p:cNvSpPr/>
          <p:nvPr/>
        </p:nvSpPr>
        <p:spPr>
          <a:xfrm>
            <a:off x="256032" y="2249424"/>
            <a:ext cx="3218688" cy="329184"/>
          </a:xfrm>
          <a:prstGeom prst="rect">
            <a:avLst/>
          </a:prstGeom>
          <a:solidFill>
            <a:srgbClr val="0D1B2A"/>
          </a:solidFill>
          <a:ln w="12700">
            <a:solidFill>
              <a:srgbClr val="0D1B2A"/>
            </a:solidFill>
            <a:prstDash val="solid"/>
          </a:ln>
        </p:spPr>
      </p:sp>
      <p:sp>
        <p:nvSpPr>
          <p:cNvPr id="15" name="Text 13"/>
          <p:cNvSpPr/>
          <p:nvPr/>
        </p:nvSpPr>
        <p:spPr>
          <a:xfrm>
            <a:off x="256032" y="2249424"/>
            <a:ext cx="3218688" cy="329184"/>
          </a:xfrm>
          <a:prstGeom prst="rect">
            <a:avLst/>
          </a:prstGeom>
          <a:noFill/>
          <a:ln/>
        </p:spPr>
        <p:txBody>
          <a:bodyPr wrap="square" lIns="88900" tIns="88900" rIns="88900" bIns="88900" rtlCol="0" anchor="ct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Query (path length)</a:t>
            </a:r>
            <a:endParaRPr lang="en-US" sz="1100" dirty="0"/>
          </a:p>
        </p:txBody>
      </p:sp>
      <p:sp>
        <p:nvSpPr>
          <p:cNvPr id="16" name="Shape 14"/>
          <p:cNvSpPr/>
          <p:nvPr/>
        </p:nvSpPr>
        <p:spPr>
          <a:xfrm>
            <a:off x="3474720" y="2249424"/>
            <a:ext cx="1609344" cy="329184"/>
          </a:xfrm>
          <a:prstGeom prst="rect">
            <a:avLst/>
          </a:prstGeom>
          <a:solidFill>
            <a:srgbClr val="0D1B2A"/>
          </a:solidFill>
          <a:ln w="12700">
            <a:solidFill>
              <a:srgbClr val="0D1B2A"/>
            </a:solidFill>
            <a:prstDash val="solid"/>
          </a:ln>
        </p:spPr>
      </p:sp>
      <p:sp>
        <p:nvSpPr>
          <p:cNvPr id="17" name="Text 15"/>
          <p:cNvSpPr/>
          <p:nvPr/>
        </p:nvSpPr>
        <p:spPr>
          <a:xfrm>
            <a:off x="3474720" y="2249424"/>
            <a:ext cx="160934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IDDFS</a:t>
            </a:r>
            <a:endParaRPr lang="en-US" sz="1100" dirty="0"/>
          </a:p>
        </p:txBody>
      </p:sp>
      <p:sp>
        <p:nvSpPr>
          <p:cNvPr id="18" name="Shape 16"/>
          <p:cNvSpPr/>
          <p:nvPr/>
        </p:nvSpPr>
        <p:spPr>
          <a:xfrm>
            <a:off x="5084064" y="2249424"/>
            <a:ext cx="1609344" cy="329184"/>
          </a:xfrm>
          <a:prstGeom prst="rect">
            <a:avLst/>
          </a:prstGeom>
          <a:solidFill>
            <a:srgbClr val="0D1B2A"/>
          </a:solidFill>
          <a:ln w="12700">
            <a:solidFill>
              <a:srgbClr val="0D1B2A"/>
            </a:solidFill>
            <a:prstDash val="solid"/>
          </a:ln>
        </p:spPr>
      </p:sp>
      <p:sp>
        <p:nvSpPr>
          <p:cNvPr id="19" name="Text 17"/>
          <p:cNvSpPr/>
          <p:nvPr/>
        </p:nvSpPr>
        <p:spPr>
          <a:xfrm>
            <a:off x="5084064" y="2249424"/>
            <a:ext cx="160934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a:t>
            </a:r>
            <a:endParaRPr lang="en-US" sz="1100" dirty="0"/>
          </a:p>
        </p:txBody>
      </p:sp>
      <p:sp>
        <p:nvSpPr>
          <p:cNvPr id="20" name="Shape 18"/>
          <p:cNvSpPr/>
          <p:nvPr/>
        </p:nvSpPr>
        <p:spPr>
          <a:xfrm>
            <a:off x="6693408" y="2249424"/>
            <a:ext cx="1792224" cy="329184"/>
          </a:xfrm>
          <a:prstGeom prst="rect">
            <a:avLst/>
          </a:prstGeom>
          <a:solidFill>
            <a:srgbClr val="0D1B2A"/>
          </a:solidFill>
          <a:ln w="12700">
            <a:solidFill>
              <a:srgbClr val="0D1B2A"/>
            </a:solidFill>
            <a:prstDash val="solid"/>
          </a:ln>
        </p:spPr>
      </p:sp>
      <p:sp>
        <p:nvSpPr>
          <p:cNvPr id="21" name="Text 19"/>
          <p:cNvSpPr/>
          <p:nvPr/>
        </p:nvSpPr>
        <p:spPr>
          <a:xfrm>
            <a:off x="6693408" y="2249424"/>
            <a:ext cx="179222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Bidirectional</a:t>
            </a:r>
            <a:endParaRPr lang="en-US" sz="1100" dirty="0"/>
          </a:p>
        </p:txBody>
      </p:sp>
      <p:sp>
        <p:nvSpPr>
          <p:cNvPr id="22" name="Shape 20"/>
          <p:cNvSpPr/>
          <p:nvPr/>
        </p:nvSpPr>
        <p:spPr>
          <a:xfrm>
            <a:off x="256032" y="2578608"/>
            <a:ext cx="3218688" cy="301752"/>
          </a:xfrm>
          <a:prstGeom prst="rect">
            <a:avLst/>
          </a:prstGeom>
          <a:solidFill>
            <a:srgbClr val="FFFFFF"/>
          </a:solidFill>
          <a:ln w="12700">
            <a:solidFill>
              <a:srgbClr val="C8D6E5"/>
            </a:solidFill>
            <a:prstDash val="solid"/>
          </a:ln>
        </p:spPr>
      </p:sp>
      <p:sp>
        <p:nvSpPr>
          <p:cNvPr id="23" name="Text 21"/>
          <p:cNvSpPr/>
          <p:nvPr/>
        </p:nvSpPr>
        <p:spPr>
          <a:xfrm>
            <a:off x="256032" y="2578608"/>
            <a:ext cx="3218688" cy="301752"/>
          </a:xfrm>
          <a:prstGeom prst="rect">
            <a:avLst/>
          </a:prstGeom>
          <a:noFill/>
          <a:ln/>
        </p:spPr>
        <p:txBody>
          <a:bodyPr wrap="square" lIns="88900" tIns="88900" rIns="88900" bIns="88900" rtlCol="0" anchor="ctr"/>
          <a:lstStyle/>
          <a:p>
            <a:pPr algn="l" indent="0" marL="0">
              <a:buNone/>
            </a:pPr>
            <a:r>
              <a:rPr lang="en-US" sz="1050" dirty="0">
                <a:solidFill>
                  <a:srgbClr val="0D1B2A"/>
                </a:solidFill>
                <a:latin typeface="Trebuchet MS" pitchFamily="34" charset="0"/>
                <a:ea typeface="Trebuchet MS" pitchFamily="34" charset="-122"/>
                <a:cs typeface="Trebuchet MS" pitchFamily="34" charset="-120"/>
              </a:rPr>
              <a:t>Cream to HOSE (5)</a:t>
            </a:r>
            <a:endParaRPr lang="en-US" sz="1050" dirty="0"/>
          </a:p>
        </p:txBody>
      </p:sp>
      <p:sp>
        <p:nvSpPr>
          <p:cNvPr id="24" name="Shape 22"/>
          <p:cNvSpPr/>
          <p:nvPr/>
        </p:nvSpPr>
        <p:spPr>
          <a:xfrm>
            <a:off x="3474720" y="2578608"/>
            <a:ext cx="1609344" cy="301752"/>
          </a:xfrm>
          <a:prstGeom prst="rect">
            <a:avLst/>
          </a:prstGeom>
          <a:solidFill>
            <a:srgbClr val="FFFFFF"/>
          </a:solidFill>
          <a:ln w="12700">
            <a:solidFill>
              <a:srgbClr val="C8D6E5"/>
            </a:solidFill>
            <a:prstDash val="solid"/>
          </a:ln>
        </p:spPr>
      </p:sp>
      <p:sp>
        <p:nvSpPr>
          <p:cNvPr id="25" name="Text 23"/>
          <p:cNvSpPr/>
          <p:nvPr/>
        </p:nvSpPr>
        <p:spPr>
          <a:xfrm>
            <a:off x="3474720" y="2578608"/>
            <a:ext cx="1609344" cy="301752"/>
          </a:xfrm>
          <a:prstGeom prst="rect">
            <a:avLst/>
          </a:prstGeom>
          <a:noFill/>
          <a:ln/>
        </p:spPr>
        <p:txBody>
          <a:bodyPr wrap="square" lIns="0" tIns="0" rIns="0" bIns="0" rtlCol="0" anchor="ctr"/>
          <a:lstStyle/>
          <a:p>
            <a:pPr algn="ctr" indent="0" marL="0">
              <a:buNone/>
            </a:pPr>
            <a:r>
              <a:rPr lang="en-US" sz="1050" dirty="0">
                <a:solidFill>
                  <a:srgbClr val="0D1B2A"/>
                </a:solidFill>
                <a:latin typeface="Trebuchet MS" pitchFamily="34" charset="0"/>
                <a:ea typeface="Trebuchet MS" pitchFamily="34" charset="-122"/>
                <a:cs typeface="Trebuchet MS" pitchFamily="34" charset="-120"/>
              </a:rPr>
              <a:t>226,961</a:t>
            </a:r>
            <a:endParaRPr lang="en-US" sz="1050" dirty="0"/>
          </a:p>
        </p:txBody>
      </p:sp>
      <p:sp>
        <p:nvSpPr>
          <p:cNvPr id="26" name="Shape 24"/>
          <p:cNvSpPr/>
          <p:nvPr/>
        </p:nvSpPr>
        <p:spPr>
          <a:xfrm>
            <a:off x="5084064" y="2578608"/>
            <a:ext cx="1609344" cy="301752"/>
          </a:xfrm>
          <a:prstGeom prst="rect">
            <a:avLst/>
          </a:prstGeom>
          <a:solidFill>
            <a:srgbClr val="FFFFFF"/>
          </a:solidFill>
          <a:ln w="12700">
            <a:solidFill>
              <a:srgbClr val="C8D6E5"/>
            </a:solidFill>
            <a:prstDash val="solid"/>
          </a:ln>
        </p:spPr>
      </p:sp>
      <p:sp>
        <p:nvSpPr>
          <p:cNvPr id="27" name="Text 25"/>
          <p:cNvSpPr/>
          <p:nvPr/>
        </p:nvSpPr>
        <p:spPr>
          <a:xfrm>
            <a:off x="5084064" y="2578608"/>
            <a:ext cx="1609344" cy="301752"/>
          </a:xfrm>
          <a:prstGeom prst="rect">
            <a:avLst/>
          </a:prstGeom>
          <a:noFill/>
          <a:ln/>
        </p:spPr>
        <p:txBody>
          <a:bodyPr wrap="square" lIns="0" tIns="0" rIns="0" bIns="0" rtlCol="0" anchor="ctr"/>
          <a:lstStyle/>
          <a:p>
            <a:pPr algn="ctr" indent="0" marL="0">
              <a:buNone/>
            </a:pPr>
            <a:r>
              <a:rPr lang="en-US" sz="1050" dirty="0">
                <a:solidFill>
                  <a:srgbClr val="0D1B2A"/>
                </a:solidFill>
                <a:latin typeface="Trebuchet MS" pitchFamily="34" charset="0"/>
                <a:ea typeface="Trebuchet MS" pitchFamily="34" charset="-122"/>
                <a:cs typeface="Trebuchet MS" pitchFamily="34" charset="-120"/>
              </a:rPr>
              <a:t>897,194</a:t>
            </a:r>
            <a:endParaRPr lang="en-US" sz="1050" dirty="0"/>
          </a:p>
        </p:txBody>
      </p:sp>
      <p:sp>
        <p:nvSpPr>
          <p:cNvPr id="28" name="Shape 26"/>
          <p:cNvSpPr/>
          <p:nvPr/>
        </p:nvSpPr>
        <p:spPr>
          <a:xfrm>
            <a:off x="6693408" y="2578608"/>
            <a:ext cx="1792224" cy="301752"/>
          </a:xfrm>
          <a:prstGeom prst="rect">
            <a:avLst/>
          </a:prstGeom>
          <a:solidFill>
            <a:srgbClr val="FFFFFF"/>
          </a:solidFill>
          <a:ln w="12700">
            <a:solidFill>
              <a:srgbClr val="C8D6E5"/>
            </a:solidFill>
            <a:prstDash val="solid"/>
          </a:ln>
        </p:spPr>
      </p:sp>
      <p:sp>
        <p:nvSpPr>
          <p:cNvPr id="29" name="Text 27"/>
          <p:cNvSpPr/>
          <p:nvPr/>
        </p:nvSpPr>
        <p:spPr>
          <a:xfrm>
            <a:off x="6693408" y="2578608"/>
            <a:ext cx="1792224" cy="301752"/>
          </a:xfrm>
          <a:prstGeom prst="rect">
            <a:avLst/>
          </a:prstGeom>
          <a:noFill/>
          <a:ln/>
        </p:spPr>
        <p:txBody>
          <a:bodyPr wrap="square" lIns="0" tIns="0" rIns="0" bIns="0" rtlCol="0" anchor="ctr"/>
          <a:lstStyle/>
          <a:p>
            <a:pPr algn="ctr" indent="0" marL="0">
              <a:buNone/>
            </a:pPr>
            <a:r>
              <a:rPr lang="en-US" sz="1050" b="1" dirty="0">
                <a:solidFill>
                  <a:srgbClr val="028090"/>
                </a:solidFill>
                <a:latin typeface="Trebuchet MS" pitchFamily="34" charset="0"/>
                <a:ea typeface="Trebuchet MS" pitchFamily="34" charset="-122"/>
                <a:cs typeface="Trebuchet MS" pitchFamily="34" charset="-120"/>
              </a:rPr>
              <a:t>63</a:t>
            </a:r>
            <a:endParaRPr lang="en-US" sz="1050" dirty="0"/>
          </a:p>
        </p:txBody>
      </p:sp>
      <p:sp>
        <p:nvSpPr>
          <p:cNvPr id="30" name="Shape 28"/>
          <p:cNvSpPr/>
          <p:nvPr/>
        </p:nvSpPr>
        <p:spPr>
          <a:xfrm>
            <a:off x="256032" y="2880360"/>
            <a:ext cx="3218688" cy="301752"/>
          </a:xfrm>
          <a:prstGeom prst="rect">
            <a:avLst/>
          </a:prstGeom>
          <a:solidFill>
            <a:srgbClr val="E8EEF5"/>
          </a:solidFill>
          <a:ln w="12700">
            <a:solidFill>
              <a:srgbClr val="C8D6E5"/>
            </a:solidFill>
            <a:prstDash val="solid"/>
          </a:ln>
        </p:spPr>
      </p:sp>
      <p:sp>
        <p:nvSpPr>
          <p:cNvPr id="31" name="Text 29"/>
          <p:cNvSpPr/>
          <p:nvPr/>
        </p:nvSpPr>
        <p:spPr>
          <a:xfrm>
            <a:off x="256032" y="2880360"/>
            <a:ext cx="3218688" cy="301752"/>
          </a:xfrm>
          <a:prstGeom prst="rect">
            <a:avLst/>
          </a:prstGeom>
          <a:noFill/>
          <a:ln/>
        </p:spPr>
        <p:txBody>
          <a:bodyPr wrap="square" lIns="88900" tIns="88900" rIns="88900" bIns="88900" rtlCol="0" anchor="ctr"/>
          <a:lstStyle/>
          <a:p>
            <a:pPr algn="l" indent="0" marL="0">
              <a:buNone/>
            </a:pPr>
            <a:r>
              <a:rPr lang="en-US" sz="1050" dirty="0">
                <a:solidFill>
                  <a:srgbClr val="0D1B2A"/>
                </a:solidFill>
                <a:latin typeface="Trebuchet MS" pitchFamily="34" charset="0"/>
                <a:ea typeface="Trebuchet MS" pitchFamily="34" charset="-122"/>
                <a:cs typeface="Trebuchet MS" pitchFamily="34" charset="-120"/>
              </a:rPr>
              <a:t>Drooling to Anglerfish (3)</a:t>
            </a:r>
            <a:endParaRPr lang="en-US" sz="1050" dirty="0"/>
          </a:p>
        </p:txBody>
      </p:sp>
      <p:sp>
        <p:nvSpPr>
          <p:cNvPr id="32" name="Shape 30"/>
          <p:cNvSpPr/>
          <p:nvPr/>
        </p:nvSpPr>
        <p:spPr>
          <a:xfrm>
            <a:off x="3474720" y="2880360"/>
            <a:ext cx="1609344" cy="301752"/>
          </a:xfrm>
          <a:prstGeom prst="rect">
            <a:avLst/>
          </a:prstGeom>
          <a:solidFill>
            <a:srgbClr val="E8EEF5"/>
          </a:solidFill>
          <a:ln w="12700">
            <a:solidFill>
              <a:srgbClr val="C8D6E5"/>
            </a:solidFill>
            <a:prstDash val="solid"/>
          </a:ln>
        </p:spPr>
      </p:sp>
      <p:sp>
        <p:nvSpPr>
          <p:cNvPr id="33" name="Text 31"/>
          <p:cNvSpPr/>
          <p:nvPr/>
        </p:nvSpPr>
        <p:spPr>
          <a:xfrm>
            <a:off x="3474720" y="2880360"/>
            <a:ext cx="1609344" cy="301752"/>
          </a:xfrm>
          <a:prstGeom prst="rect">
            <a:avLst/>
          </a:prstGeom>
          <a:noFill/>
          <a:ln/>
        </p:spPr>
        <p:txBody>
          <a:bodyPr wrap="square" lIns="0" tIns="0" rIns="0" bIns="0" rtlCol="0" anchor="ctr"/>
          <a:lstStyle/>
          <a:p>
            <a:pPr algn="ctr" indent="0" marL="0">
              <a:buNone/>
            </a:pPr>
            <a:r>
              <a:rPr lang="en-US" sz="1050" dirty="0">
                <a:solidFill>
                  <a:srgbClr val="0D1B2A"/>
                </a:solidFill>
                <a:latin typeface="Trebuchet MS" pitchFamily="34" charset="0"/>
                <a:ea typeface="Trebuchet MS" pitchFamily="34" charset="-122"/>
                <a:cs typeface="Trebuchet MS" pitchFamily="34" charset="-120"/>
              </a:rPr>
              <a:t>1,367</a:t>
            </a:r>
            <a:endParaRPr lang="en-US" sz="1050" dirty="0"/>
          </a:p>
        </p:txBody>
      </p:sp>
      <p:sp>
        <p:nvSpPr>
          <p:cNvPr id="34" name="Shape 32"/>
          <p:cNvSpPr/>
          <p:nvPr/>
        </p:nvSpPr>
        <p:spPr>
          <a:xfrm>
            <a:off x="5084064" y="2880360"/>
            <a:ext cx="1609344" cy="301752"/>
          </a:xfrm>
          <a:prstGeom prst="rect">
            <a:avLst/>
          </a:prstGeom>
          <a:solidFill>
            <a:srgbClr val="E8EEF5"/>
          </a:solidFill>
          <a:ln w="12700">
            <a:solidFill>
              <a:srgbClr val="C8D6E5"/>
            </a:solidFill>
            <a:prstDash val="solid"/>
          </a:ln>
        </p:spPr>
      </p:sp>
      <p:sp>
        <p:nvSpPr>
          <p:cNvPr id="35" name="Text 33"/>
          <p:cNvSpPr/>
          <p:nvPr/>
        </p:nvSpPr>
        <p:spPr>
          <a:xfrm>
            <a:off x="5084064" y="2880360"/>
            <a:ext cx="1609344" cy="301752"/>
          </a:xfrm>
          <a:prstGeom prst="rect">
            <a:avLst/>
          </a:prstGeom>
          <a:noFill/>
          <a:ln/>
        </p:spPr>
        <p:txBody>
          <a:bodyPr wrap="square" lIns="0" tIns="0" rIns="0" bIns="0" rtlCol="0" anchor="ctr"/>
          <a:lstStyle/>
          <a:p>
            <a:pPr algn="ctr" indent="0" marL="0">
              <a:buNone/>
            </a:pPr>
            <a:r>
              <a:rPr lang="en-US" sz="1050" dirty="0">
                <a:solidFill>
                  <a:srgbClr val="0D1B2A"/>
                </a:solidFill>
                <a:latin typeface="Trebuchet MS" pitchFamily="34" charset="0"/>
                <a:ea typeface="Trebuchet MS" pitchFamily="34" charset="-122"/>
                <a:cs typeface="Trebuchet MS" pitchFamily="34" charset="-120"/>
              </a:rPr>
              <a:t>3,374</a:t>
            </a:r>
            <a:endParaRPr lang="en-US" sz="1050" dirty="0"/>
          </a:p>
        </p:txBody>
      </p:sp>
      <p:sp>
        <p:nvSpPr>
          <p:cNvPr id="36" name="Shape 34"/>
          <p:cNvSpPr/>
          <p:nvPr/>
        </p:nvSpPr>
        <p:spPr>
          <a:xfrm>
            <a:off x="6693408" y="2880360"/>
            <a:ext cx="1792224" cy="301752"/>
          </a:xfrm>
          <a:prstGeom prst="rect">
            <a:avLst/>
          </a:prstGeom>
          <a:solidFill>
            <a:srgbClr val="E8EEF5"/>
          </a:solidFill>
          <a:ln w="12700">
            <a:solidFill>
              <a:srgbClr val="C8D6E5"/>
            </a:solidFill>
            <a:prstDash val="solid"/>
          </a:ln>
        </p:spPr>
      </p:sp>
      <p:sp>
        <p:nvSpPr>
          <p:cNvPr id="37" name="Text 35"/>
          <p:cNvSpPr/>
          <p:nvPr/>
        </p:nvSpPr>
        <p:spPr>
          <a:xfrm>
            <a:off x="6693408" y="2880360"/>
            <a:ext cx="1792224" cy="301752"/>
          </a:xfrm>
          <a:prstGeom prst="rect">
            <a:avLst/>
          </a:prstGeom>
          <a:noFill/>
          <a:ln/>
        </p:spPr>
        <p:txBody>
          <a:bodyPr wrap="square" lIns="0" tIns="0" rIns="0" bIns="0" rtlCol="0" anchor="ctr"/>
          <a:lstStyle/>
          <a:p>
            <a:pPr algn="ctr" indent="0" marL="0">
              <a:buNone/>
            </a:pPr>
            <a:r>
              <a:rPr lang="en-US" sz="1050" b="1" dirty="0">
                <a:solidFill>
                  <a:srgbClr val="028090"/>
                </a:solidFill>
                <a:latin typeface="Trebuchet MS" pitchFamily="34" charset="0"/>
                <a:ea typeface="Trebuchet MS" pitchFamily="34" charset="-122"/>
                <a:cs typeface="Trebuchet MS" pitchFamily="34" charset="-120"/>
              </a:rPr>
              <a:t>8</a:t>
            </a:r>
            <a:endParaRPr lang="en-US" sz="1050" dirty="0"/>
          </a:p>
        </p:txBody>
      </p:sp>
      <p:sp>
        <p:nvSpPr>
          <p:cNvPr id="38" name="Shape 36"/>
          <p:cNvSpPr/>
          <p:nvPr/>
        </p:nvSpPr>
        <p:spPr>
          <a:xfrm>
            <a:off x="256032" y="3182112"/>
            <a:ext cx="3218688" cy="301752"/>
          </a:xfrm>
          <a:prstGeom prst="rect">
            <a:avLst/>
          </a:prstGeom>
          <a:solidFill>
            <a:srgbClr val="FFFFFF"/>
          </a:solidFill>
          <a:ln w="12700">
            <a:solidFill>
              <a:srgbClr val="C8D6E5"/>
            </a:solidFill>
            <a:prstDash val="solid"/>
          </a:ln>
        </p:spPr>
      </p:sp>
      <p:sp>
        <p:nvSpPr>
          <p:cNvPr id="39" name="Text 37"/>
          <p:cNvSpPr/>
          <p:nvPr/>
        </p:nvSpPr>
        <p:spPr>
          <a:xfrm>
            <a:off x="256032" y="3182112"/>
            <a:ext cx="3218688" cy="301752"/>
          </a:xfrm>
          <a:prstGeom prst="rect">
            <a:avLst/>
          </a:prstGeom>
          <a:noFill/>
          <a:ln/>
        </p:spPr>
        <p:txBody>
          <a:bodyPr wrap="square" lIns="88900" tIns="88900" rIns="88900" bIns="88900" rtlCol="0" anchor="ctr"/>
          <a:lstStyle/>
          <a:p>
            <a:pPr algn="l" indent="0" marL="0">
              <a:buNone/>
            </a:pPr>
            <a:r>
              <a:rPr lang="en-US" sz="1050" dirty="0">
                <a:solidFill>
                  <a:srgbClr val="0D1B2A"/>
                </a:solidFill>
                <a:latin typeface="Trebuchet MS" pitchFamily="34" charset="0"/>
                <a:ea typeface="Trebuchet MS" pitchFamily="34" charset="-122"/>
                <a:cs typeface="Trebuchet MS" pitchFamily="34" charset="-120"/>
              </a:rPr>
              <a:t>Window to Nigeria (3)</a:t>
            </a:r>
            <a:endParaRPr lang="en-US" sz="1050" dirty="0"/>
          </a:p>
        </p:txBody>
      </p:sp>
      <p:sp>
        <p:nvSpPr>
          <p:cNvPr id="40" name="Shape 38"/>
          <p:cNvSpPr/>
          <p:nvPr/>
        </p:nvSpPr>
        <p:spPr>
          <a:xfrm>
            <a:off x="3474720" y="3182112"/>
            <a:ext cx="1609344" cy="301752"/>
          </a:xfrm>
          <a:prstGeom prst="rect">
            <a:avLst/>
          </a:prstGeom>
          <a:solidFill>
            <a:srgbClr val="FFFFFF"/>
          </a:solidFill>
          <a:ln w="12700">
            <a:solidFill>
              <a:srgbClr val="C8D6E5"/>
            </a:solidFill>
            <a:prstDash val="solid"/>
          </a:ln>
        </p:spPr>
      </p:sp>
      <p:sp>
        <p:nvSpPr>
          <p:cNvPr id="41" name="Text 39"/>
          <p:cNvSpPr/>
          <p:nvPr/>
        </p:nvSpPr>
        <p:spPr>
          <a:xfrm>
            <a:off x="3474720" y="3182112"/>
            <a:ext cx="1609344" cy="301752"/>
          </a:xfrm>
          <a:prstGeom prst="rect">
            <a:avLst/>
          </a:prstGeom>
          <a:noFill/>
          <a:ln/>
        </p:spPr>
        <p:txBody>
          <a:bodyPr wrap="square" lIns="0" tIns="0" rIns="0" bIns="0" rtlCol="0" anchor="ctr"/>
          <a:lstStyle/>
          <a:p>
            <a:pPr algn="ctr" indent="0" marL="0">
              <a:buNone/>
            </a:pPr>
            <a:r>
              <a:rPr lang="en-US" sz="1050" dirty="0">
                <a:solidFill>
                  <a:srgbClr val="0D1B2A"/>
                </a:solidFill>
                <a:latin typeface="Trebuchet MS" pitchFamily="34" charset="0"/>
                <a:ea typeface="Trebuchet MS" pitchFamily="34" charset="-122"/>
                <a:cs typeface="Trebuchet MS" pitchFamily="34" charset="-120"/>
              </a:rPr>
              <a:t>154</a:t>
            </a:r>
            <a:endParaRPr lang="en-US" sz="1050" dirty="0"/>
          </a:p>
        </p:txBody>
      </p:sp>
      <p:sp>
        <p:nvSpPr>
          <p:cNvPr id="42" name="Shape 40"/>
          <p:cNvSpPr/>
          <p:nvPr/>
        </p:nvSpPr>
        <p:spPr>
          <a:xfrm>
            <a:off x="5084064" y="3182112"/>
            <a:ext cx="1609344" cy="301752"/>
          </a:xfrm>
          <a:prstGeom prst="rect">
            <a:avLst/>
          </a:prstGeom>
          <a:solidFill>
            <a:srgbClr val="FFFFFF"/>
          </a:solidFill>
          <a:ln w="12700">
            <a:solidFill>
              <a:srgbClr val="C8D6E5"/>
            </a:solidFill>
            <a:prstDash val="solid"/>
          </a:ln>
        </p:spPr>
      </p:sp>
      <p:sp>
        <p:nvSpPr>
          <p:cNvPr id="43" name="Text 41"/>
          <p:cNvSpPr/>
          <p:nvPr/>
        </p:nvSpPr>
        <p:spPr>
          <a:xfrm>
            <a:off x="5084064" y="3182112"/>
            <a:ext cx="1609344" cy="301752"/>
          </a:xfrm>
          <a:prstGeom prst="rect">
            <a:avLst/>
          </a:prstGeom>
          <a:noFill/>
          <a:ln/>
        </p:spPr>
        <p:txBody>
          <a:bodyPr wrap="square" lIns="0" tIns="0" rIns="0" bIns="0" rtlCol="0" anchor="ctr"/>
          <a:lstStyle/>
          <a:p>
            <a:pPr algn="ctr" indent="0" marL="0">
              <a:buNone/>
            </a:pPr>
            <a:r>
              <a:rPr lang="en-US" sz="1050" dirty="0">
                <a:solidFill>
                  <a:srgbClr val="0D1B2A"/>
                </a:solidFill>
                <a:latin typeface="Trebuchet MS" pitchFamily="34" charset="0"/>
                <a:ea typeface="Trebuchet MS" pitchFamily="34" charset="-122"/>
                <a:cs typeface="Trebuchet MS" pitchFamily="34" charset="-120"/>
              </a:rPr>
              <a:t>11,367</a:t>
            </a:r>
            <a:endParaRPr lang="en-US" sz="1050" dirty="0"/>
          </a:p>
        </p:txBody>
      </p:sp>
      <p:sp>
        <p:nvSpPr>
          <p:cNvPr id="44" name="Shape 42"/>
          <p:cNvSpPr/>
          <p:nvPr/>
        </p:nvSpPr>
        <p:spPr>
          <a:xfrm>
            <a:off x="6693408" y="3182112"/>
            <a:ext cx="1792224" cy="301752"/>
          </a:xfrm>
          <a:prstGeom prst="rect">
            <a:avLst/>
          </a:prstGeom>
          <a:solidFill>
            <a:srgbClr val="FFFFFF"/>
          </a:solidFill>
          <a:ln w="12700">
            <a:solidFill>
              <a:srgbClr val="C8D6E5"/>
            </a:solidFill>
            <a:prstDash val="solid"/>
          </a:ln>
        </p:spPr>
      </p:sp>
      <p:sp>
        <p:nvSpPr>
          <p:cNvPr id="45" name="Text 43"/>
          <p:cNvSpPr/>
          <p:nvPr/>
        </p:nvSpPr>
        <p:spPr>
          <a:xfrm>
            <a:off x="6693408" y="3182112"/>
            <a:ext cx="1792224" cy="301752"/>
          </a:xfrm>
          <a:prstGeom prst="rect">
            <a:avLst/>
          </a:prstGeom>
          <a:noFill/>
          <a:ln/>
        </p:spPr>
        <p:txBody>
          <a:bodyPr wrap="square" lIns="0" tIns="0" rIns="0" bIns="0" rtlCol="0" anchor="ctr"/>
          <a:lstStyle/>
          <a:p>
            <a:pPr algn="ctr" indent="0" marL="0">
              <a:buNone/>
            </a:pPr>
            <a:r>
              <a:rPr lang="en-US" sz="1050" b="1" dirty="0">
                <a:solidFill>
                  <a:srgbClr val="028090"/>
                </a:solidFill>
                <a:latin typeface="Trebuchet MS" pitchFamily="34" charset="0"/>
                <a:ea typeface="Trebuchet MS" pitchFamily="34" charset="-122"/>
                <a:cs typeface="Trebuchet MS" pitchFamily="34" charset="-120"/>
              </a:rPr>
              <a:t>3</a:t>
            </a:r>
            <a:endParaRPr lang="en-US" sz="1050" dirty="0"/>
          </a:p>
        </p:txBody>
      </p:sp>
      <p:sp>
        <p:nvSpPr>
          <p:cNvPr id="46" name="Shape 44"/>
          <p:cNvSpPr/>
          <p:nvPr/>
        </p:nvSpPr>
        <p:spPr>
          <a:xfrm>
            <a:off x="256032" y="3483864"/>
            <a:ext cx="3218688" cy="301752"/>
          </a:xfrm>
          <a:prstGeom prst="rect">
            <a:avLst/>
          </a:prstGeom>
          <a:solidFill>
            <a:srgbClr val="E8EEF5"/>
          </a:solidFill>
          <a:ln w="12700">
            <a:solidFill>
              <a:srgbClr val="C8D6E5"/>
            </a:solidFill>
            <a:prstDash val="solid"/>
          </a:ln>
        </p:spPr>
      </p:sp>
      <p:sp>
        <p:nvSpPr>
          <p:cNvPr id="47" name="Text 45"/>
          <p:cNvSpPr/>
          <p:nvPr/>
        </p:nvSpPr>
        <p:spPr>
          <a:xfrm>
            <a:off x="256032" y="3483864"/>
            <a:ext cx="3218688" cy="301752"/>
          </a:xfrm>
          <a:prstGeom prst="rect">
            <a:avLst/>
          </a:prstGeom>
          <a:noFill/>
          <a:ln/>
        </p:spPr>
        <p:txBody>
          <a:bodyPr wrap="square" lIns="88900" tIns="88900" rIns="88900" bIns="88900" rtlCol="0" anchor="ctr"/>
          <a:lstStyle/>
          <a:p>
            <a:pPr algn="l" indent="0" marL="0">
              <a:buNone/>
            </a:pPr>
            <a:r>
              <a:rPr lang="en-US" sz="1050" dirty="0">
                <a:solidFill>
                  <a:srgbClr val="0D1B2A"/>
                </a:solidFill>
                <a:latin typeface="Trebuchet MS" pitchFamily="34" charset="0"/>
                <a:ea typeface="Trebuchet MS" pitchFamily="34" charset="-122"/>
                <a:cs typeface="Trebuchet MS" pitchFamily="34" charset="-120"/>
              </a:rPr>
              <a:t>Napkin to Pepsi (3)</a:t>
            </a:r>
            <a:endParaRPr lang="en-US" sz="1050" dirty="0"/>
          </a:p>
        </p:txBody>
      </p:sp>
      <p:sp>
        <p:nvSpPr>
          <p:cNvPr id="48" name="Shape 46"/>
          <p:cNvSpPr/>
          <p:nvPr/>
        </p:nvSpPr>
        <p:spPr>
          <a:xfrm>
            <a:off x="3474720" y="3483864"/>
            <a:ext cx="1609344" cy="301752"/>
          </a:xfrm>
          <a:prstGeom prst="rect">
            <a:avLst/>
          </a:prstGeom>
          <a:solidFill>
            <a:srgbClr val="E8EEF5"/>
          </a:solidFill>
          <a:ln w="12700">
            <a:solidFill>
              <a:srgbClr val="C8D6E5"/>
            </a:solidFill>
            <a:prstDash val="solid"/>
          </a:ln>
        </p:spPr>
      </p:sp>
      <p:sp>
        <p:nvSpPr>
          <p:cNvPr id="49" name="Text 47"/>
          <p:cNvSpPr/>
          <p:nvPr/>
        </p:nvSpPr>
        <p:spPr>
          <a:xfrm>
            <a:off x="3474720" y="3483864"/>
            <a:ext cx="1609344" cy="301752"/>
          </a:xfrm>
          <a:prstGeom prst="rect">
            <a:avLst/>
          </a:prstGeom>
          <a:noFill/>
          <a:ln/>
        </p:spPr>
        <p:txBody>
          <a:bodyPr wrap="square" lIns="0" tIns="0" rIns="0" bIns="0" rtlCol="0" anchor="ctr"/>
          <a:lstStyle/>
          <a:p>
            <a:pPr algn="ctr" indent="0" marL="0">
              <a:buNone/>
            </a:pPr>
            <a:r>
              <a:rPr lang="en-US" sz="1050" dirty="0">
                <a:solidFill>
                  <a:srgbClr val="0D1B2A"/>
                </a:solidFill>
                <a:latin typeface="Trebuchet MS" pitchFamily="34" charset="0"/>
                <a:ea typeface="Trebuchet MS" pitchFamily="34" charset="-122"/>
                <a:cs typeface="Trebuchet MS" pitchFamily="34" charset="-120"/>
              </a:rPr>
              <a:t>27</a:t>
            </a:r>
            <a:endParaRPr lang="en-US" sz="1050" dirty="0"/>
          </a:p>
        </p:txBody>
      </p:sp>
      <p:sp>
        <p:nvSpPr>
          <p:cNvPr id="50" name="Shape 48"/>
          <p:cNvSpPr/>
          <p:nvPr/>
        </p:nvSpPr>
        <p:spPr>
          <a:xfrm>
            <a:off x="5084064" y="3483864"/>
            <a:ext cx="1609344" cy="301752"/>
          </a:xfrm>
          <a:prstGeom prst="rect">
            <a:avLst/>
          </a:prstGeom>
          <a:solidFill>
            <a:srgbClr val="E8EEF5"/>
          </a:solidFill>
          <a:ln w="12700">
            <a:solidFill>
              <a:srgbClr val="C8D6E5"/>
            </a:solidFill>
            <a:prstDash val="solid"/>
          </a:ln>
        </p:spPr>
      </p:sp>
      <p:sp>
        <p:nvSpPr>
          <p:cNvPr id="51" name="Text 49"/>
          <p:cNvSpPr/>
          <p:nvPr/>
        </p:nvSpPr>
        <p:spPr>
          <a:xfrm>
            <a:off x="5084064" y="3483864"/>
            <a:ext cx="1609344" cy="301752"/>
          </a:xfrm>
          <a:prstGeom prst="rect">
            <a:avLst/>
          </a:prstGeom>
          <a:noFill/>
          <a:ln/>
        </p:spPr>
        <p:txBody>
          <a:bodyPr wrap="square" lIns="0" tIns="0" rIns="0" bIns="0" rtlCol="0" anchor="ctr"/>
          <a:lstStyle/>
          <a:p>
            <a:pPr algn="ctr" indent="0" marL="0">
              <a:buNone/>
            </a:pPr>
            <a:r>
              <a:rPr lang="en-US" sz="1050" dirty="0">
                <a:solidFill>
                  <a:srgbClr val="0D1B2A"/>
                </a:solidFill>
                <a:latin typeface="Trebuchet MS" pitchFamily="34" charset="0"/>
                <a:ea typeface="Trebuchet MS" pitchFamily="34" charset="-122"/>
                <a:cs typeface="Trebuchet MS" pitchFamily="34" charset="-120"/>
              </a:rPr>
              <a:t>2,501</a:t>
            </a:r>
            <a:endParaRPr lang="en-US" sz="1050" dirty="0"/>
          </a:p>
        </p:txBody>
      </p:sp>
      <p:sp>
        <p:nvSpPr>
          <p:cNvPr id="52" name="Shape 50"/>
          <p:cNvSpPr/>
          <p:nvPr/>
        </p:nvSpPr>
        <p:spPr>
          <a:xfrm>
            <a:off x="6693408" y="3483864"/>
            <a:ext cx="1792224" cy="301752"/>
          </a:xfrm>
          <a:prstGeom prst="rect">
            <a:avLst/>
          </a:prstGeom>
          <a:solidFill>
            <a:srgbClr val="E8EEF5"/>
          </a:solidFill>
          <a:ln w="12700">
            <a:solidFill>
              <a:srgbClr val="C8D6E5"/>
            </a:solidFill>
            <a:prstDash val="solid"/>
          </a:ln>
        </p:spPr>
      </p:sp>
      <p:sp>
        <p:nvSpPr>
          <p:cNvPr id="53" name="Text 51"/>
          <p:cNvSpPr/>
          <p:nvPr/>
        </p:nvSpPr>
        <p:spPr>
          <a:xfrm>
            <a:off x="6693408" y="3483864"/>
            <a:ext cx="1792224" cy="301752"/>
          </a:xfrm>
          <a:prstGeom prst="rect">
            <a:avLst/>
          </a:prstGeom>
          <a:noFill/>
          <a:ln/>
        </p:spPr>
        <p:txBody>
          <a:bodyPr wrap="square" lIns="0" tIns="0" rIns="0" bIns="0" rtlCol="0" anchor="ctr"/>
          <a:lstStyle/>
          <a:p>
            <a:pPr algn="ctr" indent="0" marL="0">
              <a:buNone/>
            </a:pPr>
            <a:r>
              <a:rPr lang="en-US" sz="1050" b="1" dirty="0">
                <a:solidFill>
                  <a:srgbClr val="028090"/>
                </a:solidFill>
                <a:latin typeface="Trebuchet MS" pitchFamily="34" charset="0"/>
                <a:ea typeface="Trebuchet MS" pitchFamily="34" charset="-122"/>
                <a:cs typeface="Trebuchet MS" pitchFamily="34" charset="-120"/>
              </a:rPr>
              <a:t>3</a:t>
            </a:r>
            <a:endParaRPr lang="en-US" sz="1050" dirty="0"/>
          </a:p>
        </p:txBody>
      </p:sp>
      <p:sp>
        <p:nvSpPr>
          <p:cNvPr id="54" name="Shape 52"/>
          <p:cNvSpPr/>
          <p:nvPr/>
        </p:nvSpPr>
        <p:spPr>
          <a:xfrm>
            <a:off x="256032" y="3785616"/>
            <a:ext cx="3218688" cy="301752"/>
          </a:xfrm>
          <a:prstGeom prst="rect">
            <a:avLst/>
          </a:prstGeom>
          <a:solidFill>
            <a:srgbClr val="FFFFFF"/>
          </a:solidFill>
          <a:ln w="12700">
            <a:solidFill>
              <a:srgbClr val="C8D6E5"/>
            </a:solidFill>
            <a:prstDash val="solid"/>
          </a:ln>
        </p:spPr>
      </p:sp>
      <p:sp>
        <p:nvSpPr>
          <p:cNvPr id="55" name="Text 53"/>
          <p:cNvSpPr/>
          <p:nvPr/>
        </p:nvSpPr>
        <p:spPr>
          <a:xfrm>
            <a:off x="256032" y="3785616"/>
            <a:ext cx="3218688" cy="301752"/>
          </a:xfrm>
          <a:prstGeom prst="rect">
            <a:avLst/>
          </a:prstGeom>
          <a:noFill/>
          <a:ln/>
        </p:spPr>
        <p:txBody>
          <a:bodyPr wrap="square" lIns="88900" tIns="88900" rIns="88900" bIns="88900" rtlCol="0" anchor="ctr"/>
          <a:lstStyle/>
          <a:p>
            <a:pPr algn="l" indent="0" marL="0">
              <a:buNone/>
            </a:pPr>
            <a:r>
              <a:rPr lang="en-US" sz="1050" dirty="0">
                <a:solidFill>
                  <a:srgbClr val="0D1B2A"/>
                </a:solidFill>
                <a:latin typeface="Trebuchet MS" pitchFamily="34" charset="0"/>
                <a:ea typeface="Trebuchet MS" pitchFamily="34" charset="-122"/>
                <a:cs typeface="Trebuchet MS" pitchFamily="34" charset="-120"/>
              </a:rPr>
              <a:t>Dependency to Guitar pick (4)</a:t>
            </a:r>
            <a:endParaRPr lang="en-US" sz="1050" dirty="0"/>
          </a:p>
        </p:txBody>
      </p:sp>
      <p:sp>
        <p:nvSpPr>
          <p:cNvPr id="56" name="Shape 54"/>
          <p:cNvSpPr/>
          <p:nvPr/>
        </p:nvSpPr>
        <p:spPr>
          <a:xfrm>
            <a:off x="3474720" y="3785616"/>
            <a:ext cx="1609344" cy="301752"/>
          </a:xfrm>
          <a:prstGeom prst="rect">
            <a:avLst/>
          </a:prstGeom>
          <a:solidFill>
            <a:srgbClr val="FFFFFF"/>
          </a:solidFill>
          <a:ln w="12700">
            <a:solidFill>
              <a:srgbClr val="C8D6E5"/>
            </a:solidFill>
            <a:prstDash val="solid"/>
          </a:ln>
        </p:spPr>
      </p:sp>
      <p:sp>
        <p:nvSpPr>
          <p:cNvPr id="57" name="Text 55"/>
          <p:cNvSpPr/>
          <p:nvPr/>
        </p:nvSpPr>
        <p:spPr>
          <a:xfrm>
            <a:off x="3474720" y="3785616"/>
            <a:ext cx="1609344" cy="301752"/>
          </a:xfrm>
          <a:prstGeom prst="rect">
            <a:avLst/>
          </a:prstGeom>
          <a:noFill/>
          <a:ln/>
        </p:spPr>
        <p:txBody>
          <a:bodyPr wrap="square" lIns="0" tIns="0" rIns="0" bIns="0" rtlCol="0" anchor="ctr"/>
          <a:lstStyle/>
          <a:p>
            <a:pPr algn="ctr" indent="0" marL="0">
              <a:buNone/>
            </a:pPr>
            <a:r>
              <a:rPr lang="en-US" sz="1050" dirty="0">
                <a:solidFill>
                  <a:srgbClr val="0D1B2A"/>
                </a:solidFill>
                <a:latin typeface="Trebuchet MS" pitchFamily="34" charset="0"/>
                <a:ea typeface="Trebuchet MS" pitchFamily="34" charset="-122"/>
                <a:cs typeface="Trebuchet MS" pitchFamily="34" charset="-120"/>
              </a:rPr>
              <a:t>17,391</a:t>
            </a:r>
            <a:endParaRPr lang="en-US" sz="1050" dirty="0"/>
          </a:p>
        </p:txBody>
      </p:sp>
      <p:sp>
        <p:nvSpPr>
          <p:cNvPr id="58" name="Shape 56"/>
          <p:cNvSpPr/>
          <p:nvPr/>
        </p:nvSpPr>
        <p:spPr>
          <a:xfrm>
            <a:off x="5084064" y="3785616"/>
            <a:ext cx="1609344" cy="301752"/>
          </a:xfrm>
          <a:prstGeom prst="rect">
            <a:avLst/>
          </a:prstGeom>
          <a:solidFill>
            <a:srgbClr val="FFFFFF"/>
          </a:solidFill>
          <a:ln w="12700">
            <a:solidFill>
              <a:srgbClr val="C8D6E5"/>
            </a:solidFill>
            <a:prstDash val="solid"/>
          </a:ln>
        </p:spPr>
      </p:sp>
      <p:sp>
        <p:nvSpPr>
          <p:cNvPr id="59" name="Text 57"/>
          <p:cNvSpPr/>
          <p:nvPr/>
        </p:nvSpPr>
        <p:spPr>
          <a:xfrm>
            <a:off x="5084064" y="3785616"/>
            <a:ext cx="1609344" cy="301752"/>
          </a:xfrm>
          <a:prstGeom prst="rect">
            <a:avLst/>
          </a:prstGeom>
          <a:noFill/>
          <a:ln/>
        </p:spPr>
        <p:txBody>
          <a:bodyPr wrap="square" lIns="0" tIns="0" rIns="0" bIns="0" rtlCol="0" anchor="ctr"/>
          <a:lstStyle/>
          <a:p>
            <a:pPr algn="ctr" indent="0" marL="0">
              <a:buNone/>
            </a:pPr>
            <a:r>
              <a:rPr lang="en-US" sz="1050" dirty="0">
                <a:solidFill>
                  <a:srgbClr val="0D1B2A"/>
                </a:solidFill>
                <a:latin typeface="Trebuchet MS" pitchFamily="34" charset="0"/>
                <a:ea typeface="Trebuchet MS" pitchFamily="34" charset="-122"/>
                <a:cs typeface="Trebuchet MS" pitchFamily="34" charset="-120"/>
              </a:rPr>
              <a:t>49,407</a:t>
            </a:r>
            <a:endParaRPr lang="en-US" sz="1050" dirty="0"/>
          </a:p>
        </p:txBody>
      </p:sp>
      <p:sp>
        <p:nvSpPr>
          <p:cNvPr id="60" name="Shape 58"/>
          <p:cNvSpPr/>
          <p:nvPr/>
        </p:nvSpPr>
        <p:spPr>
          <a:xfrm>
            <a:off x="6693408" y="3785616"/>
            <a:ext cx="1792224" cy="301752"/>
          </a:xfrm>
          <a:prstGeom prst="rect">
            <a:avLst/>
          </a:prstGeom>
          <a:solidFill>
            <a:srgbClr val="FFFFFF"/>
          </a:solidFill>
          <a:ln w="12700">
            <a:solidFill>
              <a:srgbClr val="C8D6E5"/>
            </a:solidFill>
            <a:prstDash val="solid"/>
          </a:ln>
        </p:spPr>
      </p:sp>
      <p:sp>
        <p:nvSpPr>
          <p:cNvPr id="61" name="Text 59"/>
          <p:cNvSpPr/>
          <p:nvPr/>
        </p:nvSpPr>
        <p:spPr>
          <a:xfrm>
            <a:off x="6693408" y="3785616"/>
            <a:ext cx="1792224" cy="301752"/>
          </a:xfrm>
          <a:prstGeom prst="rect">
            <a:avLst/>
          </a:prstGeom>
          <a:noFill/>
          <a:ln/>
        </p:spPr>
        <p:txBody>
          <a:bodyPr wrap="square" lIns="0" tIns="0" rIns="0" bIns="0" rtlCol="0" anchor="ctr"/>
          <a:lstStyle/>
          <a:p>
            <a:pPr algn="ctr" indent="0" marL="0">
              <a:buNone/>
            </a:pPr>
            <a:r>
              <a:rPr lang="en-US" sz="1050" b="1" dirty="0">
                <a:solidFill>
                  <a:srgbClr val="028090"/>
                </a:solidFill>
                <a:latin typeface="Trebuchet MS" pitchFamily="34" charset="0"/>
                <a:ea typeface="Trebuchet MS" pitchFamily="34" charset="-122"/>
                <a:cs typeface="Trebuchet MS" pitchFamily="34" charset="-120"/>
              </a:rPr>
              <a:t>40</a:t>
            </a:r>
            <a:endParaRPr lang="en-US" sz="1050" dirty="0"/>
          </a:p>
        </p:txBody>
      </p:sp>
      <p:sp>
        <p:nvSpPr>
          <p:cNvPr id="62" name="Shape 60"/>
          <p:cNvSpPr/>
          <p:nvPr/>
        </p:nvSpPr>
        <p:spPr>
          <a:xfrm>
            <a:off x="256032" y="4087368"/>
            <a:ext cx="3218688" cy="301752"/>
          </a:xfrm>
          <a:prstGeom prst="rect">
            <a:avLst/>
          </a:prstGeom>
          <a:solidFill>
            <a:srgbClr val="E8EEF5"/>
          </a:solidFill>
          <a:ln w="12700">
            <a:solidFill>
              <a:srgbClr val="C8D6E5"/>
            </a:solidFill>
            <a:prstDash val="solid"/>
          </a:ln>
        </p:spPr>
      </p:sp>
      <p:sp>
        <p:nvSpPr>
          <p:cNvPr id="63" name="Text 61"/>
          <p:cNvSpPr/>
          <p:nvPr/>
        </p:nvSpPr>
        <p:spPr>
          <a:xfrm>
            <a:off x="256032" y="4087368"/>
            <a:ext cx="3218688" cy="301752"/>
          </a:xfrm>
          <a:prstGeom prst="rect">
            <a:avLst/>
          </a:prstGeom>
          <a:noFill/>
          <a:ln/>
        </p:spPr>
        <p:txBody>
          <a:bodyPr wrap="square" lIns="88900" tIns="88900" rIns="88900" bIns="88900" rtlCol="0" anchor="ctr"/>
          <a:lstStyle/>
          <a:p>
            <a:pPr algn="l" indent="0" marL="0">
              <a:buNone/>
            </a:pPr>
            <a:r>
              <a:rPr lang="en-US" sz="1050" dirty="0">
                <a:solidFill>
                  <a:srgbClr val="0D1B2A"/>
                </a:solidFill>
                <a:latin typeface="Trebuchet MS" pitchFamily="34" charset="0"/>
                <a:ea typeface="Trebuchet MS" pitchFamily="34" charset="-122"/>
                <a:cs typeface="Trebuchet MS" pitchFamily="34" charset="-120"/>
              </a:rPr>
              <a:t>Abacus to Thermodynamics (3)</a:t>
            </a:r>
            <a:endParaRPr lang="en-US" sz="1050" dirty="0"/>
          </a:p>
        </p:txBody>
      </p:sp>
      <p:sp>
        <p:nvSpPr>
          <p:cNvPr id="64" name="Shape 62"/>
          <p:cNvSpPr/>
          <p:nvPr/>
        </p:nvSpPr>
        <p:spPr>
          <a:xfrm>
            <a:off x="3474720" y="4087368"/>
            <a:ext cx="1609344" cy="301752"/>
          </a:xfrm>
          <a:prstGeom prst="rect">
            <a:avLst/>
          </a:prstGeom>
          <a:solidFill>
            <a:srgbClr val="E8EEF5"/>
          </a:solidFill>
          <a:ln w="12700">
            <a:solidFill>
              <a:srgbClr val="C8D6E5"/>
            </a:solidFill>
            <a:prstDash val="solid"/>
          </a:ln>
        </p:spPr>
      </p:sp>
      <p:sp>
        <p:nvSpPr>
          <p:cNvPr id="65" name="Text 63"/>
          <p:cNvSpPr/>
          <p:nvPr/>
        </p:nvSpPr>
        <p:spPr>
          <a:xfrm>
            <a:off x="3474720" y="4087368"/>
            <a:ext cx="1609344" cy="301752"/>
          </a:xfrm>
          <a:prstGeom prst="rect">
            <a:avLst/>
          </a:prstGeom>
          <a:noFill/>
          <a:ln/>
        </p:spPr>
        <p:txBody>
          <a:bodyPr wrap="square" lIns="0" tIns="0" rIns="0" bIns="0" rtlCol="0" anchor="ctr"/>
          <a:lstStyle/>
          <a:p>
            <a:pPr algn="ctr" indent="0" marL="0">
              <a:buNone/>
            </a:pPr>
            <a:r>
              <a:rPr lang="en-US" sz="1050" dirty="0">
                <a:solidFill>
                  <a:srgbClr val="0D1B2A"/>
                </a:solidFill>
                <a:latin typeface="Trebuchet MS" pitchFamily="34" charset="0"/>
                <a:ea typeface="Trebuchet MS" pitchFamily="34" charset="-122"/>
                <a:cs typeface="Trebuchet MS" pitchFamily="34" charset="-120"/>
              </a:rPr>
              <a:t>915</a:t>
            </a:r>
            <a:endParaRPr lang="en-US" sz="1050" dirty="0"/>
          </a:p>
        </p:txBody>
      </p:sp>
      <p:sp>
        <p:nvSpPr>
          <p:cNvPr id="66" name="Shape 64"/>
          <p:cNvSpPr/>
          <p:nvPr/>
        </p:nvSpPr>
        <p:spPr>
          <a:xfrm>
            <a:off x="5084064" y="4087368"/>
            <a:ext cx="1609344" cy="301752"/>
          </a:xfrm>
          <a:prstGeom prst="rect">
            <a:avLst/>
          </a:prstGeom>
          <a:solidFill>
            <a:srgbClr val="E8EEF5"/>
          </a:solidFill>
          <a:ln w="12700">
            <a:solidFill>
              <a:srgbClr val="C8D6E5"/>
            </a:solidFill>
            <a:prstDash val="solid"/>
          </a:ln>
        </p:spPr>
      </p:sp>
      <p:sp>
        <p:nvSpPr>
          <p:cNvPr id="67" name="Text 65"/>
          <p:cNvSpPr/>
          <p:nvPr/>
        </p:nvSpPr>
        <p:spPr>
          <a:xfrm>
            <a:off x="5084064" y="4087368"/>
            <a:ext cx="1609344" cy="301752"/>
          </a:xfrm>
          <a:prstGeom prst="rect">
            <a:avLst/>
          </a:prstGeom>
          <a:noFill/>
          <a:ln/>
        </p:spPr>
        <p:txBody>
          <a:bodyPr wrap="square" lIns="0" tIns="0" rIns="0" bIns="0" rtlCol="0" anchor="ctr"/>
          <a:lstStyle/>
          <a:p>
            <a:pPr algn="ctr" indent="0" marL="0">
              <a:buNone/>
            </a:pPr>
            <a:r>
              <a:rPr lang="en-US" sz="1050" dirty="0">
                <a:solidFill>
                  <a:srgbClr val="0D1B2A"/>
                </a:solidFill>
                <a:latin typeface="Trebuchet MS" pitchFamily="34" charset="0"/>
                <a:ea typeface="Trebuchet MS" pitchFamily="34" charset="-122"/>
                <a:cs typeface="Trebuchet MS" pitchFamily="34" charset="-120"/>
              </a:rPr>
              <a:t>12,316</a:t>
            </a:r>
            <a:endParaRPr lang="en-US" sz="1050" dirty="0"/>
          </a:p>
        </p:txBody>
      </p:sp>
      <p:sp>
        <p:nvSpPr>
          <p:cNvPr id="68" name="Shape 66"/>
          <p:cNvSpPr/>
          <p:nvPr/>
        </p:nvSpPr>
        <p:spPr>
          <a:xfrm>
            <a:off x="6693408" y="4087368"/>
            <a:ext cx="1792224" cy="301752"/>
          </a:xfrm>
          <a:prstGeom prst="rect">
            <a:avLst/>
          </a:prstGeom>
          <a:solidFill>
            <a:srgbClr val="E8EEF5"/>
          </a:solidFill>
          <a:ln w="12700">
            <a:solidFill>
              <a:srgbClr val="C8D6E5"/>
            </a:solidFill>
            <a:prstDash val="solid"/>
          </a:ln>
        </p:spPr>
      </p:sp>
      <p:sp>
        <p:nvSpPr>
          <p:cNvPr id="69" name="Text 67"/>
          <p:cNvSpPr/>
          <p:nvPr/>
        </p:nvSpPr>
        <p:spPr>
          <a:xfrm>
            <a:off x="6693408" y="4087368"/>
            <a:ext cx="1792224" cy="301752"/>
          </a:xfrm>
          <a:prstGeom prst="rect">
            <a:avLst/>
          </a:prstGeom>
          <a:noFill/>
          <a:ln/>
        </p:spPr>
        <p:txBody>
          <a:bodyPr wrap="square" lIns="0" tIns="0" rIns="0" bIns="0" rtlCol="0" anchor="ctr"/>
          <a:lstStyle/>
          <a:p>
            <a:pPr algn="ctr" indent="0" marL="0">
              <a:buNone/>
            </a:pPr>
            <a:r>
              <a:rPr lang="en-US" sz="1050" b="1" dirty="0">
                <a:solidFill>
                  <a:srgbClr val="028090"/>
                </a:solidFill>
                <a:latin typeface="Trebuchet MS" pitchFamily="34" charset="0"/>
                <a:ea typeface="Trebuchet MS" pitchFamily="34" charset="-122"/>
                <a:cs typeface="Trebuchet MS" pitchFamily="34" charset="-120"/>
              </a:rPr>
              <a:t>4</a:t>
            </a:r>
            <a:endParaRPr lang="en-US" sz="1050" dirty="0"/>
          </a:p>
        </p:txBody>
      </p:sp>
      <p:sp>
        <p:nvSpPr>
          <p:cNvPr id="70" name="Text 68"/>
          <p:cNvSpPr/>
          <p:nvPr/>
        </p:nvSpPr>
        <p:spPr>
          <a:xfrm>
            <a:off x="256032" y="4864608"/>
            <a:ext cx="8631936" cy="201168"/>
          </a:xfrm>
          <a:prstGeom prst="rect">
            <a:avLst/>
          </a:prstGeom>
          <a:noFill/>
          <a:ln/>
        </p:spPr>
        <p:txBody>
          <a:bodyPr wrap="square" lIns="0" tIns="0" rIns="0" bIns="0" rtlCol="0" anchor="ctr"/>
          <a:lstStyle/>
          <a:p>
            <a:pPr indent="0" marL="0">
              <a:buNone/>
            </a:pPr>
            <a:r>
              <a:rPr lang="en-US" sz="950" i="1" dirty="0">
                <a:solidFill>
                  <a:srgbClr val="8A9BB0"/>
                </a:solidFill>
                <a:latin typeface="Trebuchet MS" pitchFamily="34" charset="0"/>
                <a:ea typeface="Trebuchet MS" pitchFamily="34" charset="-122"/>
                <a:cs typeface="Trebuchet MS" pitchFamily="34" charset="-120"/>
              </a:rPr>
              <a:t>Pages expanded = pages whose link lists were actually examined.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3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658368"/>
            <a:ext cx="9144000" cy="64008"/>
          </a:xfrm>
          <a:prstGeom prst="rect">
            <a:avLst/>
          </a:prstGeom>
          <a:solidFill>
            <a:srgbClr val="00A896"/>
          </a:solidFill>
          <a:ln w="12700">
            <a:solidFill>
              <a:srgbClr val="00A896"/>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Example Paths Found</a:t>
            </a:r>
            <a:endParaRPr lang="en-US" sz="2200" dirty="0"/>
          </a:p>
        </p:txBody>
      </p:sp>
      <p:sp>
        <p:nvSpPr>
          <p:cNvPr id="5" name="Text 3"/>
          <p:cNvSpPr/>
          <p:nvPr/>
        </p:nvSpPr>
        <p:spPr>
          <a:xfrm>
            <a:off x="384048" y="822960"/>
            <a:ext cx="8375904" cy="320040"/>
          </a:xfrm>
          <a:prstGeom prst="rect">
            <a:avLst/>
          </a:prstGeom>
          <a:noFill/>
          <a:ln/>
        </p:spPr>
        <p:txBody>
          <a:bodyPr wrap="square" lIns="0" tIns="0" rIns="0" bIns="0" rtlCol="0" anchor="ctr"/>
          <a:lstStyle/>
          <a:p>
            <a:pPr indent="0" marL="0">
              <a:buNone/>
            </a:pPr>
            <a:r>
              <a:rPr lang="en-US" sz="1300" dirty="0">
                <a:solidFill>
                  <a:srgbClr val="4A5568"/>
                </a:solidFill>
                <a:latin typeface="Trebuchet MS" pitchFamily="34" charset="0"/>
                <a:ea typeface="Trebuchet MS" pitchFamily="34" charset="-122"/>
                <a:cs typeface="Trebuchet MS" pitchFamily="34" charset="-120"/>
              </a:rPr>
              <a:t>All three algorithms found the same path length. The routes themselves reveal how different the graph is from semantic space.</a:t>
            </a:r>
            <a:endParaRPr lang="en-US" sz="1300" dirty="0"/>
          </a:p>
        </p:txBody>
      </p:sp>
      <p:sp>
        <p:nvSpPr>
          <p:cNvPr id="6" name="Text 4"/>
          <p:cNvSpPr/>
          <p:nvPr/>
        </p:nvSpPr>
        <p:spPr>
          <a:xfrm>
            <a:off x="384048" y="1261872"/>
            <a:ext cx="8375904" cy="256032"/>
          </a:xfrm>
          <a:prstGeom prst="rect">
            <a:avLst/>
          </a:prstGeom>
          <a:noFill/>
          <a:ln/>
        </p:spPr>
        <p:txBody>
          <a:bodyPr wrap="square" lIns="0" tIns="0" rIns="0" bIns="0" rtlCol="0" anchor="ctr"/>
          <a:lstStyle/>
          <a:p>
            <a:pPr indent="0" marL="0">
              <a:buNone/>
            </a:pPr>
            <a:r>
              <a:rPr lang="en-US" sz="1200" b="1" dirty="0">
                <a:solidFill>
                  <a:srgbClr val="0D1B2A"/>
                </a:solidFill>
                <a:latin typeface="Trebuchet MS" pitchFamily="34" charset="0"/>
                <a:ea typeface="Trebuchet MS" pitchFamily="34" charset="-122"/>
                <a:cs typeface="Trebuchet MS" pitchFamily="34" charset="-120"/>
              </a:rPr>
              <a:t>Dependency → Guitar pick  (4 links, IDDFS / BiDir path)</a:t>
            </a:r>
            <a:endParaRPr lang="en-US" sz="1200" dirty="0"/>
          </a:p>
        </p:txBody>
      </p:sp>
      <p:sp>
        <p:nvSpPr>
          <p:cNvPr id="7" name="Shape 5"/>
          <p:cNvSpPr/>
          <p:nvPr/>
        </p:nvSpPr>
        <p:spPr>
          <a:xfrm>
            <a:off x="1197864" y="1554480"/>
            <a:ext cx="1188720" cy="420624"/>
          </a:xfrm>
          <a:prstGeom prst="rect">
            <a:avLst/>
          </a:prstGeom>
          <a:solidFill>
            <a:srgbClr val="0D1B2A"/>
          </a:solidFill>
          <a:ln w="12700">
            <a:solidFill>
              <a:srgbClr val="0D1B2A"/>
            </a:solidFill>
            <a:prstDash val="solid"/>
          </a:ln>
          <a:effectLst>
            <a:outerShdw sx="100000" sy="100000" kx="0" ky="0" algn="bl" rotWithShape="0" blurRad="88900" dist="38100" dir="8100000">
              <a:srgbClr val="000000">
                <a:alpha val="11000"/>
              </a:srgbClr>
            </a:outerShdw>
          </a:effectLst>
        </p:spPr>
      </p:sp>
      <p:sp>
        <p:nvSpPr>
          <p:cNvPr id="8" name="Text 6"/>
          <p:cNvSpPr/>
          <p:nvPr/>
        </p:nvSpPr>
        <p:spPr>
          <a:xfrm>
            <a:off x="1197864" y="1554480"/>
            <a:ext cx="1188720" cy="420624"/>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Dependency</a:t>
            </a:r>
            <a:endParaRPr lang="en-US" sz="1000" dirty="0"/>
          </a:p>
        </p:txBody>
      </p:sp>
      <p:sp>
        <p:nvSpPr>
          <p:cNvPr id="9" name="Shape 7"/>
          <p:cNvSpPr/>
          <p:nvPr/>
        </p:nvSpPr>
        <p:spPr>
          <a:xfrm>
            <a:off x="2386584" y="1728216"/>
            <a:ext cx="201168" cy="73152"/>
          </a:xfrm>
          <a:prstGeom prst="rect">
            <a:avLst/>
          </a:prstGeom>
          <a:solidFill>
            <a:srgbClr val="8A9BB0"/>
          </a:solidFill>
          <a:ln w="12700">
            <a:solidFill>
              <a:srgbClr val="8A9BB0"/>
            </a:solidFill>
            <a:prstDash val="solid"/>
          </a:ln>
        </p:spPr>
      </p:sp>
      <p:sp>
        <p:nvSpPr>
          <p:cNvPr id="10" name="Shape 8"/>
          <p:cNvSpPr/>
          <p:nvPr/>
        </p:nvSpPr>
        <p:spPr>
          <a:xfrm>
            <a:off x="2587752" y="1554480"/>
            <a:ext cx="1188720" cy="420624"/>
          </a:xfrm>
          <a:prstGeom prst="rect">
            <a:avLst/>
          </a:prstGeom>
          <a:solidFill>
            <a:srgbClr val="8A9BB0"/>
          </a:solidFill>
          <a:ln w="12700">
            <a:solidFill>
              <a:srgbClr val="8A9BB0"/>
            </a:solidFill>
            <a:prstDash val="solid"/>
          </a:ln>
          <a:effectLst>
            <a:outerShdw sx="100000" sy="100000" kx="0" ky="0" algn="bl" rotWithShape="0" blurRad="88900" dist="38100" dir="8100000">
              <a:srgbClr val="000000">
                <a:alpha val="11000"/>
              </a:srgbClr>
            </a:outerShdw>
          </a:effectLst>
        </p:spPr>
      </p:sp>
      <p:sp>
        <p:nvSpPr>
          <p:cNvPr id="11" name="Text 9"/>
          <p:cNvSpPr/>
          <p:nvPr/>
        </p:nvSpPr>
        <p:spPr>
          <a:xfrm>
            <a:off x="2587752" y="1554480"/>
            <a:ext cx="1188720" cy="420624"/>
          </a:xfrm>
          <a:prstGeom prst="rect">
            <a:avLst/>
          </a:prstGeom>
          <a:noFill/>
          <a:ln/>
        </p:spPr>
        <p:txBody>
          <a:bodyPr wrap="square" lIns="25400" tIns="25400" rIns="25400" bIns="25400" rtlCol="0" anchor="ctr"/>
          <a:lstStyle/>
          <a:p>
            <a:pPr algn="ctr" indent="0" marL="0">
              <a:buNone/>
            </a:pPr>
            <a:r>
              <a:rPr lang="en-US" sz="950" dirty="0">
                <a:solidFill>
                  <a:srgbClr val="FFFFFF"/>
                </a:solidFill>
                <a:latin typeface="Trebuchet MS" pitchFamily="34" charset="0"/>
                <a:ea typeface="Trebuchet MS" pitchFamily="34" charset="-122"/>
                <a:cs typeface="Trebuchet MS" pitchFamily="34" charset="-120"/>
              </a:rPr>
              <a:t>Substance</a:t>
            </a:r>
            <a:endParaRPr lang="en-US" sz="950" dirty="0"/>
          </a:p>
          <a:p>
            <a:pPr algn="ctr" indent="0" marL="0">
              <a:buNone/>
            </a:pPr>
            <a:r>
              <a:rPr lang="en-US" sz="950" dirty="0">
                <a:solidFill>
                  <a:srgbClr val="FFFFFF"/>
                </a:solidFill>
                <a:latin typeface="Trebuchet MS" pitchFamily="34" charset="0"/>
                <a:ea typeface="Trebuchet MS" pitchFamily="34" charset="-122"/>
                <a:cs typeface="Trebuchet MS" pitchFamily="34" charset="-120"/>
              </a:rPr>
              <a:t>dependence</a:t>
            </a:r>
            <a:endParaRPr lang="en-US" sz="950" dirty="0"/>
          </a:p>
        </p:txBody>
      </p:sp>
      <p:sp>
        <p:nvSpPr>
          <p:cNvPr id="12" name="Shape 10"/>
          <p:cNvSpPr/>
          <p:nvPr/>
        </p:nvSpPr>
        <p:spPr>
          <a:xfrm>
            <a:off x="3776472" y="1728216"/>
            <a:ext cx="201168" cy="73152"/>
          </a:xfrm>
          <a:prstGeom prst="rect">
            <a:avLst/>
          </a:prstGeom>
          <a:solidFill>
            <a:srgbClr val="8A9BB0"/>
          </a:solidFill>
          <a:ln w="12700">
            <a:solidFill>
              <a:srgbClr val="8A9BB0"/>
            </a:solidFill>
            <a:prstDash val="solid"/>
          </a:ln>
        </p:spPr>
      </p:sp>
      <p:sp>
        <p:nvSpPr>
          <p:cNvPr id="13" name="Shape 11"/>
          <p:cNvSpPr/>
          <p:nvPr/>
        </p:nvSpPr>
        <p:spPr>
          <a:xfrm>
            <a:off x="3977640" y="1554480"/>
            <a:ext cx="1188720" cy="420624"/>
          </a:xfrm>
          <a:prstGeom prst="rect">
            <a:avLst/>
          </a:prstGeom>
          <a:solidFill>
            <a:srgbClr val="8A9BB0"/>
          </a:solidFill>
          <a:ln w="12700">
            <a:solidFill>
              <a:srgbClr val="8A9BB0"/>
            </a:solidFill>
            <a:prstDash val="solid"/>
          </a:ln>
          <a:effectLst>
            <a:outerShdw sx="100000" sy="100000" kx="0" ky="0" algn="bl" rotWithShape="0" blurRad="88900" dist="38100" dir="8100000">
              <a:srgbClr val="000000">
                <a:alpha val="11000"/>
              </a:srgbClr>
            </a:outerShdw>
          </a:effectLst>
        </p:spPr>
      </p:sp>
      <p:sp>
        <p:nvSpPr>
          <p:cNvPr id="14" name="Text 12"/>
          <p:cNvSpPr/>
          <p:nvPr/>
        </p:nvSpPr>
        <p:spPr>
          <a:xfrm>
            <a:off x="3977640" y="1554480"/>
            <a:ext cx="1188720" cy="420624"/>
          </a:xfrm>
          <a:prstGeom prst="rect">
            <a:avLst/>
          </a:prstGeom>
          <a:noFill/>
          <a:ln/>
        </p:spPr>
        <p:txBody>
          <a:bodyPr wrap="square" lIns="25400" tIns="25400" rIns="25400" bIns="25400" rtlCol="0" anchor="ctr"/>
          <a:lstStyle/>
          <a:p>
            <a:pPr algn="ctr" indent="0" marL="0">
              <a:buNone/>
            </a:pPr>
            <a:r>
              <a:rPr lang="en-US" sz="950" dirty="0">
                <a:solidFill>
                  <a:srgbClr val="FFFFFF"/>
                </a:solidFill>
                <a:latin typeface="Trebuchet MS" pitchFamily="34" charset="0"/>
                <a:ea typeface="Trebuchet MS" pitchFamily="34" charset="-122"/>
                <a:cs typeface="Trebuchet MS" pitchFamily="34" charset="-120"/>
              </a:rPr>
              <a:t>LSD</a:t>
            </a:r>
            <a:endParaRPr lang="en-US" sz="950" dirty="0"/>
          </a:p>
        </p:txBody>
      </p:sp>
      <p:sp>
        <p:nvSpPr>
          <p:cNvPr id="15" name="Shape 13"/>
          <p:cNvSpPr/>
          <p:nvPr/>
        </p:nvSpPr>
        <p:spPr>
          <a:xfrm>
            <a:off x="5166360" y="1728216"/>
            <a:ext cx="201168" cy="73152"/>
          </a:xfrm>
          <a:prstGeom prst="rect">
            <a:avLst/>
          </a:prstGeom>
          <a:solidFill>
            <a:srgbClr val="8A9BB0"/>
          </a:solidFill>
          <a:ln w="12700">
            <a:solidFill>
              <a:srgbClr val="8A9BB0"/>
            </a:solidFill>
            <a:prstDash val="solid"/>
          </a:ln>
        </p:spPr>
      </p:sp>
      <p:sp>
        <p:nvSpPr>
          <p:cNvPr id="16" name="Shape 14"/>
          <p:cNvSpPr/>
          <p:nvPr/>
        </p:nvSpPr>
        <p:spPr>
          <a:xfrm>
            <a:off x="5367528" y="1554480"/>
            <a:ext cx="1188720" cy="420624"/>
          </a:xfrm>
          <a:prstGeom prst="rect">
            <a:avLst/>
          </a:prstGeom>
          <a:solidFill>
            <a:srgbClr val="8A9BB0"/>
          </a:solidFill>
          <a:ln w="12700">
            <a:solidFill>
              <a:srgbClr val="8A9BB0"/>
            </a:solidFill>
            <a:prstDash val="solid"/>
          </a:ln>
          <a:effectLst>
            <a:outerShdw sx="100000" sy="100000" kx="0" ky="0" algn="bl" rotWithShape="0" blurRad="88900" dist="38100" dir="8100000">
              <a:srgbClr val="000000">
                <a:alpha val="11000"/>
              </a:srgbClr>
            </a:outerShdw>
          </a:effectLst>
        </p:spPr>
      </p:sp>
      <p:sp>
        <p:nvSpPr>
          <p:cNvPr id="17" name="Text 15"/>
          <p:cNvSpPr/>
          <p:nvPr/>
        </p:nvSpPr>
        <p:spPr>
          <a:xfrm>
            <a:off x="5367528" y="1554480"/>
            <a:ext cx="1188720" cy="420624"/>
          </a:xfrm>
          <a:prstGeom prst="rect">
            <a:avLst/>
          </a:prstGeom>
          <a:noFill/>
          <a:ln/>
        </p:spPr>
        <p:txBody>
          <a:bodyPr wrap="square" lIns="25400" tIns="25400" rIns="25400" bIns="25400" rtlCol="0" anchor="ctr"/>
          <a:lstStyle/>
          <a:p>
            <a:pPr algn="ctr" indent="0" marL="0">
              <a:buNone/>
            </a:pPr>
            <a:r>
              <a:rPr lang="en-US" sz="950" dirty="0">
                <a:solidFill>
                  <a:srgbClr val="FFFFFF"/>
                </a:solidFill>
                <a:latin typeface="Trebuchet MS" pitchFamily="34" charset="0"/>
                <a:ea typeface="Trebuchet MS" pitchFamily="34" charset="-122"/>
                <a:cs typeface="Trebuchet MS" pitchFamily="34" charset="-120"/>
              </a:rPr>
              <a:t>Paul</a:t>
            </a:r>
            <a:endParaRPr lang="en-US" sz="950" dirty="0"/>
          </a:p>
          <a:p>
            <a:pPr algn="ctr" indent="0" marL="0">
              <a:buNone/>
            </a:pPr>
            <a:r>
              <a:rPr lang="en-US" sz="950" dirty="0">
                <a:solidFill>
                  <a:srgbClr val="FFFFFF"/>
                </a:solidFill>
                <a:latin typeface="Trebuchet MS" pitchFamily="34" charset="0"/>
                <a:ea typeface="Trebuchet MS" pitchFamily="34" charset="-122"/>
                <a:cs typeface="Trebuchet MS" pitchFamily="34" charset="-120"/>
              </a:rPr>
              <a:t>McCartney</a:t>
            </a:r>
            <a:endParaRPr lang="en-US" sz="950" dirty="0"/>
          </a:p>
        </p:txBody>
      </p:sp>
      <p:sp>
        <p:nvSpPr>
          <p:cNvPr id="18" name="Shape 16"/>
          <p:cNvSpPr/>
          <p:nvPr/>
        </p:nvSpPr>
        <p:spPr>
          <a:xfrm>
            <a:off x="6556248" y="1728216"/>
            <a:ext cx="201168" cy="73152"/>
          </a:xfrm>
          <a:prstGeom prst="rect">
            <a:avLst/>
          </a:prstGeom>
          <a:solidFill>
            <a:srgbClr val="8A9BB0"/>
          </a:solidFill>
          <a:ln w="12700">
            <a:solidFill>
              <a:srgbClr val="8A9BB0"/>
            </a:solidFill>
            <a:prstDash val="solid"/>
          </a:ln>
        </p:spPr>
      </p:sp>
      <p:sp>
        <p:nvSpPr>
          <p:cNvPr id="19" name="Shape 17"/>
          <p:cNvSpPr/>
          <p:nvPr/>
        </p:nvSpPr>
        <p:spPr>
          <a:xfrm>
            <a:off x="6757416" y="1554480"/>
            <a:ext cx="1188720" cy="420624"/>
          </a:xfrm>
          <a:prstGeom prst="rect">
            <a:avLst/>
          </a:prstGeom>
          <a:solidFill>
            <a:srgbClr val="00A896"/>
          </a:solidFill>
          <a:ln w="12700">
            <a:solidFill>
              <a:srgbClr val="00A896"/>
            </a:solidFill>
            <a:prstDash val="solid"/>
          </a:ln>
          <a:effectLst>
            <a:outerShdw sx="100000" sy="100000" kx="0" ky="0" algn="bl" rotWithShape="0" blurRad="88900" dist="38100" dir="8100000">
              <a:srgbClr val="000000">
                <a:alpha val="11000"/>
              </a:srgbClr>
            </a:outerShdw>
          </a:effectLst>
        </p:spPr>
      </p:sp>
      <p:sp>
        <p:nvSpPr>
          <p:cNvPr id="20" name="Text 18"/>
          <p:cNvSpPr/>
          <p:nvPr/>
        </p:nvSpPr>
        <p:spPr>
          <a:xfrm>
            <a:off x="6757416" y="1554480"/>
            <a:ext cx="1188720" cy="420624"/>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Guitar pick</a:t>
            </a:r>
            <a:endParaRPr lang="en-US" sz="1000" dirty="0"/>
          </a:p>
        </p:txBody>
      </p:sp>
      <p:sp>
        <p:nvSpPr>
          <p:cNvPr id="21" name="Text 19"/>
          <p:cNvSpPr/>
          <p:nvPr/>
        </p:nvSpPr>
        <p:spPr>
          <a:xfrm>
            <a:off x="384048" y="2212848"/>
            <a:ext cx="8375904" cy="256032"/>
          </a:xfrm>
          <a:prstGeom prst="rect">
            <a:avLst/>
          </a:prstGeom>
          <a:noFill/>
          <a:ln/>
        </p:spPr>
        <p:txBody>
          <a:bodyPr wrap="square" lIns="0" tIns="0" rIns="0" bIns="0" rtlCol="0" anchor="ctr"/>
          <a:lstStyle/>
          <a:p>
            <a:pPr indent="0" marL="0">
              <a:buNone/>
            </a:pPr>
            <a:r>
              <a:rPr lang="en-US" sz="1200" b="1" dirty="0">
                <a:solidFill>
                  <a:srgbClr val="0D1B2A"/>
                </a:solidFill>
                <a:latin typeface="Trebuchet MS" pitchFamily="34" charset="0"/>
                <a:ea typeface="Trebuchet MS" pitchFamily="34" charset="-122"/>
                <a:cs typeface="Trebuchet MS" pitchFamily="34" charset="-120"/>
              </a:rPr>
              <a:t>Cream → HOSE  (5 links, BiDir path)</a:t>
            </a:r>
            <a:endParaRPr lang="en-US" sz="1200" dirty="0"/>
          </a:p>
        </p:txBody>
      </p:sp>
      <p:sp>
        <p:nvSpPr>
          <p:cNvPr id="22" name="Shape 20"/>
          <p:cNvSpPr/>
          <p:nvPr/>
        </p:nvSpPr>
        <p:spPr>
          <a:xfrm>
            <a:off x="502920" y="2505456"/>
            <a:ext cx="1188720" cy="420624"/>
          </a:xfrm>
          <a:prstGeom prst="rect">
            <a:avLst/>
          </a:prstGeom>
          <a:solidFill>
            <a:srgbClr val="0D1B2A"/>
          </a:solidFill>
          <a:ln w="12700">
            <a:solidFill>
              <a:srgbClr val="0D1B2A"/>
            </a:solidFill>
            <a:prstDash val="solid"/>
          </a:ln>
          <a:effectLst>
            <a:outerShdw sx="100000" sy="100000" kx="0" ky="0" algn="bl" rotWithShape="0" blurRad="88900" dist="38100" dir="8100000">
              <a:srgbClr val="000000">
                <a:alpha val="11000"/>
              </a:srgbClr>
            </a:outerShdw>
          </a:effectLst>
        </p:spPr>
      </p:sp>
      <p:sp>
        <p:nvSpPr>
          <p:cNvPr id="23" name="Text 21"/>
          <p:cNvSpPr/>
          <p:nvPr/>
        </p:nvSpPr>
        <p:spPr>
          <a:xfrm>
            <a:off x="502920" y="2505456"/>
            <a:ext cx="1188720" cy="420624"/>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Cream</a:t>
            </a:r>
            <a:endParaRPr lang="en-US" sz="1000" dirty="0"/>
          </a:p>
        </p:txBody>
      </p:sp>
      <p:sp>
        <p:nvSpPr>
          <p:cNvPr id="24" name="Shape 22"/>
          <p:cNvSpPr/>
          <p:nvPr/>
        </p:nvSpPr>
        <p:spPr>
          <a:xfrm>
            <a:off x="1691640" y="2679192"/>
            <a:ext cx="201168" cy="73152"/>
          </a:xfrm>
          <a:prstGeom prst="rect">
            <a:avLst/>
          </a:prstGeom>
          <a:solidFill>
            <a:srgbClr val="8A9BB0"/>
          </a:solidFill>
          <a:ln w="12700">
            <a:solidFill>
              <a:srgbClr val="8A9BB0"/>
            </a:solidFill>
            <a:prstDash val="solid"/>
          </a:ln>
        </p:spPr>
      </p:sp>
      <p:sp>
        <p:nvSpPr>
          <p:cNvPr id="25" name="Shape 23"/>
          <p:cNvSpPr/>
          <p:nvPr/>
        </p:nvSpPr>
        <p:spPr>
          <a:xfrm>
            <a:off x="1892808" y="2505456"/>
            <a:ext cx="1188720" cy="420624"/>
          </a:xfrm>
          <a:prstGeom prst="rect">
            <a:avLst/>
          </a:prstGeom>
          <a:solidFill>
            <a:srgbClr val="8A9BB0"/>
          </a:solidFill>
          <a:ln w="12700">
            <a:solidFill>
              <a:srgbClr val="8A9BB0"/>
            </a:solidFill>
            <a:prstDash val="solid"/>
          </a:ln>
          <a:effectLst>
            <a:outerShdw sx="100000" sy="100000" kx="0" ky="0" algn="bl" rotWithShape="0" blurRad="88900" dist="38100" dir="8100000">
              <a:srgbClr val="000000">
                <a:alpha val="11000"/>
              </a:srgbClr>
            </a:outerShdw>
          </a:effectLst>
        </p:spPr>
      </p:sp>
      <p:sp>
        <p:nvSpPr>
          <p:cNvPr id="26" name="Text 24"/>
          <p:cNvSpPr/>
          <p:nvPr/>
        </p:nvSpPr>
        <p:spPr>
          <a:xfrm>
            <a:off x="1892808" y="2505456"/>
            <a:ext cx="1188720" cy="420624"/>
          </a:xfrm>
          <a:prstGeom prst="rect">
            <a:avLst/>
          </a:prstGeom>
          <a:noFill/>
          <a:ln/>
        </p:spPr>
        <p:txBody>
          <a:bodyPr wrap="square" lIns="25400" tIns="25400" rIns="25400" bIns="25400" rtlCol="0" anchor="ctr"/>
          <a:lstStyle/>
          <a:p>
            <a:pPr algn="ctr" indent="0" marL="0">
              <a:buNone/>
            </a:pPr>
            <a:r>
              <a:rPr lang="en-US" sz="950" dirty="0">
                <a:solidFill>
                  <a:srgbClr val="FFFFFF"/>
                </a:solidFill>
                <a:latin typeface="Trebuchet MS" pitchFamily="34" charset="0"/>
                <a:ea typeface="Trebuchet MS" pitchFamily="34" charset="-122"/>
                <a:cs typeface="Trebuchet MS" pitchFamily="34" charset="-120"/>
              </a:rPr>
              <a:t>Engineering</a:t>
            </a:r>
            <a:endParaRPr lang="en-US" sz="950" dirty="0"/>
          </a:p>
        </p:txBody>
      </p:sp>
      <p:sp>
        <p:nvSpPr>
          <p:cNvPr id="27" name="Shape 25"/>
          <p:cNvSpPr/>
          <p:nvPr/>
        </p:nvSpPr>
        <p:spPr>
          <a:xfrm>
            <a:off x="3081528" y="2679192"/>
            <a:ext cx="201168" cy="73152"/>
          </a:xfrm>
          <a:prstGeom prst="rect">
            <a:avLst/>
          </a:prstGeom>
          <a:solidFill>
            <a:srgbClr val="8A9BB0"/>
          </a:solidFill>
          <a:ln w="12700">
            <a:solidFill>
              <a:srgbClr val="8A9BB0"/>
            </a:solidFill>
            <a:prstDash val="solid"/>
          </a:ln>
        </p:spPr>
      </p:sp>
      <p:sp>
        <p:nvSpPr>
          <p:cNvPr id="28" name="Shape 26"/>
          <p:cNvSpPr/>
          <p:nvPr/>
        </p:nvSpPr>
        <p:spPr>
          <a:xfrm>
            <a:off x="3282696" y="2505456"/>
            <a:ext cx="1188720" cy="420624"/>
          </a:xfrm>
          <a:prstGeom prst="rect">
            <a:avLst/>
          </a:prstGeom>
          <a:solidFill>
            <a:srgbClr val="8A9BB0"/>
          </a:solidFill>
          <a:ln w="12700">
            <a:solidFill>
              <a:srgbClr val="8A9BB0"/>
            </a:solidFill>
            <a:prstDash val="solid"/>
          </a:ln>
          <a:effectLst>
            <a:outerShdw sx="100000" sy="100000" kx="0" ky="0" algn="bl" rotWithShape="0" blurRad="88900" dist="38100" dir="8100000">
              <a:srgbClr val="000000">
                <a:alpha val="11000"/>
              </a:srgbClr>
            </a:outerShdw>
          </a:effectLst>
        </p:spPr>
      </p:sp>
      <p:sp>
        <p:nvSpPr>
          <p:cNvPr id="29" name="Text 27"/>
          <p:cNvSpPr/>
          <p:nvPr/>
        </p:nvSpPr>
        <p:spPr>
          <a:xfrm>
            <a:off x="3282696" y="2505456"/>
            <a:ext cx="1188720" cy="420624"/>
          </a:xfrm>
          <a:prstGeom prst="rect">
            <a:avLst/>
          </a:prstGeom>
          <a:noFill/>
          <a:ln/>
        </p:spPr>
        <p:txBody>
          <a:bodyPr wrap="square" lIns="25400" tIns="25400" rIns="25400" bIns="25400" rtlCol="0" anchor="ctr"/>
          <a:lstStyle/>
          <a:p>
            <a:pPr algn="ctr" indent="0" marL="0">
              <a:buNone/>
            </a:pPr>
            <a:r>
              <a:rPr lang="en-US" sz="950" dirty="0">
                <a:solidFill>
                  <a:srgbClr val="FFFFFF"/>
                </a:solidFill>
                <a:latin typeface="Trebuchet MS" pitchFamily="34" charset="0"/>
                <a:ea typeface="Trebuchet MS" pitchFamily="34" charset="-122"/>
                <a:cs typeface="Trebuchet MS" pitchFamily="34" charset="-120"/>
              </a:rPr>
              <a:t>U of</a:t>
            </a:r>
            <a:endParaRPr lang="en-US" sz="950" dirty="0"/>
          </a:p>
          <a:p>
            <a:pPr algn="ctr" indent="0" marL="0">
              <a:buNone/>
            </a:pPr>
            <a:r>
              <a:rPr lang="en-US" sz="950" dirty="0">
                <a:solidFill>
                  <a:srgbClr val="FFFFFF"/>
                </a:solidFill>
                <a:latin typeface="Trebuchet MS" pitchFamily="34" charset="0"/>
                <a:ea typeface="Trebuchet MS" pitchFamily="34" charset="-122"/>
                <a:cs typeface="Trebuchet MS" pitchFamily="34" charset="-120"/>
              </a:rPr>
              <a:t>Minnesota</a:t>
            </a:r>
            <a:endParaRPr lang="en-US" sz="950" dirty="0"/>
          </a:p>
        </p:txBody>
      </p:sp>
      <p:sp>
        <p:nvSpPr>
          <p:cNvPr id="30" name="Shape 28"/>
          <p:cNvSpPr/>
          <p:nvPr/>
        </p:nvSpPr>
        <p:spPr>
          <a:xfrm>
            <a:off x="4471416" y="2679192"/>
            <a:ext cx="201168" cy="73152"/>
          </a:xfrm>
          <a:prstGeom prst="rect">
            <a:avLst/>
          </a:prstGeom>
          <a:solidFill>
            <a:srgbClr val="8A9BB0"/>
          </a:solidFill>
          <a:ln w="12700">
            <a:solidFill>
              <a:srgbClr val="8A9BB0"/>
            </a:solidFill>
            <a:prstDash val="solid"/>
          </a:ln>
        </p:spPr>
      </p:sp>
      <p:sp>
        <p:nvSpPr>
          <p:cNvPr id="31" name="Shape 29"/>
          <p:cNvSpPr/>
          <p:nvPr/>
        </p:nvSpPr>
        <p:spPr>
          <a:xfrm>
            <a:off x="4672584" y="2505456"/>
            <a:ext cx="1188720" cy="420624"/>
          </a:xfrm>
          <a:prstGeom prst="rect">
            <a:avLst/>
          </a:prstGeom>
          <a:solidFill>
            <a:srgbClr val="8A9BB0"/>
          </a:solidFill>
          <a:ln w="12700">
            <a:solidFill>
              <a:srgbClr val="8A9BB0"/>
            </a:solidFill>
            <a:prstDash val="solid"/>
          </a:ln>
          <a:effectLst>
            <a:outerShdw sx="100000" sy="100000" kx="0" ky="0" algn="bl" rotWithShape="0" blurRad="88900" dist="38100" dir="8100000">
              <a:srgbClr val="000000">
                <a:alpha val="11000"/>
              </a:srgbClr>
            </a:outerShdw>
          </a:effectLst>
        </p:spPr>
      </p:sp>
      <p:sp>
        <p:nvSpPr>
          <p:cNvPr id="32" name="Text 30"/>
          <p:cNvSpPr/>
          <p:nvPr/>
        </p:nvSpPr>
        <p:spPr>
          <a:xfrm>
            <a:off x="4672584" y="2505456"/>
            <a:ext cx="1188720" cy="420624"/>
          </a:xfrm>
          <a:prstGeom prst="rect">
            <a:avLst/>
          </a:prstGeom>
          <a:noFill/>
          <a:ln/>
        </p:spPr>
        <p:txBody>
          <a:bodyPr wrap="square" lIns="25400" tIns="25400" rIns="25400" bIns="25400" rtlCol="0" anchor="ctr"/>
          <a:lstStyle/>
          <a:p>
            <a:pPr algn="ctr" indent="0" marL="0">
              <a:buNone/>
            </a:pPr>
            <a:r>
              <a:rPr lang="en-US" sz="950" dirty="0">
                <a:solidFill>
                  <a:srgbClr val="FFFFFF"/>
                </a:solidFill>
                <a:latin typeface="Trebuchet MS" pitchFamily="34" charset="0"/>
                <a:ea typeface="Trebuchet MS" pitchFamily="34" charset="-122"/>
                <a:cs typeface="Trebuchet MS" pitchFamily="34" charset="-120"/>
              </a:rPr>
              <a:t>U of M</a:t>
            </a:r>
            <a:endParaRPr lang="en-US" sz="950" dirty="0"/>
          </a:p>
          <a:p>
            <a:pPr algn="ctr" indent="0" marL="0">
              <a:buNone/>
            </a:pPr>
            <a:r>
              <a:rPr lang="en-US" sz="950" dirty="0">
                <a:solidFill>
                  <a:srgbClr val="FFFFFF"/>
                </a:solidFill>
                <a:latin typeface="Trebuchet MS" pitchFamily="34" charset="0"/>
                <a:ea typeface="Trebuchet MS" pitchFamily="34" charset="-122"/>
                <a:cs typeface="Trebuchet MS" pitchFamily="34" charset="-120"/>
              </a:rPr>
              <a:t>Law School</a:t>
            </a:r>
            <a:endParaRPr lang="en-US" sz="950" dirty="0"/>
          </a:p>
        </p:txBody>
      </p:sp>
      <p:sp>
        <p:nvSpPr>
          <p:cNvPr id="33" name="Shape 31"/>
          <p:cNvSpPr/>
          <p:nvPr/>
        </p:nvSpPr>
        <p:spPr>
          <a:xfrm>
            <a:off x="5861304" y="2679192"/>
            <a:ext cx="201168" cy="73152"/>
          </a:xfrm>
          <a:prstGeom prst="rect">
            <a:avLst/>
          </a:prstGeom>
          <a:solidFill>
            <a:srgbClr val="8A9BB0"/>
          </a:solidFill>
          <a:ln w="12700">
            <a:solidFill>
              <a:srgbClr val="8A9BB0"/>
            </a:solidFill>
            <a:prstDash val="solid"/>
          </a:ln>
        </p:spPr>
      </p:sp>
      <p:sp>
        <p:nvSpPr>
          <p:cNvPr id="34" name="Shape 32"/>
          <p:cNvSpPr/>
          <p:nvPr/>
        </p:nvSpPr>
        <p:spPr>
          <a:xfrm>
            <a:off x="6062472" y="2505456"/>
            <a:ext cx="1188720" cy="420624"/>
          </a:xfrm>
          <a:prstGeom prst="rect">
            <a:avLst/>
          </a:prstGeom>
          <a:solidFill>
            <a:srgbClr val="8A9BB0"/>
          </a:solidFill>
          <a:ln w="12700">
            <a:solidFill>
              <a:srgbClr val="8A9BB0"/>
            </a:solidFill>
            <a:prstDash val="solid"/>
          </a:ln>
          <a:effectLst>
            <a:outerShdw sx="100000" sy="100000" kx="0" ky="0" algn="bl" rotWithShape="0" blurRad="88900" dist="38100" dir="8100000">
              <a:srgbClr val="000000">
                <a:alpha val="11000"/>
              </a:srgbClr>
            </a:outerShdw>
          </a:effectLst>
        </p:spPr>
      </p:sp>
      <p:sp>
        <p:nvSpPr>
          <p:cNvPr id="35" name="Text 33"/>
          <p:cNvSpPr/>
          <p:nvPr/>
        </p:nvSpPr>
        <p:spPr>
          <a:xfrm>
            <a:off x="6062472" y="2505456"/>
            <a:ext cx="1188720" cy="420624"/>
          </a:xfrm>
          <a:prstGeom prst="rect">
            <a:avLst/>
          </a:prstGeom>
          <a:noFill/>
          <a:ln/>
        </p:spPr>
        <p:txBody>
          <a:bodyPr wrap="square" lIns="25400" tIns="25400" rIns="25400" bIns="25400" rtlCol="0" anchor="ctr"/>
          <a:lstStyle/>
          <a:p>
            <a:pPr algn="ctr" indent="0" marL="0">
              <a:buNone/>
            </a:pPr>
            <a:r>
              <a:rPr lang="en-US" sz="950" dirty="0">
                <a:solidFill>
                  <a:srgbClr val="FFFFFF"/>
                </a:solidFill>
                <a:latin typeface="Trebuchet MS" pitchFamily="34" charset="0"/>
                <a:ea typeface="Trebuchet MS" pitchFamily="34" charset="-122"/>
                <a:cs typeface="Trebuchet MS" pitchFamily="34" charset="-120"/>
              </a:rPr>
              <a:t>World Series</a:t>
            </a:r>
            <a:endParaRPr lang="en-US" sz="950" dirty="0"/>
          </a:p>
          <a:p>
            <a:pPr algn="ctr" indent="0" marL="0">
              <a:buNone/>
            </a:pPr>
            <a:r>
              <a:rPr lang="en-US" sz="950" dirty="0">
                <a:solidFill>
                  <a:srgbClr val="FFFFFF"/>
                </a:solidFill>
                <a:latin typeface="Trebuchet MS" pitchFamily="34" charset="0"/>
                <a:ea typeface="Trebuchet MS" pitchFamily="34" charset="-122"/>
                <a:cs typeface="Trebuchet MS" pitchFamily="34" charset="-120"/>
              </a:rPr>
              <a:t>of Poker</a:t>
            </a:r>
            <a:endParaRPr lang="en-US" sz="950" dirty="0"/>
          </a:p>
        </p:txBody>
      </p:sp>
      <p:sp>
        <p:nvSpPr>
          <p:cNvPr id="36" name="Shape 34"/>
          <p:cNvSpPr/>
          <p:nvPr/>
        </p:nvSpPr>
        <p:spPr>
          <a:xfrm>
            <a:off x="7251192" y="2679192"/>
            <a:ext cx="201168" cy="73152"/>
          </a:xfrm>
          <a:prstGeom prst="rect">
            <a:avLst/>
          </a:prstGeom>
          <a:solidFill>
            <a:srgbClr val="8A9BB0"/>
          </a:solidFill>
          <a:ln w="12700">
            <a:solidFill>
              <a:srgbClr val="8A9BB0"/>
            </a:solidFill>
            <a:prstDash val="solid"/>
          </a:ln>
        </p:spPr>
      </p:sp>
      <p:sp>
        <p:nvSpPr>
          <p:cNvPr id="37" name="Shape 35"/>
          <p:cNvSpPr/>
          <p:nvPr/>
        </p:nvSpPr>
        <p:spPr>
          <a:xfrm>
            <a:off x="7452360" y="2505456"/>
            <a:ext cx="1188720" cy="420624"/>
          </a:xfrm>
          <a:prstGeom prst="rect">
            <a:avLst/>
          </a:prstGeom>
          <a:solidFill>
            <a:srgbClr val="00A896"/>
          </a:solidFill>
          <a:ln w="12700">
            <a:solidFill>
              <a:srgbClr val="00A896"/>
            </a:solidFill>
            <a:prstDash val="solid"/>
          </a:ln>
          <a:effectLst>
            <a:outerShdw sx="100000" sy="100000" kx="0" ky="0" algn="bl" rotWithShape="0" blurRad="88900" dist="38100" dir="8100000">
              <a:srgbClr val="000000">
                <a:alpha val="11000"/>
              </a:srgbClr>
            </a:outerShdw>
          </a:effectLst>
        </p:spPr>
      </p:sp>
      <p:sp>
        <p:nvSpPr>
          <p:cNvPr id="38" name="Text 36"/>
          <p:cNvSpPr/>
          <p:nvPr/>
        </p:nvSpPr>
        <p:spPr>
          <a:xfrm>
            <a:off x="7452360" y="2505456"/>
            <a:ext cx="1188720" cy="420624"/>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HOSE</a:t>
            </a:r>
            <a:endParaRPr lang="en-US" sz="1000" dirty="0"/>
          </a:p>
        </p:txBody>
      </p:sp>
      <p:sp>
        <p:nvSpPr>
          <p:cNvPr id="39" name="Text 37"/>
          <p:cNvSpPr/>
          <p:nvPr/>
        </p:nvSpPr>
        <p:spPr>
          <a:xfrm>
            <a:off x="384048" y="3163824"/>
            <a:ext cx="8375904" cy="256032"/>
          </a:xfrm>
          <a:prstGeom prst="rect">
            <a:avLst/>
          </a:prstGeom>
          <a:noFill/>
          <a:ln/>
        </p:spPr>
        <p:txBody>
          <a:bodyPr wrap="square" lIns="0" tIns="0" rIns="0" bIns="0" rtlCol="0" anchor="ctr"/>
          <a:lstStyle/>
          <a:p>
            <a:pPr indent="0" marL="0">
              <a:buNone/>
            </a:pPr>
            <a:r>
              <a:rPr lang="en-US" sz="1200" b="1" dirty="0">
                <a:solidFill>
                  <a:srgbClr val="0D1B2A"/>
                </a:solidFill>
                <a:latin typeface="Trebuchet MS" pitchFamily="34" charset="0"/>
                <a:ea typeface="Trebuchet MS" pitchFamily="34" charset="-122"/>
                <a:cs typeface="Trebuchet MS" pitchFamily="34" charset="-120"/>
              </a:rPr>
              <a:t>Abacus → Thermodynamics  (3 links, BiDir path)</a:t>
            </a:r>
            <a:endParaRPr lang="en-US" sz="1200" dirty="0"/>
          </a:p>
        </p:txBody>
      </p:sp>
      <p:sp>
        <p:nvSpPr>
          <p:cNvPr id="40" name="Shape 38"/>
          <p:cNvSpPr/>
          <p:nvPr/>
        </p:nvSpPr>
        <p:spPr>
          <a:xfrm>
            <a:off x="1892808" y="3456432"/>
            <a:ext cx="1188720" cy="420624"/>
          </a:xfrm>
          <a:prstGeom prst="rect">
            <a:avLst/>
          </a:prstGeom>
          <a:solidFill>
            <a:srgbClr val="0D1B2A"/>
          </a:solidFill>
          <a:ln w="12700">
            <a:solidFill>
              <a:srgbClr val="0D1B2A"/>
            </a:solidFill>
            <a:prstDash val="solid"/>
          </a:ln>
          <a:effectLst>
            <a:outerShdw sx="100000" sy="100000" kx="0" ky="0" algn="bl" rotWithShape="0" blurRad="88900" dist="38100" dir="8100000">
              <a:srgbClr val="000000">
                <a:alpha val="11000"/>
              </a:srgbClr>
            </a:outerShdw>
          </a:effectLst>
        </p:spPr>
      </p:sp>
      <p:sp>
        <p:nvSpPr>
          <p:cNvPr id="41" name="Text 39"/>
          <p:cNvSpPr/>
          <p:nvPr/>
        </p:nvSpPr>
        <p:spPr>
          <a:xfrm>
            <a:off x="1892808" y="3456432"/>
            <a:ext cx="1188720" cy="420624"/>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Abacus</a:t>
            </a:r>
            <a:endParaRPr lang="en-US" sz="1000" dirty="0"/>
          </a:p>
        </p:txBody>
      </p:sp>
      <p:sp>
        <p:nvSpPr>
          <p:cNvPr id="42" name="Shape 40"/>
          <p:cNvSpPr/>
          <p:nvPr/>
        </p:nvSpPr>
        <p:spPr>
          <a:xfrm>
            <a:off x="3081528" y="3630168"/>
            <a:ext cx="201168" cy="73152"/>
          </a:xfrm>
          <a:prstGeom prst="rect">
            <a:avLst/>
          </a:prstGeom>
          <a:solidFill>
            <a:srgbClr val="8A9BB0"/>
          </a:solidFill>
          <a:ln w="12700">
            <a:solidFill>
              <a:srgbClr val="8A9BB0"/>
            </a:solidFill>
            <a:prstDash val="solid"/>
          </a:ln>
        </p:spPr>
      </p:sp>
      <p:sp>
        <p:nvSpPr>
          <p:cNvPr id="43" name="Shape 41"/>
          <p:cNvSpPr/>
          <p:nvPr/>
        </p:nvSpPr>
        <p:spPr>
          <a:xfrm>
            <a:off x="3282696" y="3456432"/>
            <a:ext cx="1188720" cy="420624"/>
          </a:xfrm>
          <a:prstGeom prst="rect">
            <a:avLst/>
          </a:prstGeom>
          <a:solidFill>
            <a:srgbClr val="8A9BB0"/>
          </a:solidFill>
          <a:ln w="12700">
            <a:solidFill>
              <a:srgbClr val="8A9BB0"/>
            </a:solidFill>
            <a:prstDash val="solid"/>
          </a:ln>
          <a:effectLst>
            <a:outerShdw sx="100000" sy="100000" kx="0" ky="0" algn="bl" rotWithShape="0" blurRad="88900" dist="38100" dir="8100000">
              <a:srgbClr val="000000">
                <a:alpha val="11000"/>
              </a:srgbClr>
            </a:outerShdw>
          </a:effectLst>
        </p:spPr>
      </p:sp>
      <p:sp>
        <p:nvSpPr>
          <p:cNvPr id="44" name="Text 42"/>
          <p:cNvSpPr/>
          <p:nvPr/>
        </p:nvSpPr>
        <p:spPr>
          <a:xfrm>
            <a:off x="3282696" y="3456432"/>
            <a:ext cx="1188720" cy="420624"/>
          </a:xfrm>
          <a:prstGeom prst="rect">
            <a:avLst/>
          </a:prstGeom>
          <a:noFill/>
          <a:ln/>
        </p:spPr>
        <p:txBody>
          <a:bodyPr wrap="square" lIns="25400" tIns="25400" rIns="25400" bIns="25400" rtlCol="0" anchor="ctr"/>
          <a:lstStyle/>
          <a:p>
            <a:pPr algn="ctr" indent="0" marL="0">
              <a:buNone/>
            </a:pPr>
            <a:r>
              <a:rPr lang="en-US" sz="950" dirty="0">
                <a:solidFill>
                  <a:srgbClr val="FFFFFF"/>
                </a:solidFill>
                <a:latin typeface="Trebuchet MS" pitchFamily="34" charset="0"/>
                <a:ea typeface="Trebuchet MS" pitchFamily="34" charset="-122"/>
                <a:cs typeface="Trebuchet MS" pitchFamily="34" charset="-120"/>
              </a:rPr>
              <a:t>Jean-Victor</a:t>
            </a:r>
            <a:endParaRPr lang="en-US" sz="950" dirty="0"/>
          </a:p>
          <a:p>
            <a:pPr algn="ctr" indent="0" marL="0">
              <a:buNone/>
            </a:pPr>
            <a:r>
              <a:rPr lang="en-US" sz="950" dirty="0">
                <a:solidFill>
                  <a:srgbClr val="FFFFFF"/>
                </a:solidFill>
                <a:latin typeface="Trebuchet MS" pitchFamily="34" charset="0"/>
                <a:ea typeface="Trebuchet MS" pitchFamily="34" charset="-122"/>
                <a:cs typeface="Trebuchet MS" pitchFamily="34" charset="-120"/>
              </a:rPr>
              <a:t>Poncelet</a:t>
            </a:r>
            <a:endParaRPr lang="en-US" sz="950" dirty="0"/>
          </a:p>
        </p:txBody>
      </p:sp>
      <p:sp>
        <p:nvSpPr>
          <p:cNvPr id="45" name="Shape 43"/>
          <p:cNvSpPr/>
          <p:nvPr/>
        </p:nvSpPr>
        <p:spPr>
          <a:xfrm>
            <a:off x="4471416" y="3630168"/>
            <a:ext cx="201168" cy="73152"/>
          </a:xfrm>
          <a:prstGeom prst="rect">
            <a:avLst/>
          </a:prstGeom>
          <a:solidFill>
            <a:srgbClr val="8A9BB0"/>
          </a:solidFill>
          <a:ln w="12700">
            <a:solidFill>
              <a:srgbClr val="8A9BB0"/>
            </a:solidFill>
            <a:prstDash val="solid"/>
          </a:ln>
        </p:spPr>
      </p:sp>
      <p:sp>
        <p:nvSpPr>
          <p:cNvPr id="46" name="Shape 44"/>
          <p:cNvSpPr/>
          <p:nvPr/>
        </p:nvSpPr>
        <p:spPr>
          <a:xfrm>
            <a:off x="4672584" y="3456432"/>
            <a:ext cx="1188720" cy="420624"/>
          </a:xfrm>
          <a:prstGeom prst="rect">
            <a:avLst/>
          </a:prstGeom>
          <a:solidFill>
            <a:srgbClr val="8A9BB0"/>
          </a:solidFill>
          <a:ln w="12700">
            <a:solidFill>
              <a:srgbClr val="8A9BB0"/>
            </a:solidFill>
            <a:prstDash val="solid"/>
          </a:ln>
          <a:effectLst>
            <a:outerShdw sx="100000" sy="100000" kx="0" ky="0" algn="bl" rotWithShape="0" blurRad="88900" dist="38100" dir="8100000">
              <a:srgbClr val="000000">
                <a:alpha val="11000"/>
              </a:srgbClr>
            </a:outerShdw>
          </a:effectLst>
        </p:spPr>
      </p:sp>
      <p:sp>
        <p:nvSpPr>
          <p:cNvPr id="47" name="Text 45"/>
          <p:cNvSpPr/>
          <p:nvPr/>
        </p:nvSpPr>
        <p:spPr>
          <a:xfrm>
            <a:off x="4672584" y="3456432"/>
            <a:ext cx="1188720" cy="420624"/>
          </a:xfrm>
          <a:prstGeom prst="rect">
            <a:avLst/>
          </a:prstGeom>
          <a:noFill/>
          <a:ln/>
        </p:spPr>
        <p:txBody>
          <a:bodyPr wrap="square" lIns="25400" tIns="25400" rIns="25400" bIns="25400" rtlCol="0" anchor="ctr"/>
          <a:lstStyle/>
          <a:p>
            <a:pPr algn="ctr" indent="0" marL="0">
              <a:buNone/>
            </a:pPr>
            <a:r>
              <a:rPr lang="en-US" sz="950" dirty="0">
                <a:solidFill>
                  <a:srgbClr val="FFFFFF"/>
                </a:solidFill>
                <a:latin typeface="Trebuchet MS" pitchFamily="34" charset="0"/>
                <a:ea typeface="Trebuchet MS" pitchFamily="34" charset="-122"/>
                <a:cs typeface="Trebuchet MS" pitchFamily="34" charset="-120"/>
              </a:rPr>
              <a:t>France</a:t>
            </a:r>
            <a:endParaRPr lang="en-US" sz="950" dirty="0"/>
          </a:p>
        </p:txBody>
      </p:sp>
      <p:sp>
        <p:nvSpPr>
          <p:cNvPr id="48" name="Shape 46"/>
          <p:cNvSpPr/>
          <p:nvPr/>
        </p:nvSpPr>
        <p:spPr>
          <a:xfrm>
            <a:off x="5861304" y="3630168"/>
            <a:ext cx="201168" cy="73152"/>
          </a:xfrm>
          <a:prstGeom prst="rect">
            <a:avLst/>
          </a:prstGeom>
          <a:solidFill>
            <a:srgbClr val="8A9BB0"/>
          </a:solidFill>
          <a:ln w="12700">
            <a:solidFill>
              <a:srgbClr val="8A9BB0"/>
            </a:solidFill>
            <a:prstDash val="solid"/>
          </a:ln>
        </p:spPr>
      </p:sp>
      <p:sp>
        <p:nvSpPr>
          <p:cNvPr id="49" name="Shape 47"/>
          <p:cNvSpPr/>
          <p:nvPr/>
        </p:nvSpPr>
        <p:spPr>
          <a:xfrm>
            <a:off x="6062472" y="3456432"/>
            <a:ext cx="1188720" cy="420624"/>
          </a:xfrm>
          <a:prstGeom prst="rect">
            <a:avLst/>
          </a:prstGeom>
          <a:solidFill>
            <a:srgbClr val="00A896"/>
          </a:solidFill>
          <a:ln w="12700">
            <a:solidFill>
              <a:srgbClr val="00A896"/>
            </a:solidFill>
            <a:prstDash val="solid"/>
          </a:ln>
          <a:effectLst>
            <a:outerShdw sx="100000" sy="100000" kx="0" ky="0" algn="bl" rotWithShape="0" blurRad="88900" dist="38100" dir="8100000">
              <a:srgbClr val="000000">
                <a:alpha val="11000"/>
              </a:srgbClr>
            </a:outerShdw>
          </a:effectLst>
        </p:spPr>
      </p:sp>
      <p:sp>
        <p:nvSpPr>
          <p:cNvPr id="50" name="Text 48"/>
          <p:cNvSpPr/>
          <p:nvPr/>
        </p:nvSpPr>
        <p:spPr>
          <a:xfrm>
            <a:off x="6062472" y="3456432"/>
            <a:ext cx="1188720" cy="420624"/>
          </a:xfrm>
          <a:prstGeom prst="rect">
            <a:avLst/>
          </a:prstGeom>
          <a:noFill/>
          <a:ln/>
        </p:spPr>
        <p:txBody>
          <a:bodyPr wrap="square" lIns="25400" tIns="25400" rIns="25400" bIns="2540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Thermo-</a:t>
            </a:r>
            <a:endParaRPr lang="en-US" sz="1000" dirty="0"/>
          </a:p>
          <a:p>
            <a:pPr algn="ctr" indent="0" marL="0">
              <a:buNone/>
            </a:pPr>
            <a:r>
              <a:rPr lang="en-US" sz="1000" b="1" dirty="0">
                <a:solidFill>
                  <a:srgbClr val="FFFFFF"/>
                </a:solidFill>
                <a:latin typeface="Trebuchet MS" pitchFamily="34" charset="0"/>
                <a:ea typeface="Trebuchet MS" pitchFamily="34" charset="-122"/>
                <a:cs typeface="Trebuchet MS" pitchFamily="34" charset="-120"/>
              </a:rPr>
              <a:t>dynamics</a:t>
            </a:r>
            <a:endParaRPr lang="en-US" sz="1000" dirty="0"/>
          </a:p>
        </p:txBody>
      </p:sp>
      <p:sp>
        <p:nvSpPr>
          <p:cNvPr id="51" name="Shape 49"/>
          <p:cNvSpPr/>
          <p:nvPr/>
        </p:nvSpPr>
        <p:spPr>
          <a:xfrm>
            <a:off x="292608" y="4114800"/>
            <a:ext cx="8558784" cy="512064"/>
          </a:xfrm>
          <a:prstGeom prst="rect">
            <a:avLst/>
          </a:prstGeom>
          <a:solidFill>
            <a:srgbClr val="E8EEF5"/>
          </a:solidFill>
          <a:ln w="12700">
            <a:solidFill>
              <a:srgbClr val="C8D6E5"/>
            </a:solidFill>
            <a:prstDash val="solid"/>
          </a:ln>
        </p:spPr>
      </p:sp>
      <p:sp>
        <p:nvSpPr>
          <p:cNvPr id="52" name="Text 50"/>
          <p:cNvSpPr/>
          <p:nvPr/>
        </p:nvSpPr>
        <p:spPr>
          <a:xfrm>
            <a:off x="475488" y="4114800"/>
            <a:ext cx="8229600" cy="512064"/>
          </a:xfrm>
          <a:prstGeom prst="rect">
            <a:avLst/>
          </a:prstGeom>
          <a:noFill/>
          <a:ln/>
        </p:spPr>
        <p:txBody>
          <a:bodyPr wrap="square" lIns="0" tIns="0" rIns="0" bIns="0" rtlCol="0" anchor="ctr"/>
          <a:lstStyle/>
          <a:p>
            <a:pPr indent="0" marL="0">
              <a:buNone/>
            </a:pPr>
            <a:r>
              <a:rPr lang="en-US" sz="1200" i="1" dirty="0">
                <a:solidFill>
                  <a:srgbClr val="4A5568"/>
                </a:solidFill>
                <a:latin typeface="Trebuchet MS" pitchFamily="34" charset="0"/>
                <a:ea typeface="Trebuchet MS" pitchFamily="34" charset="-122"/>
                <a:cs typeface="Trebuchet MS" pitchFamily="34" charset="-120"/>
              </a:rPr>
              <a:t>Wikipedia's small-world structure means almost any two pages are reachable in 3 to 5 clicks, regardless of how unrelated they seem.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3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658368"/>
            <a:ext cx="9144000" cy="64008"/>
          </a:xfrm>
          <a:prstGeom prst="rect">
            <a:avLst/>
          </a:prstGeom>
          <a:solidFill>
            <a:srgbClr val="00A896"/>
          </a:solidFill>
          <a:ln w="12700">
            <a:solidFill>
              <a:srgbClr val="00A896"/>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Why A* Underperformed</a:t>
            </a:r>
            <a:endParaRPr lang="en-US" sz="2200" dirty="0"/>
          </a:p>
        </p:txBody>
      </p:sp>
      <p:sp>
        <p:nvSpPr>
          <p:cNvPr id="5" name="Shape 3"/>
          <p:cNvSpPr/>
          <p:nvPr/>
        </p:nvSpPr>
        <p:spPr>
          <a:xfrm>
            <a:off x="292608" y="886968"/>
            <a:ext cx="4114800" cy="1920240"/>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6" name="Shape 4"/>
          <p:cNvSpPr/>
          <p:nvPr/>
        </p:nvSpPr>
        <p:spPr>
          <a:xfrm>
            <a:off x="292608" y="886968"/>
            <a:ext cx="91440" cy="1920240"/>
          </a:xfrm>
          <a:prstGeom prst="rect">
            <a:avLst/>
          </a:prstGeom>
          <a:solidFill>
            <a:srgbClr val="00A896"/>
          </a:solidFill>
          <a:ln w="12700">
            <a:solidFill>
              <a:srgbClr val="00A896"/>
            </a:solidFill>
            <a:prstDash val="solid"/>
          </a:ln>
        </p:spPr>
      </p:sp>
      <p:sp>
        <p:nvSpPr>
          <p:cNvPr id="7" name="Text 5"/>
          <p:cNvSpPr/>
          <p:nvPr/>
        </p:nvSpPr>
        <p:spPr>
          <a:xfrm>
            <a:off x="512064" y="987552"/>
            <a:ext cx="3749040" cy="347472"/>
          </a:xfrm>
          <a:prstGeom prst="rect">
            <a:avLst/>
          </a:prstGeom>
          <a:noFill/>
          <a:ln/>
        </p:spPr>
        <p:txBody>
          <a:bodyPr wrap="square" lIns="0" tIns="0" rIns="0" bIns="0" rtlCol="0" anchor="ctr"/>
          <a:lstStyle/>
          <a:p>
            <a:pPr indent="0" marL="0">
              <a:buNone/>
            </a:pPr>
            <a:r>
              <a:rPr lang="en-US" sz="1300" b="1" dirty="0">
                <a:solidFill>
                  <a:srgbClr val="0D1B2A"/>
                </a:solidFill>
                <a:latin typeface="Trebuchet MS" pitchFamily="34" charset="0"/>
                <a:ea typeface="Trebuchet MS" pitchFamily="34" charset="-122"/>
                <a:cs typeface="Trebuchet MS" pitchFamily="34" charset="-120"/>
              </a:rPr>
              <a:t>Reason 1: Evaluation is expensive</a:t>
            </a:r>
            <a:endParaRPr lang="en-US" sz="1300" dirty="0"/>
          </a:p>
        </p:txBody>
      </p:sp>
      <p:sp>
        <p:nvSpPr>
          <p:cNvPr id="8" name="Text 6"/>
          <p:cNvSpPr/>
          <p:nvPr/>
        </p:nvSpPr>
        <p:spPr>
          <a:xfrm>
            <a:off x="512064" y="1371600"/>
            <a:ext cx="3749040" cy="1316736"/>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A* scores every neighbor before queuing it. Wikipedia pages have hundreds of outgoing links, so each expansion triggers hundreds of embedding lookups and cosine calculations. IDDFS pays none of this cost.</a:t>
            </a:r>
            <a:endParaRPr lang="en-US" sz="1200" dirty="0"/>
          </a:p>
        </p:txBody>
      </p:sp>
      <p:sp>
        <p:nvSpPr>
          <p:cNvPr id="9" name="Shape 7"/>
          <p:cNvSpPr/>
          <p:nvPr/>
        </p:nvSpPr>
        <p:spPr>
          <a:xfrm>
            <a:off x="4736592" y="886968"/>
            <a:ext cx="4114800" cy="1920240"/>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10" name="Shape 8"/>
          <p:cNvSpPr/>
          <p:nvPr/>
        </p:nvSpPr>
        <p:spPr>
          <a:xfrm>
            <a:off x="4736592" y="886968"/>
            <a:ext cx="91440" cy="1920240"/>
          </a:xfrm>
          <a:prstGeom prst="rect">
            <a:avLst/>
          </a:prstGeom>
          <a:solidFill>
            <a:srgbClr val="00A896"/>
          </a:solidFill>
          <a:ln w="12700">
            <a:solidFill>
              <a:srgbClr val="00A896"/>
            </a:solidFill>
            <a:prstDash val="solid"/>
          </a:ln>
        </p:spPr>
      </p:sp>
      <p:sp>
        <p:nvSpPr>
          <p:cNvPr id="11" name="Text 9"/>
          <p:cNvSpPr/>
          <p:nvPr/>
        </p:nvSpPr>
        <p:spPr>
          <a:xfrm>
            <a:off x="4956048" y="987552"/>
            <a:ext cx="3749040" cy="347472"/>
          </a:xfrm>
          <a:prstGeom prst="rect">
            <a:avLst/>
          </a:prstGeom>
          <a:noFill/>
          <a:ln/>
        </p:spPr>
        <p:txBody>
          <a:bodyPr wrap="square" lIns="0" tIns="0" rIns="0" bIns="0" rtlCol="0" anchor="ctr"/>
          <a:lstStyle/>
          <a:p>
            <a:pPr indent="0" marL="0">
              <a:buNone/>
            </a:pPr>
            <a:r>
              <a:rPr lang="en-US" sz="1300" b="1" dirty="0">
                <a:solidFill>
                  <a:srgbClr val="0D1B2A"/>
                </a:solidFill>
                <a:latin typeface="Trebuchet MS" pitchFamily="34" charset="0"/>
                <a:ea typeface="Trebuchet MS" pitchFamily="34" charset="-122"/>
                <a:cs typeface="Trebuchet MS" pitchFamily="34" charset="-120"/>
              </a:rPr>
              <a:t>Reason 2: The signal is too weak</a:t>
            </a:r>
            <a:endParaRPr lang="en-US" sz="1300" dirty="0"/>
          </a:p>
        </p:txBody>
      </p:sp>
      <p:sp>
        <p:nvSpPr>
          <p:cNvPr id="12" name="Text 10"/>
          <p:cNvSpPr/>
          <p:nvPr/>
        </p:nvSpPr>
        <p:spPr>
          <a:xfrm>
            <a:off x="4956048" y="1371600"/>
            <a:ext cx="3749040" cy="1316736"/>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Wiki2Vec similarity reflects topical relatedness, not graph distance. Semantically close pages may be many links apart. Pages with no obvious relationship may be directly linked.</a:t>
            </a:r>
            <a:endParaRPr lang="en-US" sz="1200" dirty="0"/>
          </a:p>
        </p:txBody>
      </p:sp>
      <p:sp>
        <p:nvSpPr>
          <p:cNvPr id="13" name="Shape 11"/>
          <p:cNvSpPr/>
          <p:nvPr/>
        </p:nvSpPr>
        <p:spPr>
          <a:xfrm>
            <a:off x="292608" y="2962656"/>
            <a:ext cx="8558784" cy="1024128"/>
          </a:xfrm>
          <a:prstGeom prst="rect">
            <a:avLst/>
          </a:prstGeom>
          <a:solidFill>
            <a:srgbClr val="0D1B2A"/>
          </a:solidFill>
          <a:ln w="12700">
            <a:solidFill>
              <a:srgbClr val="0D1B2A"/>
            </a:solidFill>
            <a:prstDash val="solid"/>
          </a:ln>
          <a:effectLst>
            <a:outerShdw sx="100000" sy="100000" kx="0" ky="0" algn="bl" rotWithShape="0" blurRad="88900" dist="38100" dir="8100000">
              <a:srgbClr val="000000">
                <a:alpha val="11000"/>
              </a:srgbClr>
            </a:outerShdw>
          </a:effectLst>
        </p:spPr>
      </p:sp>
      <p:sp>
        <p:nvSpPr>
          <p:cNvPr id="14" name="Shape 12"/>
          <p:cNvSpPr/>
          <p:nvPr/>
        </p:nvSpPr>
        <p:spPr>
          <a:xfrm>
            <a:off x="292608" y="2962656"/>
            <a:ext cx="91440" cy="1024128"/>
          </a:xfrm>
          <a:prstGeom prst="rect">
            <a:avLst/>
          </a:prstGeom>
          <a:solidFill>
            <a:srgbClr val="02C39A"/>
          </a:solidFill>
          <a:ln w="12700">
            <a:solidFill>
              <a:srgbClr val="02C39A"/>
            </a:solidFill>
            <a:prstDash val="solid"/>
          </a:ln>
        </p:spPr>
      </p:sp>
      <p:sp>
        <p:nvSpPr>
          <p:cNvPr id="15" name="Text 13"/>
          <p:cNvSpPr/>
          <p:nvPr/>
        </p:nvSpPr>
        <p:spPr>
          <a:xfrm>
            <a:off x="512064" y="3017520"/>
            <a:ext cx="8138160" cy="256032"/>
          </a:xfrm>
          <a:prstGeom prst="rect">
            <a:avLst/>
          </a:prstGeom>
          <a:noFill/>
          <a:ln/>
        </p:spPr>
        <p:txBody>
          <a:bodyPr wrap="square" lIns="0" tIns="0" rIns="0" bIns="0" rtlCol="0" anchor="ctr"/>
          <a:lstStyle/>
          <a:p>
            <a:pPr indent="0" marL="0">
              <a:buNone/>
            </a:pPr>
            <a:r>
              <a:rPr lang="en-US" sz="1200" b="1" dirty="0">
                <a:solidFill>
                  <a:srgbClr val="02C39A"/>
                </a:solidFill>
                <a:latin typeface="Trebuchet MS" pitchFamily="34" charset="0"/>
                <a:ea typeface="Trebuchet MS" pitchFamily="34" charset="-122"/>
                <a:cs typeface="Trebuchet MS" pitchFamily="34" charset="-120"/>
              </a:rPr>
              <a:t>The result:</a:t>
            </a:r>
            <a:endParaRPr lang="en-US" sz="1200" dirty="0"/>
          </a:p>
        </p:txBody>
      </p:sp>
      <p:sp>
        <p:nvSpPr>
          <p:cNvPr id="16" name="Text 14"/>
          <p:cNvSpPr/>
          <p:nvPr/>
        </p:nvSpPr>
        <p:spPr>
          <a:xfrm>
            <a:off x="512064" y="3291840"/>
            <a:ext cx="8138160" cy="585216"/>
          </a:xfrm>
          <a:prstGeom prst="rect">
            <a:avLst/>
          </a:prstGeom>
          <a:noFill/>
          <a:ln/>
        </p:spPr>
        <p:txBody>
          <a:bodyPr wrap="square" lIns="0" tIns="0" rIns="0" bIns="0" rtlCol="0" anchor="ctr"/>
          <a:lstStyle/>
          <a:p>
            <a:pPr indent="0" marL="0">
              <a:buNone/>
            </a:pPr>
            <a:r>
              <a:rPr lang="en-US" sz="1200" dirty="0">
                <a:solidFill>
                  <a:srgbClr val="FFFFFF"/>
                </a:solidFill>
                <a:latin typeface="Trebuchet MS" pitchFamily="34" charset="0"/>
                <a:ea typeface="Trebuchet MS" pitchFamily="34" charset="-122"/>
                <a:cs typeface="Trebuchet MS" pitchFamily="34" charset="-120"/>
              </a:rPr>
              <a:t>A* behaves like an expensive version of uninformed search. All three heuristic iterations (semantic only, semantic + outgoing degree, semantic + incoming degree) produced nearly identical results, confirming the signal is the problem.</a:t>
            </a:r>
            <a:endParaRPr lang="en-US" sz="1200" dirty="0"/>
          </a:p>
        </p:txBody>
      </p:sp>
      <p:sp>
        <p:nvSpPr>
          <p:cNvPr id="17" name="Shape 15"/>
          <p:cNvSpPr/>
          <p:nvPr/>
        </p:nvSpPr>
        <p:spPr>
          <a:xfrm>
            <a:off x="292608" y="4133088"/>
            <a:ext cx="8558784" cy="512064"/>
          </a:xfrm>
          <a:prstGeom prst="rect">
            <a:avLst/>
          </a:prstGeom>
          <a:solidFill>
            <a:srgbClr val="E8EEF5"/>
          </a:solidFill>
          <a:ln w="12700">
            <a:solidFill>
              <a:srgbClr val="C8D6E5"/>
            </a:solidFill>
            <a:prstDash val="solid"/>
          </a:ln>
        </p:spPr>
      </p:sp>
      <p:sp>
        <p:nvSpPr>
          <p:cNvPr id="18" name="Text 16"/>
          <p:cNvSpPr/>
          <p:nvPr/>
        </p:nvSpPr>
        <p:spPr>
          <a:xfrm>
            <a:off x="475488" y="4133088"/>
            <a:ext cx="8229600" cy="512064"/>
          </a:xfrm>
          <a:prstGeom prst="rect">
            <a:avLst/>
          </a:prstGeom>
          <a:noFill/>
          <a:ln/>
        </p:spPr>
        <p:txBody>
          <a:bodyPr wrap="square" lIns="0" tIns="0" rIns="0" bIns="0" rtlCol="0" anchor="ctr"/>
          <a:lstStyle/>
          <a:p>
            <a:pPr indent="0" marL="0">
              <a:buNone/>
            </a:pPr>
            <a:r>
              <a:rPr lang="en-US" sz="1100" i="1" dirty="0">
                <a:solidFill>
                  <a:srgbClr val="4A5568"/>
                </a:solidFill>
                <a:latin typeface="Trebuchet MS" pitchFamily="34" charset="0"/>
                <a:ea typeface="Trebuchet MS" pitchFamily="34" charset="-122"/>
                <a:cs typeface="Trebuchet MS" pitchFamily="34" charset="-120"/>
              </a:rPr>
              <a:t>West &amp; Leskovec (2012): human players navigate via high-degree hubs early in a path, then switch to content similarity to home in. The graph rewards structural thinking first.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3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658368"/>
            <a:ext cx="9144000" cy="64008"/>
          </a:xfrm>
          <a:prstGeom prst="rect">
            <a:avLst/>
          </a:prstGeom>
          <a:solidFill>
            <a:srgbClr val="00A896"/>
          </a:solidFill>
          <a:ln w="12700">
            <a:solidFill>
              <a:srgbClr val="00A896"/>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Key Findings</a:t>
            </a:r>
            <a:endParaRPr lang="en-US" sz="2200" dirty="0"/>
          </a:p>
        </p:txBody>
      </p:sp>
      <p:sp>
        <p:nvSpPr>
          <p:cNvPr id="5" name="Shape 3"/>
          <p:cNvSpPr/>
          <p:nvPr/>
        </p:nvSpPr>
        <p:spPr>
          <a:xfrm>
            <a:off x="256032" y="850392"/>
            <a:ext cx="4206240" cy="1883664"/>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6" name="Shape 4"/>
          <p:cNvSpPr/>
          <p:nvPr/>
        </p:nvSpPr>
        <p:spPr>
          <a:xfrm>
            <a:off x="256032" y="850392"/>
            <a:ext cx="91440" cy="1883664"/>
          </a:xfrm>
          <a:prstGeom prst="rect">
            <a:avLst/>
          </a:prstGeom>
          <a:solidFill>
            <a:srgbClr val="00A896"/>
          </a:solidFill>
          <a:ln w="12700">
            <a:solidFill>
              <a:srgbClr val="00A896"/>
            </a:solidFill>
            <a:prstDash val="solid"/>
          </a:ln>
        </p:spPr>
      </p:sp>
      <p:sp>
        <p:nvSpPr>
          <p:cNvPr id="7" name="Shape 5"/>
          <p:cNvSpPr/>
          <p:nvPr/>
        </p:nvSpPr>
        <p:spPr>
          <a:xfrm>
            <a:off x="438912" y="987552"/>
            <a:ext cx="347472" cy="347472"/>
          </a:xfrm>
          <a:prstGeom prst="ellipse">
            <a:avLst/>
          </a:prstGeom>
          <a:solidFill>
            <a:srgbClr val="00A896"/>
          </a:solidFill>
          <a:ln w="12700">
            <a:solidFill>
              <a:srgbClr val="00A896"/>
            </a:solidFill>
            <a:prstDash val="solid"/>
          </a:ln>
        </p:spPr>
      </p:sp>
      <p:sp>
        <p:nvSpPr>
          <p:cNvPr id="8" name="Text 6"/>
          <p:cNvSpPr/>
          <p:nvPr/>
        </p:nvSpPr>
        <p:spPr>
          <a:xfrm>
            <a:off x="438912" y="98755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1</a:t>
            </a:r>
            <a:endParaRPr lang="en-US" sz="1300" dirty="0"/>
          </a:p>
        </p:txBody>
      </p:sp>
      <p:sp>
        <p:nvSpPr>
          <p:cNvPr id="9" name="Text 7"/>
          <p:cNvSpPr/>
          <p:nvPr/>
        </p:nvSpPr>
        <p:spPr>
          <a:xfrm>
            <a:off x="896112" y="1005840"/>
            <a:ext cx="3429000" cy="347472"/>
          </a:xfrm>
          <a:prstGeom prst="rect">
            <a:avLst/>
          </a:prstGeom>
          <a:noFill/>
          <a:ln/>
        </p:spPr>
        <p:txBody>
          <a:bodyPr wrap="square" lIns="0" tIns="0" rIns="0" bIns="0" rtlCol="0" anchor="ctr"/>
          <a:lstStyle/>
          <a:p>
            <a:pPr indent="0" marL="0">
              <a:buNone/>
            </a:pPr>
            <a:r>
              <a:rPr lang="en-US" sz="1300" b="1" dirty="0">
                <a:solidFill>
                  <a:srgbClr val="0D1B2A"/>
                </a:solidFill>
                <a:latin typeface="Trebuchet MS" pitchFamily="34" charset="0"/>
                <a:ea typeface="Trebuchet MS" pitchFamily="34" charset="-122"/>
                <a:cs typeface="Trebuchet MS" pitchFamily="34" charset="-120"/>
              </a:rPr>
              <a:t>IDDFS is a strong baseline</a:t>
            </a:r>
            <a:endParaRPr lang="en-US" sz="1300" dirty="0"/>
          </a:p>
        </p:txBody>
      </p:sp>
      <p:sp>
        <p:nvSpPr>
          <p:cNvPr id="10" name="Text 8"/>
          <p:cNvSpPr/>
          <p:nvPr/>
        </p:nvSpPr>
        <p:spPr>
          <a:xfrm>
            <a:off x="457200" y="1399032"/>
            <a:ext cx="3840480" cy="1188720"/>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Without any heuristic it outperformed A* every time, committing quickly to a viable path rather than scoring all neighbors.</a:t>
            </a:r>
            <a:endParaRPr lang="en-US" sz="1200" dirty="0"/>
          </a:p>
        </p:txBody>
      </p:sp>
      <p:sp>
        <p:nvSpPr>
          <p:cNvPr id="11" name="Shape 9"/>
          <p:cNvSpPr/>
          <p:nvPr/>
        </p:nvSpPr>
        <p:spPr>
          <a:xfrm>
            <a:off x="4736592" y="850392"/>
            <a:ext cx="4206240" cy="1883664"/>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12" name="Shape 10"/>
          <p:cNvSpPr/>
          <p:nvPr/>
        </p:nvSpPr>
        <p:spPr>
          <a:xfrm>
            <a:off x="4736592" y="850392"/>
            <a:ext cx="91440" cy="1883664"/>
          </a:xfrm>
          <a:prstGeom prst="rect">
            <a:avLst/>
          </a:prstGeom>
          <a:solidFill>
            <a:srgbClr val="00A896"/>
          </a:solidFill>
          <a:ln w="12700">
            <a:solidFill>
              <a:srgbClr val="00A896"/>
            </a:solidFill>
            <a:prstDash val="solid"/>
          </a:ln>
        </p:spPr>
      </p:sp>
      <p:sp>
        <p:nvSpPr>
          <p:cNvPr id="13" name="Shape 11"/>
          <p:cNvSpPr/>
          <p:nvPr/>
        </p:nvSpPr>
        <p:spPr>
          <a:xfrm>
            <a:off x="4919472" y="987552"/>
            <a:ext cx="347472" cy="347472"/>
          </a:xfrm>
          <a:prstGeom prst="ellipse">
            <a:avLst/>
          </a:prstGeom>
          <a:solidFill>
            <a:srgbClr val="00A896"/>
          </a:solidFill>
          <a:ln w="12700">
            <a:solidFill>
              <a:srgbClr val="00A896"/>
            </a:solidFill>
            <a:prstDash val="solid"/>
          </a:ln>
        </p:spPr>
      </p:sp>
      <p:sp>
        <p:nvSpPr>
          <p:cNvPr id="14" name="Text 12"/>
          <p:cNvSpPr/>
          <p:nvPr/>
        </p:nvSpPr>
        <p:spPr>
          <a:xfrm>
            <a:off x="4919472" y="98755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2</a:t>
            </a:r>
            <a:endParaRPr lang="en-US" sz="1300" dirty="0"/>
          </a:p>
        </p:txBody>
      </p:sp>
      <p:sp>
        <p:nvSpPr>
          <p:cNvPr id="15" name="Text 13"/>
          <p:cNvSpPr/>
          <p:nvPr/>
        </p:nvSpPr>
        <p:spPr>
          <a:xfrm>
            <a:off x="5376672" y="1005840"/>
            <a:ext cx="3429000" cy="347472"/>
          </a:xfrm>
          <a:prstGeom prst="rect">
            <a:avLst/>
          </a:prstGeom>
          <a:noFill/>
          <a:ln/>
        </p:spPr>
        <p:txBody>
          <a:bodyPr wrap="square" lIns="0" tIns="0" rIns="0" bIns="0" rtlCol="0" anchor="ctr"/>
          <a:lstStyle/>
          <a:p>
            <a:pPr indent="0" marL="0">
              <a:buNone/>
            </a:pPr>
            <a:r>
              <a:rPr lang="en-US" sz="1300" b="1" dirty="0">
                <a:solidFill>
                  <a:srgbClr val="0D1B2A"/>
                </a:solidFill>
                <a:latin typeface="Trebuchet MS" pitchFamily="34" charset="0"/>
                <a:ea typeface="Trebuchet MS" pitchFamily="34" charset="-122"/>
                <a:cs typeface="Trebuchet MS" pitchFamily="34" charset="-120"/>
              </a:rPr>
              <a:t>A* behaves like expensive uninformed search</a:t>
            </a:r>
            <a:endParaRPr lang="en-US" sz="1300" dirty="0"/>
          </a:p>
        </p:txBody>
      </p:sp>
      <p:sp>
        <p:nvSpPr>
          <p:cNvPr id="16" name="Text 14"/>
          <p:cNvSpPr/>
          <p:nvPr/>
        </p:nvSpPr>
        <p:spPr>
          <a:xfrm>
            <a:off x="4937760" y="1399032"/>
            <a:ext cx="3840480" cy="1188720"/>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Semantic similarity does not correlate with graph distance. All three heuristic iterations produced near-identical results.</a:t>
            </a:r>
            <a:endParaRPr lang="en-US" sz="1200" dirty="0"/>
          </a:p>
        </p:txBody>
      </p:sp>
      <p:sp>
        <p:nvSpPr>
          <p:cNvPr id="17" name="Shape 15"/>
          <p:cNvSpPr/>
          <p:nvPr/>
        </p:nvSpPr>
        <p:spPr>
          <a:xfrm>
            <a:off x="256032" y="2880360"/>
            <a:ext cx="4206240" cy="1883664"/>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18" name="Shape 16"/>
          <p:cNvSpPr/>
          <p:nvPr/>
        </p:nvSpPr>
        <p:spPr>
          <a:xfrm>
            <a:off x="256032" y="2880360"/>
            <a:ext cx="91440" cy="1883664"/>
          </a:xfrm>
          <a:prstGeom prst="rect">
            <a:avLst/>
          </a:prstGeom>
          <a:solidFill>
            <a:srgbClr val="00A896"/>
          </a:solidFill>
          <a:ln w="12700">
            <a:solidFill>
              <a:srgbClr val="00A896"/>
            </a:solidFill>
            <a:prstDash val="solid"/>
          </a:ln>
        </p:spPr>
      </p:sp>
      <p:sp>
        <p:nvSpPr>
          <p:cNvPr id="19" name="Shape 17"/>
          <p:cNvSpPr/>
          <p:nvPr/>
        </p:nvSpPr>
        <p:spPr>
          <a:xfrm>
            <a:off x="438912" y="3017520"/>
            <a:ext cx="347472" cy="347472"/>
          </a:xfrm>
          <a:prstGeom prst="ellipse">
            <a:avLst/>
          </a:prstGeom>
          <a:solidFill>
            <a:srgbClr val="00A896"/>
          </a:solidFill>
          <a:ln w="12700">
            <a:solidFill>
              <a:srgbClr val="00A896"/>
            </a:solidFill>
            <a:prstDash val="solid"/>
          </a:ln>
        </p:spPr>
      </p:sp>
      <p:sp>
        <p:nvSpPr>
          <p:cNvPr id="20" name="Text 18"/>
          <p:cNvSpPr/>
          <p:nvPr/>
        </p:nvSpPr>
        <p:spPr>
          <a:xfrm>
            <a:off x="438912" y="30175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3</a:t>
            </a:r>
            <a:endParaRPr lang="en-US" sz="1300" dirty="0"/>
          </a:p>
        </p:txBody>
      </p:sp>
      <p:sp>
        <p:nvSpPr>
          <p:cNvPr id="21" name="Text 19"/>
          <p:cNvSpPr/>
          <p:nvPr/>
        </p:nvSpPr>
        <p:spPr>
          <a:xfrm>
            <a:off x="896112" y="3035808"/>
            <a:ext cx="3429000" cy="347472"/>
          </a:xfrm>
          <a:prstGeom prst="rect">
            <a:avLst/>
          </a:prstGeom>
          <a:noFill/>
          <a:ln/>
        </p:spPr>
        <p:txBody>
          <a:bodyPr wrap="square" lIns="0" tIns="0" rIns="0" bIns="0" rtlCol="0" anchor="ctr"/>
          <a:lstStyle/>
          <a:p>
            <a:pPr indent="0" marL="0">
              <a:buNone/>
            </a:pPr>
            <a:r>
              <a:rPr lang="en-US" sz="1300" b="1" dirty="0">
                <a:solidFill>
                  <a:srgbClr val="0D1B2A"/>
                </a:solidFill>
                <a:latin typeface="Trebuchet MS" pitchFamily="34" charset="0"/>
                <a:ea typeface="Trebuchet MS" pitchFamily="34" charset="-122"/>
                <a:cs typeface="Trebuchet MS" pitchFamily="34" charset="-120"/>
              </a:rPr>
              <a:t>In large real-world graphs, structure beats semantics</a:t>
            </a:r>
            <a:endParaRPr lang="en-US" sz="1300" dirty="0"/>
          </a:p>
        </p:txBody>
      </p:sp>
      <p:sp>
        <p:nvSpPr>
          <p:cNvPr id="22" name="Text 20"/>
          <p:cNvSpPr/>
          <p:nvPr/>
        </p:nvSpPr>
        <p:spPr>
          <a:xfrm>
            <a:off x="457200" y="3429000"/>
            <a:ext cx="3840480" cy="1188720"/>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Lightweight heuristics based on text similarity are not good proxies for graph distance. Structural exploitation is more effective.</a:t>
            </a:r>
            <a:endParaRPr lang="en-US" sz="1200" dirty="0"/>
          </a:p>
        </p:txBody>
      </p:sp>
      <p:sp>
        <p:nvSpPr>
          <p:cNvPr id="23" name="Shape 21"/>
          <p:cNvSpPr/>
          <p:nvPr/>
        </p:nvSpPr>
        <p:spPr>
          <a:xfrm>
            <a:off x="4736592" y="2880360"/>
            <a:ext cx="4206240" cy="1883664"/>
          </a:xfrm>
          <a:prstGeom prst="rect">
            <a:avLst/>
          </a:prstGeom>
          <a:solidFill>
            <a:srgbClr val="FFFFFF"/>
          </a:solidFill>
          <a:ln w="12700">
            <a:solidFill>
              <a:srgbClr val="C8D6E5"/>
            </a:solidFill>
            <a:prstDash val="solid"/>
          </a:ln>
          <a:effectLst>
            <a:outerShdw sx="100000" sy="100000" kx="0" ky="0" algn="bl" rotWithShape="0" blurRad="88900" dist="38100" dir="8100000">
              <a:srgbClr val="000000">
                <a:alpha val="11000"/>
              </a:srgbClr>
            </a:outerShdw>
          </a:effectLst>
        </p:spPr>
      </p:sp>
      <p:sp>
        <p:nvSpPr>
          <p:cNvPr id="24" name="Shape 22"/>
          <p:cNvSpPr/>
          <p:nvPr/>
        </p:nvSpPr>
        <p:spPr>
          <a:xfrm>
            <a:off x="4736592" y="2880360"/>
            <a:ext cx="91440" cy="1883664"/>
          </a:xfrm>
          <a:prstGeom prst="rect">
            <a:avLst/>
          </a:prstGeom>
          <a:solidFill>
            <a:srgbClr val="00A896"/>
          </a:solidFill>
          <a:ln w="12700">
            <a:solidFill>
              <a:srgbClr val="00A896"/>
            </a:solidFill>
            <a:prstDash val="solid"/>
          </a:ln>
        </p:spPr>
      </p:sp>
      <p:sp>
        <p:nvSpPr>
          <p:cNvPr id="25" name="Shape 23"/>
          <p:cNvSpPr/>
          <p:nvPr/>
        </p:nvSpPr>
        <p:spPr>
          <a:xfrm>
            <a:off x="4919472" y="3017520"/>
            <a:ext cx="347472" cy="347472"/>
          </a:xfrm>
          <a:prstGeom prst="ellipse">
            <a:avLst/>
          </a:prstGeom>
          <a:solidFill>
            <a:srgbClr val="00A896"/>
          </a:solidFill>
          <a:ln w="12700">
            <a:solidFill>
              <a:srgbClr val="00A896"/>
            </a:solidFill>
            <a:prstDash val="solid"/>
          </a:ln>
        </p:spPr>
      </p:sp>
      <p:sp>
        <p:nvSpPr>
          <p:cNvPr id="26" name="Text 24"/>
          <p:cNvSpPr/>
          <p:nvPr/>
        </p:nvSpPr>
        <p:spPr>
          <a:xfrm>
            <a:off x="4919472" y="30175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4</a:t>
            </a:r>
            <a:endParaRPr lang="en-US" sz="1300" dirty="0"/>
          </a:p>
        </p:txBody>
      </p:sp>
      <p:sp>
        <p:nvSpPr>
          <p:cNvPr id="27" name="Text 25"/>
          <p:cNvSpPr/>
          <p:nvPr/>
        </p:nvSpPr>
        <p:spPr>
          <a:xfrm>
            <a:off x="5376672" y="3035808"/>
            <a:ext cx="3429000" cy="347472"/>
          </a:xfrm>
          <a:prstGeom prst="rect">
            <a:avLst/>
          </a:prstGeom>
          <a:noFill/>
          <a:ln/>
        </p:spPr>
        <p:txBody>
          <a:bodyPr wrap="square" lIns="0" tIns="0" rIns="0" bIns="0" rtlCol="0" anchor="ctr"/>
          <a:lstStyle/>
          <a:p>
            <a:pPr indent="0" marL="0">
              <a:buNone/>
            </a:pPr>
            <a:r>
              <a:rPr lang="en-US" sz="1300" b="1" dirty="0">
                <a:solidFill>
                  <a:srgbClr val="0D1B2A"/>
                </a:solidFill>
                <a:latin typeface="Trebuchet MS" pitchFamily="34" charset="0"/>
                <a:ea typeface="Trebuchet MS" pitchFamily="34" charset="-122"/>
                <a:cs typeface="Trebuchet MS" pitchFamily="34" charset="-120"/>
              </a:rPr>
              <a:t>Bidirectional BFS dominates</a:t>
            </a:r>
            <a:endParaRPr lang="en-US" sz="1300" dirty="0"/>
          </a:p>
        </p:txBody>
      </p:sp>
      <p:sp>
        <p:nvSpPr>
          <p:cNvPr id="28" name="Text 26"/>
          <p:cNvSpPr/>
          <p:nvPr/>
        </p:nvSpPr>
        <p:spPr>
          <a:xfrm>
            <a:off x="4937760" y="3429000"/>
            <a:ext cx="3840480" cy="1188720"/>
          </a:xfrm>
          <a:prstGeom prst="rect">
            <a:avLst/>
          </a:prstGeom>
          <a:noFill/>
          <a:ln/>
        </p:spPr>
        <p:txBody>
          <a:bodyPr wrap="square" lIns="0" tIns="0" rIns="0" bIns="0" rtlCol="0" anchor="ctr"/>
          <a:lstStyle/>
          <a:p>
            <a:pPr indent="0" marL="0">
              <a:buNone/>
            </a:pPr>
            <a:r>
              <a:rPr lang="en-US" sz="1200" dirty="0">
                <a:solidFill>
                  <a:srgbClr val="4A5568"/>
                </a:solidFill>
                <a:latin typeface="Trebuchet MS" pitchFamily="34" charset="0"/>
                <a:ea typeface="Trebuchet MS" pitchFamily="34" charset="-122"/>
                <a:cs typeface="Trebuchet MS" pitchFamily="34" charset="-120"/>
              </a:rPr>
              <a:t>O(b</a:t>
            </a:r>
            <a:pPr indent="0" marL="0">
              <a:buNone/>
            </a:pPr>
            <a:r>
              <a:rPr lang="en-US" sz="1200" baseline="30000" dirty="0">
                <a:solidFill>
                  <a:srgbClr val="4A5568"/>
                </a:solidFill>
                <a:latin typeface="Trebuchet MS" pitchFamily="34" charset="0"/>
                <a:ea typeface="Trebuchet MS" pitchFamily="34" charset="-122"/>
                <a:cs typeface="Trebuchet MS" pitchFamily="34" charset="-120"/>
              </a:rPr>
              <a:t>d/2</a:t>
            </a:r>
            <a:pPr indent="0" marL="0">
              <a:buNone/>
            </a:pPr>
            <a:r>
              <a:rPr lang="en-US" sz="1200" dirty="0">
                <a:solidFill>
                  <a:srgbClr val="4A5568"/>
                </a:solidFill>
                <a:latin typeface="Trebuchet MS" pitchFamily="34" charset="0"/>
                <a:ea typeface="Trebuchet MS" pitchFamily="34" charset="-122"/>
                <a:cs typeface="Trebuchet MS" pitchFamily="34" charset="-120"/>
              </a:rPr>
              <a:t>) means it explores orders of magnitude fewer pages by exploiting graph structure directly. The clear winner.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20040" y="182880"/>
            <a:ext cx="100584" cy="100584"/>
          </a:xfrm>
          <a:prstGeom prst="ellipse">
            <a:avLst/>
          </a:prstGeom>
          <a:solidFill>
            <a:srgbClr val="00A896">
              <a:alpha val="32000"/>
            </a:srgbClr>
          </a:solidFill>
          <a:ln w="12700">
            <a:solidFill>
              <a:srgbClr val="00A896">
                <a:alpha val="32000"/>
              </a:srgbClr>
            </a:solidFill>
            <a:prstDash val="solid"/>
          </a:ln>
        </p:spPr>
      </p:sp>
      <p:sp>
        <p:nvSpPr>
          <p:cNvPr id="3" name="Shape 1"/>
          <p:cNvSpPr/>
          <p:nvPr/>
        </p:nvSpPr>
        <p:spPr>
          <a:xfrm>
            <a:off x="320040" y="1170432"/>
            <a:ext cx="100584" cy="100584"/>
          </a:xfrm>
          <a:prstGeom prst="ellipse">
            <a:avLst/>
          </a:prstGeom>
          <a:solidFill>
            <a:srgbClr val="00A896">
              <a:alpha val="32000"/>
            </a:srgbClr>
          </a:solidFill>
          <a:ln w="12700">
            <a:solidFill>
              <a:srgbClr val="00A896">
                <a:alpha val="32000"/>
              </a:srgbClr>
            </a:solidFill>
            <a:prstDash val="solid"/>
          </a:ln>
        </p:spPr>
      </p:sp>
      <p:sp>
        <p:nvSpPr>
          <p:cNvPr id="4" name="Shape 2"/>
          <p:cNvSpPr/>
          <p:nvPr/>
        </p:nvSpPr>
        <p:spPr>
          <a:xfrm>
            <a:off x="320040" y="2157984"/>
            <a:ext cx="100584" cy="100584"/>
          </a:xfrm>
          <a:prstGeom prst="ellipse">
            <a:avLst/>
          </a:prstGeom>
          <a:solidFill>
            <a:srgbClr val="00A896">
              <a:alpha val="32000"/>
            </a:srgbClr>
          </a:solidFill>
          <a:ln w="12700">
            <a:solidFill>
              <a:srgbClr val="00A896">
                <a:alpha val="32000"/>
              </a:srgbClr>
            </a:solidFill>
            <a:prstDash val="solid"/>
          </a:ln>
        </p:spPr>
      </p:sp>
      <p:sp>
        <p:nvSpPr>
          <p:cNvPr id="5" name="Shape 3"/>
          <p:cNvSpPr/>
          <p:nvPr/>
        </p:nvSpPr>
        <p:spPr>
          <a:xfrm>
            <a:off x="320040" y="3145536"/>
            <a:ext cx="100584" cy="100584"/>
          </a:xfrm>
          <a:prstGeom prst="ellipse">
            <a:avLst/>
          </a:prstGeom>
          <a:solidFill>
            <a:srgbClr val="00A896">
              <a:alpha val="32000"/>
            </a:srgbClr>
          </a:solidFill>
          <a:ln w="12700">
            <a:solidFill>
              <a:srgbClr val="00A896">
                <a:alpha val="32000"/>
              </a:srgbClr>
            </a:solidFill>
            <a:prstDash val="solid"/>
          </a:ln>
        </p:spPr>
      </p:sp>
      <p:sp>
        <p:nvSpPr>
          <p:cNvPr id="6" name="Shape 4"/>
          <p:cNvSpPr/>
          <p:nvPr/>
        </p:nvSpPr>
        <p:spPr>
          <a:xfrm>
            <a:off x="320040" y="4133088"/>
            <a:ext cx="100584" cy="100584"/>
          </a:xfrm>
          <a:prstGeom prst="ellipse">
            <a:avLst/>
          </a:prstGeom>
          <a:solidFill>
            <a:srgbClr val="00A896">
              <a:alpha val="32000"/>
            </a:srgbClr>
          </a:solidFill>
          <a:ln w="12700">
            <a:solidFill>
              <a:srgbClr val="00A896">
                <a:alpha val="32000"/>
              </a:srgbClr>
            </a:solidFill>
            <a:prstDash val="solid"/>
          </a:ln>
        </p:spPr>
      </p:sp>
      <p:sp>
        <p:nvSpPr>
          <p:cNvPr id="7" name="Shape 5"/>
          <p:cNvSpPr/>
          <p:nvPr/>
        </p:nvSpPr>
        <p:spPr>
          <a:xfrm>
            <a:off x="320040" y="5120640"/>
            <a:ext cx="100584" cy="100584"/>
          </a:xfrm>
          <a:prstGeom prst="ellipse">
            <a:avLst/>
          </a:prstGeom>
          <a:solidFill>
            <a:srgbClr val="00A896">
              <a:alpha val="32000"/>
            </a:srgbClr>
          </a:solidFill>
          <a:ln w="12700">
            <a:solidFill>
              <a:srgbClr val="00A896">
                <a:alpha val="32000"/>
              </a:srgbClr>
            </a:solidFill>
            <a:prstDash val="solid"/>
          </a:ln>
        </p:spPr>
      </p:sp>
      <p:sp>
        <p:nvSpPr>
          <p:cNvPr id="8" name="Shape 6"/>
          <p:cNvSpPr/>
          <p:nvPr/>
        </p:nvSpPr>
        <p:spPr>
          <a:xfrm>
            <a:off x="1307592" y="182880"/>
            <a:ext cx="100584" cy="100584"/>
          </a:xfrm>
          <a:prstGeom prst="ellipse">
            <a:avLst/>
          </a:prstGeom>
          <a:solidFill>
            <a:srgbClr val="00A896">
              <a:alpha val="32000"/>
            </a:srgbClr>
          </a:solidFill>
          <a:ln w="12700">
            <a:solidFill>
              <a:srgbClr val="00A896">
                <a:alpha val="32000"/>
              </a:srgbClr>
            </a:solidFill>
            <a:prstDash val="solid"/>
          </a:ln>
        </p:spPr>
      </p:sp>
      <p:sp>
        <p:nvSpPr>
          <p:cNvPr id="9" name="Shape 7"/>
          <p:cNvSpPr/>
          <p:nvPr/>
        </p:nvSpPr>
        <p:spPr>
          <a:xfrm>
            <a:off x="1307592" y="1170432"/>
            <a:ext cx="100584" cy="100584"/>
          </a:xfrm>
          <a:prstGeom prst="ellipse">
            <a:avLst/>
          </a:prstGeom>
          <a:solidFill>
            <a:srgbClr val="00A896">
              <a:alpha val="32000"/>
            </a:srgbClr>
          </a:solidFill>
          <a:ln w="12700">
            <a:solidFill>
              <a:srgbClr val="00A896">
                <a:alpha val="32000"/>
              </a:srgbClr>
            </a:solidFill>
            <a:prstDash val="solid"/>
          </a:ln>
        </p:spPr>
      </p:sp>
      <p:sp>
        <p:nvSpPr>
          <p:cNvPr id="10" name="Shape 8"/>
          <p:cNvSpPr/>
          <p:nvPr/>
        </p:nvSpPr>
        <p:spPr>
          <a:xfrm>
            <a:off x="1307592" y="2157984"/>
            <a:ext cx="100584" cy="100584"/>
          </a:xfrm>
          <a:prstGeom prst="ellipse">
            <a:avLst/>
          </a:prstGeom>
          <a:solidFill>
            <a:srgbClr val="00A896">
              <a:alpha val="32000"/>
            </a:srgbClr>
          </a:solidFill>
          <a:ln w="12700">
            <a:solidFill>
              <a:srgbClr val="00A896">
                <a:alpha val="32000"/>
              </a:srgbClr>
            </a:solidFill>
            <a:prstDash val="solid"/>
          </a:ln>
        </p:spPr>
      </p:sp>
      <p:sp>
        <p:nvSpPr>
          <p:cNvPr id="11" name="Shape 9"/>
          <p:cNvSpPr/>
          <p:nvPr/>
        </p:nvSpPr>
        <p:spPr>
          <a:xfrm>
            <a:off x="1307592" y="3145536"/>
            <a:ext cx="100584" cy="100584"/>
          </a:xfrm>
          <a:prstGeom prst="ellipse">
            <a:avLst/>
          </a:prstGeom>
          <a:solidFill>
            <a:srgbClr val="00A896">
              <a:alpha val="32000"/>
            </a:srgbClr>
          </a:solidFill>
          <a:ln w="12700">
            <a:solidFill>
              <a:srgbClr val="00A896">
                <a:alpha val="32000"/>
              </a:srgbClr>
            </a:solidFill>
            <a:prstDash val="solid"/>
          </a:ln>
        </p:spPr>
      </p:sp>
      <p:sp>
        <p:nvSpPr>
          <p:cNvPr id="12" name="Shape 10"/>
          <p:cNvSpPr/>
          <p:nvPr/>
        </p:nvSpPr>
        <p:spPr>
          <a:xfrm>
            <a:off x="1307592" y="4133088"/>
            <a:ext cx="100584" cy="100584"/>
          </a:xfrm>
          <a:prstGeom prst="ellipse">
            <a:avLst/>
          </a:prstGeom>
          <a:solidFill>
            <a:srgbClr val="00A896">
              <a:alpha val="32000"/>
            </a:srgbClr>
          </a:solidFill>
          <a:ln w="12700">
            <a:solidFill>
              <a:srgbClr val="00A896">
                <a:alpha val="32000"/>
              </a:srgbClr>
            </a:solidFill>
            <a:prstDash val="solid"/>
          </a:ln>
        </p:spPr>
      </p:sp>
      <p:sp>
        <p:nvSpPr>
          <p:cNvPr id="13" name="Shape 11"/>
          <p:cNvSpPr/>
          <p:nvPr/>
        </p:nvSpPr>
        <p:spPr>
          <a:xfrm>
            <a:off x="1307592" y="5120640"/>
            <a:ext cx="100584" cy="100584"/>
          </a:xfrm>
          <a:prstGeom prst="ellipse">
            <a:avLst/>
          </a:prstGeom>
          <a:solidFill>
            <a:srgbClr val="00A896">
              <a:alpha val="32000"/>
            </a:srgbClr>
          </a:solidFill>
          <a:ln w="12700">
            <a:solidFill>
              <a:srgbClr val="00A896">
                <a:alpha val="32000"/>
              </a:srgbClr>
            </a:solidFill>
            <a:prstDash val="solid"/>
          </a:ln>
        </p:spPr>
      </p:sp>
      <p:sp>
        <p:nvSpPr>
          <p:cNvPr id="14" name="Shape 12"/>
          <p:cNvSpPr/>
          <p:nvPr/>
        </p:nvSpPr>
        <p:spPr>
          <a:xfrm>
            <a:off x="2295144" y="182880"/>
            <a:ext cx="100584" cy="100584"/>
          </a:xfrm>
          <a:prstGeom prst="ellipse">
            <a:avLst/>
          </a:prstGeom>
          <a:solidFill>
            <a:srgbClr val="00A896">
              <a:alpha val="32000"/>
            </a:srgbClr>
          </a:solidFill>
          <a:ln w="12700">
            <a:solidFill>
              <a:srgbClr val="00A896">
                <a:alpha val="32000"/>
              </a:srgbClr>
            </a:solidFill>
            <a:prstDash val="solid"/>
          </a:ln>
        </p:spPr>
      </p:sp>
      <p:sp>
        <p:nvSpPr>
          <p:cNvPr id="15" name="Shape 13"/>
          <p:cNvSpPr/>
          <p:nvPr/>
        </p:nvSpPr>
        <p:spPr>
          <a:xfrm>
            <a:off x="2295144" y="1170432"/>
            <a:ext cx="100584" cy="100584"/>
          </a:xfrm>
          <a:prstGeom prst="ellipse">
            <a:avLst/>
          </a:prstGeom>
          <a:solidFill>
            <a:srgbClr val="00A896">
              <a:alpha val="32000"/>
            </a:srgbClr>
          </a:solidFill>
          <a:ln w="12700">
            <a:solidFill>
              <a:srgbClr val="00A896">
                <a:alpha val="32000"/>
              </a:srgbClr>
            </a:solidFill>
            <a:prstDash val="solid"/>
          </a:ln>
        </p:spPr>
      </p:sp>
      <p:sp>
        <p:nvSpPr>
          <p:cNvPr id="16" name="Shape 14"/>
          <p:cNvSpPr/>
          <p:nvPr/>
        </p:nvSpPr>
        <p:spPr>
          <a:xfrm>
            <a:off x="2295144" y="2157984"/>
            <a:ext cx="100584" cy="100584"/>
          </a:xfrm>
          <a:prstGeom prst="ellipse">
            <a:avLst/>
          </a:prstGeom>
          <a:solidFill>
            <a:srgbClr val="00A896">
              <a:alpha val="32000"/>
            </a:srgbClr>
          </a:solidFill>
          <a:ln w="12700">
            <a:solidFill>
              <a:srgbClr val="00A896">
                <a:alpha val="32000"/>
              </a:srgbClr>
            </a:solidFill>
            <a:prstDash val="solid"/>
          </a:ln>
        </p:spPr>
      </p:sp>
      <p:sp>
        <p:nvSpPr>
          <p:cNvPr id="17" name="Shape 15"/>
          <p:cNvSpPr/>
          <p:nvPr/>
        </p:nvSpPr>
        <p:spPr>
          <a:xfrm>
            <a:off x="2295144" y="3145536"/>
            <a:ext cx="100584" cy="100584"/>
          </a:xfrm>
          <a:prstGeom prst="ellipse">
            <a:avLst/>
          </a:prstGeom>
          <a:solidFill>
            <a:srgbClr val="00A896">
              <a:alpha val="32000"/>
            </a:srgbClr>
          </a:solidFill>
          <a:ln w="12700">
            <a:solidFill>
              <a:srgbClr val="00A896">
                <a:alpha val="32000"/>
              </a:srgbClr>
            </a:solidFill>
            <a:prstDash val="solid"/>
          </a:ln>
        </p:spPr>
      </p:sp>
      <p:sp>
        <p:nvSpPr>
          <p:cNvPr id="18" name="Shape 16"/>
          <p:cNvSpPr/>
          <p:nvPr/>
        </p:nvSpPr>
        <p:spPr>
          <a:xfrm>
            <a:off x="2295144" y="4133088"/>
            <a:ext cx="100584" cy="100584"/>
          </a:xfrm>
          <a:prstGeom prst="ellipse">
            <a:avLst/>
          </a:prstGeom>
          <a:solidFill>
            <a:srgbClr val="00A896">
              <a:alpha val="32000"/>
            </a:srgbClr>
          </a:solidFill>
          <a:ln w="12700">
            <a:solidFill>
              <a:srgbClr val="00A896">
                <a:alpha val="32000"/>
              </a:srgbClr>
            </a:solidFill>
            <a:prstDash val="solid"/>
          </a:ln>
        </p:spPr>
      </p:sp>
      <p:sp>
        <p:nvSpPr>
          <p:cNvPr id="19" name="Shape 17"/>
          <p:cNvSpPr/>
          <p:nvPr/>
        </p:nvSpPr>
        <p:spPr>
          <a:xfrm>
            <a:off x="2295144" y="5120640"/>
            <a:ext cx="100584" cy="100584"/>
          </a:xfrm>
          <a:prstGeom prst="ellipse">
            <a:avLst/>
          </a:prstGeom>
          <a:solidFill>
            <a:srgbClr val="00A896">
              <a:alpha val="32000"/>
            </a:srgbClr>
          </a:solidFill>
          <a:ln w="12700">
            <a:solidFill>
              <a:srgbClr val="00A896">
                <a:alpha val="32000"/>
              </a:srgbClr>
            </a:solidFill>
            <a:prstDash val="solid"/>
          </a:ln>
        </p:spPr>
      </p:sp>
      <p:sp>
        <p:nvSpPr>
          <p:cNvPr id="20" name="Shape 18"/>
          <p:cNvSpPr/>
          <p:nvPr/>
        </p:nvSpPr>
        <p:spPr>
          <a:xfrm>
            <a:off x="3282696" y="182880"/>
            <a:ext cx="100584" cy="100584"/>
          </a:xfrm>
          <a:prstGeom prst="ellipse">
            <a:avLst/>
          </a:prstGeom>
          <a:solidFill>
            <a:srgbClr val="00A896">
              <a:alpha val="32000"/>
            </a:srgbClr>
          </a:solidFill>
          <a:ln w="12700">
            <a:solidFill>
              <a:srgbClr val="00A896">
                <a:alpha val="32000"/>
              </a:srgbClr>
            </a:solidFill>
            <a:prstDash val="solid"/>
          </a:ln>
        </p:spPr>
      </p:sp>
      <p:sp>
        <p:nvSpPr>
          <p:cNvPr id="21" name="Shape 19"/>
          <p:cNvSpPr/>
          <p:nvPr/>
        </p:nvSpPr>
        <p:spPr>
          <a:xfrm>
            <a:off x="3282696" y="1170432"/>
            <a:ext cx="100584" cy="100584"/>
          </a:xfrm>
          <a:prstGeom prst="ellipse">
            <a:avLst/>
          </a:prstGeom>
          <a:solidFill>
            <a:srgbClr val="00A896">
              <a:alpha val="32000"/>
            </a:srgbClr>
          </a:solidFill>
          <a:ln w="12700">
            <a:solidFill>
              <a:srgbClr val="00A896">
                <a:alpha val="32000"/>
              </a:srgbClr>
            </a:solidFill>
            <a:prstDash val="solid"/>
          </a:ln>
        </p:spPr>
      </p:sp>
      <p:sp>
        <p:nvSpPr>
          <p:cNvPr id="22" name="Shape 20"/>
          <p:cNvSpPr/>
          <p:nvPr/>
        </p:nvSpPr>
        <p:spPr>
          <a:xfrm>
            <a:off x="3282696" y="2157984"/>
            <a:ext cx="100584" cy="100584"/>
          </a:xfrm>
          <a:prstGeom prst="ellipse">
            <a:avLst/>
          </a:prstGeom>
          <a:solidFill>
            <a:srgbClr val="00A896">
              <a:alpha val="32000"/>
            </a:srgbClr>
          </a:solidFill>
          <a:ln w="12700">
            <a:solidFill>
              <a:srgbClr val="00A896">
                <a:alpha val="32000"/>
              </a:srgbClr>
            </a:solidFill>
            <a:prstDash val="solid"/>
          </a:ln>
        </p:spPr>
      </p:sp>
      <p:sp>
        <p:nvSpPr>
          <p:cNvPr id="23" name="Shape 21"/>
          <p:cNvSpPr/>
          <p:nvPr/>
        </p:nvSpPr>
        <p:spPr>
          <a:xfrm>
            <a:off x="3282696" y="3145536"/>
            <a:ext cx="100584" cy="100584"/>
          </a:xfrm>
          <a:prstGeom prst="ellipse">
            <a:avLst/>
          </a:prstGeom>
          <a:solidFill>
            <a:srgbClr val="00A896">
              <a:alpha val="32000"/>
            </a:srgbClr>
          </a:solidFill>
          <a:ln w="12700">
            <a:solidFill>
              <a:srgbClr val="00A896">
                <a:alpha val="32000"/>
              </a:srgbClr>
            </a:solidFill>
            <a:prstDash val="solid"/>
          </a:ln>
        </p:spPr>
      </p:sp>
      <p:sp>
        <p:nvSpPr>
          <p:cNvPr id="24" name="Shape 22"/>
          <p:cNvSpPr/>
          <p:nvPr/>
        </p:nvSpPr>
        <p:spPr>
          <a:xfrm>
            <a:off x="3282696" y="4133088"/>
            <a:ext cx="100584" cy="100584"/>
          </a:xfrm>
          <a:prstGeom prst="ellipse">
            <a:avLst/>
          </a:prstGeom>
          <a:solidFill>
            <a:srgbClr val="00A896">
              <a:alpha val="32000"/>
            </a:srgbClr>
          </a:solidFill>
          <a:ln w="12700">
            <a:solidFill>
              <a:srgbClr val="00A896">
                <a:alpha val="32000"/>
              </a:srgbClr>
            </a:solidFill>
            <a:prstDash val="solid"/>
          </a:ln>
        </p:spPr>
      </p:sp>
      <p:sp>
        <p:nvSpPr>
          <p:cNvPr id="25" name="Shape 23"/>
          <p:cNvSpPr/>
          <p:nvPr/>
        </p:nvSpPr>
        <p:spPr>
          <a:xfrm>
            <a:off x="3282696" y="5120640"/>
            <a:ext cx="100584" cy="100584"/>
          </a:xfrm>
          <a:prstGeom prst="ellipse">
            <a:avLst/>
          </a:prstGeom>
          <a:solidFill>
            <a:srgbClr val="00A896">
              <a:alpha val="32000"/>
            </a:srgbClr>
          </a:solidFill>
          <a:ln w="12700">
            <a:solidFill>
              <a:srgbClr val="00A896">
                <a:alpha val="32000"/>
              </a:srgbClr>
            </a:solidFill>
            <a:prstDash val="solid"/>
          </a:ln>
        </p:spPr>
      </p:sp>
      <p:sp>
        <p:nvSpPr>
          <p:cNvPr id="26" name="Shape 24"/>
          <p:cNvSpPr/>
          <p:nvPr/>
        </p:nvSpPr>
        <p:spPr>
          <a:xfrm>
            <a:off x="4270248" y="182880"/>
            <a:ext cx="100584" cy="100584"/>
          </a:xfrm>
          <a:prstGeom prst="ellipse">
            <a:avLst/>
          </a:prstGeom>
          <a:solidFill>
            <a:srgbClr val="00A896">
              <a:alpha val="32000"/>
            </a:srgbClr>
          </a:solidFill>
          <a:ln w="12700">
            <a:solidFill>
              <a:srgbClr val="00A896">
                <a:alpha val="32000"/>
              </a:srgbClr>
            </a:solidFill>
            <a:prstDash val="solid"/>
          </a:ln>
        </p:spPr>
      </p:sp>
      <p:sp>
        <p:nvSpPr>
          <p:cNvPr id="27" name="Shape 25"/>
          <p:cNvSpPr/>
          <p:nvPr/>
        </p:nvSpPr>
        <p:spPr>
          <a:xfrm>
            <a:off x="4270248" y="1170432"/>
            <a:ext cx="100584" cy="100584"/>
          </a:xfrm>
          <a:prstGeom prst="ellipse">
            <a:avLst/>
          </a:prstGeom>
          <a:solidFill>
            <a:srgbClr val="00A896">
              <a:alpha val="32000"/>
            </a:srgbClr>
          </a:solidFill>
          <a:ln w="12700">
            <a:solidFill>
              <a:srgbClr val="00A896">
                <a:alpha val="32000"/>
              </a:srgbClr>
            </a:solidFill>
            <a:prstDash val="solid"/>
          </a:ln>
        </p:spPr>
      </p:sp>
      <p:sp>
        <p:nvSpPr>
          <p:cNvPr id="28" name="Shape 26"/>
          <p:cNvSpPr/>
          <p:nvPr/>
        </p:nvSpPr>
        <p:spPr>
          <a:xfrm>
            <a:off x="4270248" y="2157984"/>
            <a:ext cx="100584" cy="100584"/>
          </a:xfrm>
          <a:prstGeom prst="ellipse">
            <a:avLst/>
          </a:prstGeom>
          <a:solidFill>
            <a:srgbClr val="00A896">
              <a:alpha val="32000"/>
            </a:srgbClr>
          </a:solidFill>
          <a:ln w="12700">
            <a:solidFill>
              <a:srgbClr val="00A896">
                <a:alpha val="32000"/>
              </a:srgbClr>
            </a:solidFill>
            <a:prstDash val="solid"/>
          </a:ln>
        </p:spPr>
      </p:sp>
      <p:sp>
        <p:nvSpPr>
          <p:cNvPr id="29" name="Shape 27"/>
          <p:cNvSpPr/>
          <p:nvPr/>
        </p:nvSpPr>
        <p:spPr>
          <a:xfrm>
            <a:off x="4270248" y="3145536"/>
            <a:ext cx="100584" cy="100584"/>
          </a:xfrm>
          <a:prstGeom prst="ellipse">
            <a:avLst/>
          </a:prstGeom>
          <a:solidFill>
            <a:srgbClr val="00A896">
              <a:alpha val="32000"/>
            </a:srgbClr>
          </a:solidFill>
          <a:ln w="12700">
            <a:solidFill>
              <a:srgbClr val="00A896">
                <a:alpha val="32000"/>
              </a:srgbClr>
            </a:solidFill>
            <a:prstDash val="solid"/>
          </a:ln>
        </p:spPr>
      </p:sp>
      <p:sp>
        <p:nvSpPr>
          <p:cNvPr id="30" name="Shape 28"/>
          <p:cNvSpPr/>
          <p:nvPr/>
        </p:nvSpPr>
        <p:spPr>
          <a:xfrm>
            <a:off x="4270248" y="4133088"/>
            <a:ext cx="100584" cy="100584"/>
          </a:xfrm>
          <a:prstGeom prst="ellipse">
            <a:avLst/>
          </a:prstGeom>
          <a:solidFill>
            <a:srgbClr val="00A896">
              <a:alpha val="32000"/>
            </a:srgbClr>
          </a:solidFill>
          <a:ln w="12700">
            <a:solidFill>
              <a:srgbClr val="00A896">
                <a:alpha val="32000"/>
              </a:srgbClr>
            </a:solidFill>
            <a:prstDash val="solid"/>
          </a:ln>
        </p:spPr>
      </p:sp>
      <p:sp>
        <p:nvSpPr>
          <p:cNvPr id="31" name="Shape 29"/>
          <p:cNvSpPr/>
          <p:nvPr/>
        </p:nvSpPr>
        <p:spPr>
          <a:xfrm>
            <a:off x="4270248" y="5120640"/>
            <a:ext cx="100584" cy="100584"/>
          </a:xfrm>
          <a:prstGeom prst="ellipse">
            <a:avLst/>
          </a:prstGeom>
          <a:solidFill>
            <a:srgbClr val="00A896">
              <a:alpha val="32000"/>
            </a:srgbClr>
          </a:solidFill>
          <a:ln w="12700">
            <a:solidFill>
              <a:srgbClr val="00A896">
                <a:alpha val="32000"/>
              </a:srgbClr>
            </a:solidFill>
            <a:prstDash val="solid"/>
          </a:ln>
        </p:spPr>
      </p:sp>
      <p:sp>
        <p:nvSpPr>
          <p:cNvPr id="32" name="Shape 30"/>
          <p:cNvSpPr/>
          <p:nvPr/>
        </p:nvSpPr>
        <p:spPr>
          <a:xfrm>
            <a:off x="5257800" y="182880"/>
            <a:ext cx="100584" cy="100584"/>
          </a:xfrm>
          <a:prstGeom prst="ellipse">
            <a:avLst/>
          </a:prstGeom>
          <a:solidFill>
            <a:srgbClr val="00A896">
              <a:alpha val="32000"/>
            </a:srgbClr>
          </a:solidFill>
          <a:ln w="12700">
            <a:solidFill>
              <a:srgbClr val="00A896">
                <a:alpha val="32000"/>
              </a:srgbClr>
            </a:solidFill>
            <a:prstDash val="solid"/>
          </a:ln>
        </p:spPr>
      </p:sp>
      <p:sp>
        <p:nvSpPr>
          <p:cNvPr id="33" name="Shape 31"/>
          <p:cNvSpPr/>
          <p:nvPr/>
        </p:nvSpPr>
        <p:spPr>
          <a:xfrm>
            <a:off x="5257800" y="1170432"/>
            <a:ext cx="100584" cy="100584"/>
          </a:xfrm>
          <a:prstGeom prst="ellipse">
            <a:avLst/>
          </a:prstGeom>
          <a:solidFill>
            <a:srgbClr val="00A896">
              <a:alpha val="32000"/>
            </a:srgbClr>
          </a:solidFill>
          <a:ln w="12700">
            <a:solidFill>
              <a:srgbClr val="00A896">
                <a:alpha val="32000"/>
              </a:srgbClr>
            </a:solidFill>
            <a:prstDash val="solid"/>
          </a:ln>
        </p:spPr>
      </p:sp>
      <p:sp>
        <p:nvSpPr>
          <p:cNvPr id="34" name="Shape 32"/>
          <p:cNvSpPr/>
          <p:nvPr/>
        </p:nvSpPr>
        <p:spPr>
          <a:xfrm>
            <a:off x="5257800" y="2157984"/>
            <a:ext cx="100584" cy="100584"/>
          </a:xfrm>
          <a:prstGeom prst="ellipse">
            <a:avLst/>
          </a:prstGeom>
          <a:solidFill>
            <a:srgbClr val="00A896">
              <a:alpha val="32000"/>
            </a:srgbClr>
          </a:solidFill>
          <a:ln w="12700">
            <a:solidFill>
              <a:srgbClr val="00A896">
                <a:alpha val="32000"/>
              </a:srgbClr>
            </a:solidFill>
            <a:prstDash val="solid"/>
          </a:ln>
        </p:spPr>
      </p:sp>
      <p:sp>
        <p:nvSpPr>
          <p:cNvPr id="35" name="Shape 33"/>
          <p:cNvSpPr/>
          <p:nvPr/>
        </p:nvSpPr>
        <p:spPr>
          <a:xfrm>
            <a:off x="5257800" y="3145536"/>
            <a:ext cx="100584" cy="100584"/>
          </a:xfrm>
          <a:prstGeom prst="ellipse">
            <a:avLst/>
          </a:prstGeom>
          <a:solidFill>
            <a:srgbClr val="00A896">
              <a:alpha val="32000"/>
            </a:srgbClr>
          </a:solidFill>
          <a:ln w="12700">
            <a:solidFill>
              <a:srgbClr val="00A896">
                <a:alpha val="32000"/>
              </a:srgbClr>
            </a:solidFill>
            <a:prstDash val="solid"/>
          </a:ln>
        </p:spPr>
      </p:sp>
      <p:sp>
        <p:nvSpPr>
          <p:cNvPr id="36" name="Shape 34"/>
          <p:cNvSpPr/>
          <p:nvPr/>
        </p:nvSpPr>
        <p:spPr>
          <a:xfrm>
            <a:off x="5257800" y="4133088"/>
            <a:ext cx="100584" cy="100584"/>
          </a:xfrm>
          <a:prstGeom prst="ellipse">
            <a:avLst/>
          </a:prstGeom>
          <a:solidFill>
            <a:srgbClr val="00A896">
              <a:alpha val="32000"/>
            </a:srgbClr>
          </a:solidFill>
          <a:ln w="12700">
            <a:solidFill>
              <a:srgbClr val="00A896">
                <a:alpha val="32000"/>
              </a:srgbClr>
            </a:solidFill>
            <a:prstDash val="solid"/>
          </a:ln>
        </p:spPr>
      </p:sp>
      <p:sp>
        <p:nvSpPr>
          <p:cNvPr id="37" name="Shape 35"/>
          <p:cNvSpPr/>
          <p:nvPr/>
        </p:nvSpPr>
        <p:spPr>
          <a:xfrm>
            <a:off x="5257800" y="5120640"/>
            <a:ext cx="100584" cy="100584"/>
          </a:xfrm>
          <a:prstGeom prst="ellipse">
            <a:avLst/>
          </a:prstGeom>
          <a:solidFill>
            <a:srgbClr val="00A896">
              <a:alpha val="32000"/>
            </a:srgbClr>
          </a:solidFill>
          <a:ln w="12700">
            <a:solidFill>
              <a:srgbClr val="00A896">
                <a:alpha val="32000"/>
              </a:srgbClr>
            </a:solidFill>
            <a:prstDash val="solid"/>
          </a:ln>
        </p:spPr>
      </p:sp>
      <p:sp>
        <p:nvSpPr>
          <p:cNvPr id="38" name="Shape 36"/>
          <p:cNvSpPr/>
          <p:nvPr/>
        </p:nvSpPr>
        <p:spPr>
          <a:xfrm>
            <a:off x="6245352" y="182880"/>
            <a:ext cx="100584" cy="100584"/>
          </a:xfrm>
          <a:prstGeom prst="ellipse">
            <a:avLst/>
          </a:prstGeom>
          <a:solidFill>
            <a:srgbClr val="00A896">
              <a:alpha val="32000"/>
            </a:srgbClr>
          </a:solidFill>
          <a:ln w="12700">
            <a:solidFill>
              <a:srgbClr val="00A896">
                <a:alpha val="32000"/>
              </a:srgbClr>
            </a:solidFill>
            <a:prstDash val="solid"/>
          </a:ln>
        </p:spPr>
      </p:sp>
      <p:sp>
        <p:nvSpPr>
          <p:cNvPr id="39" name="Shape 37"/>
          <p:cNvSpPr/>
          <p:nvPr/>
        </p:nvSpPr>
        <p:spPr>
          <a:xfrm>
            <a:off x="6245352" y="1170432"/>
            <a:ext cx="100584" cy="100584"/>
          </a:xfrm>
          <a:prstGeom prst="ellipse">
            <a:avLst/>
          </a:prstGeom>
          <a:solidFill>
            <a:srgbClr val="00A896">
              <a:alpha val="32000"/>
            </a:srgbClr>
          </a:solidFill>
          <a:ln w="12700">
            <a:solidFill>
              <a:srgbClr val="00A896">
                <a:alpha val="32000"/>
              </a:srgbClr>
            </a:solidFill>
            <a:prstDash val="solid"/>
          </a:ln>
        </p:spPr>
      </p:sp>
      <p:sp>
        <p:nvSpPr>
          <p:cNvPr id="40" name="Shape 38"/>
          <p:cNvSpPr/>
          <p:nvPr/>
        </p:nvSpPr>
        <p:spPr>
          <a:xfrm>
            <a:off x="6245352" y="2157984"/>
            <a:ext cx="100584" cy="100584"/>
          </a:xfrm>
          <a:prstGeom prst="ellipse">
            <a:avLst/>
          </a:prstGeom>
          <a:solidFill>
            <a:srgbClr val="00A896">
              <a:alpha val="32000"/>
            </a:srgbClr>
          </a:solidFill>
          <a:ln w="12700">
            <a:solidFill>
              <a:srgbClr val="00A896">
                <a:alpha val="32000"/>
              </a:srgbClr>
            </a:solidFill>
            <a:prstDash val="solid"/>
          </a:ln>
        </p:spPr>
      </p:sp>
      <p:sp>
        <p:nvSpPr>
          <p:cNvPr id="41" name="Shape 39"/>
          <p:cNvSpPr/>
          <p:nvPr/>
        </p:nvSpPr>
        <p:spPr>
          <a:xfrm>
            <a:off x="6245352" y="3145536"/>
            <a:ext cx="100584" cy="100584"/>
          </a:xfrm>
          <a:prstGeom prst="ellipse">
            <a:avLst/>
          </a:prstGeom>
          <a:solidFill>
            <a:srgbClr val="00A896">
              <a:alpha val="32000"/>
            </a:srgbClr>
          </a:solidFill>
          <a:ln w="12700">
            <a:solidFill>
              <a:srgbClr val="00A896">
                <a:alpha val="32000"/>
              </a:srgbClr>
            </a:solidFill>
            <a:prstDash val="solid"/>
          </a:ln>
        </p:spPr>
      </p:sp>
      <p:sp>
        <p:nvSpPr>
          <p:cNvPr id="42" name="Shape 40"/>
          <p:cNvSpPr/>
          <p:nvPr/>
        </p:nvSpPr>
        <p:spPr>
          <a:xfrm>
            <a:off x="6245352" y="4133088"/>
            <a:ext cx="100584" cy="100584"/>
          </a:xfrm>
          <a:prstGeom prst="ellipse">
            <a:avLst/>
          </a:prstGeom>
          <a:solidFill>
            <a:srgbClr val="00A896">
              <a:alpha val="32000"/>
            </a:srgbClr>
          </a:solidFill>
          <a:ln w="12700">
            <a:solidFill>
              <a:srgbClr val="00A896">
                <a:alpha val="32000"/>
              </a:srgbClr>
            </a:solidFill>
            <a:prstDash val="solid"/>
          </a:ln>
        </p:spPr>
      </p:sp>
      <p:sp>
        <p:nvSpPr>
          <p:cNvPr id="43" name="Shape 41"/>
          <p:cNvSpPr/>
          <p:nvPr/>
        </p:nvSpPr>
        <p:spPr>
          <a:xfrm>
            <a:off x="6245352" y="5120640"/>
            <a:ext cx="100584" cy="100584"/>
          </a:xfrm>
          <a:prstGeom prst="ellipse">
            <a:avLst/>
          </a:prstGeom>
          <a:solidFill>
            <a:srgbClr val="00A896">
              <a:alpha val="32000"/>
            </a:srgbClr>
          </a:solidFill>
          <a:ln w="12700">
            <a:solidFill>
              <a:srgbClr val="00A896">
                <a:alpha val="32000"/>
              </a:srgbClr>
            </a:solidFill>
            <a:prstDash val="solid"/>
          </a:ln>
        </p:spPr>
      </p:sp>
      <p:sp>
        <p:nvSpPr>
          <p:cNvPr id="44" name="Shape 42"/>
          <p:cNvSpPr/>
          <p:nvPr/>
        </p:nvSpPr>
        <p:spPr>
          <a:xfrm>
            <a:off x="7232904" y="182880"/>
            <a:ext cx="100584" cy="100584"/>
          </a:xfrm>
          <a:prstGeom prst="ellipse">
            <a:avLst/>
          </a:prstGeom>
          <a:solidFill>
            <a:srgbClr val="00A896">
              <a:alpha val="32000"/>
            </a:srgbClr>
          </a:solidFill>
          <a:ln w="12700">
            <a:solidFill>
              <a:srgbClr val="00A896">
                <a:alpha val="32000"/>
              </a:srgbClr>
            </a:solidFill>
            <a:prstDash val="solid"/>
          </a:ln>
        </p:spPr>
      </p:sp>
      <p:sp>
        <p:nvSpPr>
          <p:cNvPr id="45" name="Shape 43"/>
          <p:cNvSpPr/>
          <p:nvPr/>
        </p:nvSpPr>
        <p:spPr>
          <a:xfrm>
            <a:off x="7232904" y="1170432"/>
            <a:ext cx="100584" cy="100584"/>
          </a:xfrm>
          <a:prstGeom prst="ellipse">
            <a:avLst/>
          </a:prstGeom>
          <a:solidFill>
            <a:srgbClr val="00A896">
              <a:alpha val="32000"/>
            </a:srgbClr>
          </a:solidFill>
          <a:ln w="12700">
            <a:solidFill>
              <a:srgbClr val="00A896">
                <a:alpha val="32000"/>
              </a:srgbClr>
            </a:solidFill>
            <a:prstDash val="solid"/>
          </a:ln>
        </p:spPr>
      </p:sp>
      <p:sp>
        <p:nvSpPr>
          <p:cNvPr id="46" name="Shape 44"/>
          <p:cNvSpPr/>
          <p:nvPr/>
        </p:nvSpPr>
        <p:spPr>
          <a:xfrm>
            <a:off x="7232904" y="2157984"/>
            <a:ext cx="100584" cy="100584"/>
          </a:xfrm>
          <a:prstGeom prst="ellipse">
            <a:avLst/>
          </a:prstGeom>
          <a:solidFill>
            <a:srgbClr val="00A896">
              <a:alpha val="32000"/>
            </a:srgbClr>
          </a:solidFill>
          <a:ln w="12700">
            <a:solidFill>
              <a:srgbClr val="00A896">
                <a:alpha val="32000"/>
              </a:srgbClr>
            </a:solidFill>
            <a:prstDash val="solid"/>
          </a:ln>
        </p:spPr>
      </p:sp>
      <p:sp>
        <p:nvSpPr>
          <p:cNvPr id="47" name="Shape 45"/>
          <p:cNvSpPr/>
          <p:nvPr/>
        </p:nvSpPr>
        <p:spPr>
          <a:xfrm>
            <a:off x="7232904" y="3145536"/>
            <a:ext cx="100584" cy="100584"/>
          </a:xfrm>
          <a:prstGeom prst="ellipse">
            <a:avLst/>
          </a:prstGeom>
          <a:solidFill>
            <a:srgbClr val="00A896">
              <a:alpha val="32000"/>
            </a:srgbClr>
          </a:solidFill>
          <a:ln w="12700">
            <a:solidFill>
              <a:srgbClr val="00A896">
                <a:alpha val="32000"/>
              </a:srgbClr>
            </a:solidFill>
            <a:prstDash val="solid"/>
          </a:ln>
        </p:spPr>
      </p:sp>
      <p:sp>
        <p:nvSpPr>
          <p:cNvPr id="48" name="Shape 46"/>
          <p:cNvSpPr/>
          <p:nvPr/>
        </p:nvSpPr>
        <p:spPr>
          <a:xfrm>
            <a:off x="7232904" y="4133088"/>
            <a:ext cx="100584" cy="100584"/>
          </a:xfrm>
          <a:prstGeom prst="ellipse">
            <a:avLst/>
          </a:prstGeom>
          <a:solidFill>
            <a:srgbClr val="00A896">
              <a:alpha val="32000"/>
            </a:srgbClr>
          </a:solidFill>
          <a:ln w="12700">
            <a:solidFill>
              <a:srgbClr val="00A896">
                <a:alpha val="32000"/>
              </a:srgbClr>
            </a:solidFill>
            <a:prstDash val="solid"/>
          </a:ln>
        </p:spPr>
      </p:sp>
      <p:sp>
        <p:nvSpPr>
          <p:cNvPr id="49" name="Shape 47"/>
          <p:cNvSpPr/>
          <p:nvPr/>
        </p:nvSpPr>
        <p:spPr>
          <a:xfrm>
            <a:off x="7232904" y="5120640"/>
            <a:ext cx="100584" cy="100584"/>
          </a:xfrm>
          <a:prstGeom prst="ellipse">
            <a:avLst/>
          </a:prstGeom>
          <a:solidFill>
            <a:srgbClr val="00A896">
              <a:alpha val="32000"/>
            </a:srgbClr>
          </a:solidFill>
          <a:ln w="12700">
            <a:solidFill>
              <a:srgbClr val="00A896">
                <a:alpha val="32000"/>
              </a:srgbClr>
            </a:solidFill>
            <a:prstDash val="solid"/>
          </a:ln>
        </p:spPr>
      </p:sp>
      <p:sp>
        <p:nvSpPr>
          <p:cNvPr id="50" name="Shape 48"/>
          <p:cNvSpPr/>
          <p:nvPr/>
        </p:nvSpPr>
        <p:spPr>
          <a:xfrm>
            <a:off x="8220456" y="182880"/>
            <a:ext cx="100584" cy="100584"/>
          </a:xfrm>
          <a:prstGeom prst="ellipse">
            <a:avLst/>
          </a:prstGeom>
          <a:solidFill>
            <a:srgbClr val="00A896">
              <a:alpha val="32000"/>
            </a:srgbClr>
          </a:solidFill>
          <a:ln w="12700">
            <a:solidFill>
              <a:srgbClr val="00A896">
                <a:alpha val="32000"/>
              </a:srgbClr>
            </a:solidFill>
            <a:prstDash val="solid"/>
          </a:ln>
        </p:spPr>
      </p:sp>
      <p:sp>
        <p:nvSpPr>
          <p:cNvPr id="51" name="Shape 49"/>
          <p:cNvSpPr/>
          <p:nvPr/>
        </p:nvSpPr>
        <p:spPr>
          <a:xfrm>
            <a:off x="8220456" y="1170432"/>
            <a:ext cx="100584" cy="100584"/>
          </a:xfrm>
          <a:prstGeom prst="ellipse">
            <a:avLst/>
          </a:prstGeom>
          <a:solidFill>
            <a:srgbClr val="00A896">
              <a:alpha val="32000"/>
            </a:srgbClr>
          </a:solidFill>
          <a:ln w="12700">
            <a:solidFill>
              <a:srgbClr val="00A896">
                <a:alpha val="32000"/>
              </a:srgbClr>
            </a:solidFill>
            <a:prstDash val="solid"/>
          </a:ln>
        </p:spPr>
      </p:sp>
      <p:sp>
        <p:nvSpPr>
          <p:cNvPr id="52" name="Shape 50"/>
          <p:cNvSpPr/>
          <p:nvPr/>
        </p:nvSpPr>
        <p:spPr>
          <a:xfrm>
            <a:off x="8220456" y="2157984"/>
            <a:ext cx="100584" cy="100584"/>
          </a:xfrm>
          <a:prstGeom prst="ellipse">
            <a:avLst/>
          </a:prstGeom>
          <a:solidFill>
            <a:srgbClr val="00A896">
              <a:alpha val="32000"/>
            </a:srgbClr>
          </a:solidFill>
          <a:ln w="12700">
            <a:solidFill>
              <a:srgbClr val="00A896">
                <a:alpha val="32000"/>
              </a:srgbClr>
            </a:solidFill>
            <a:prstDash val="solid"/>
          </a:ln>
        </p:spPr>
      </p:sp>
      <p:sp>
        <p:nvSpPr>
          <p:cNvPr id="53" name="Shape 51"/>
          <p:cNvSpPr/>
          <p:nvPr/>
        </p:nvSpPr>
        <p:spPr>
          <a:xfrm>
            <a:off x="8220456" y="3145536"/>
            <a:ext cx="100584" cy="100584"/>
          </a:xfrm>
          <a:prstGeom prst="ellipse">
            <a:avLst/>
          </a:prstGeom>
          <a:solidFill>
            <a:srgbClr val="00A896">
              <a:alpha val="32000"/>
            </a:srgbClr>
          </a:solidFill>
          <a:ln w="12700">
            <a:solidFill>
              <a:srgbClr val="00A896">
                <a:alpha val="32000"/>
              </a:srgbClr>
            </a:solidFill>
            <a:prstDash val="solid"/>
          </a:ln>
        </p:spPr>
      </p:sp>
      <p:sp>
        <p:nvSpPr>
          <p:cNvPr id="54" name="Shape 52"/>
          <p:cNvSpPr/>
          <p:nvPr/>
        </p:nvSpPr>
        <p:spPr>
          <a:xfrm>
            <a:off x="8220456" y="4133088"/>
            <a:ext cx="100584" cy="100584"/>
          </a:xfrm>
          <a:prstGeom prst="ellipse">
            <a:avLst/>
          </a:prstGeom>
          <a:solidFill>
            <a:srgbClr val="00A896">
              <a:alpha val="32000"/>
            </a:srgbClr>
          </a:solidFill>
          <a:ln w="12700">
            <a:solidFill>
              <a:srgbClr val="00A896">
                <a:alpha val="32000"/>
              </a:srgbClr>
            </a:solidFill>
            <a:prstDash val="solid"/>
          </a:ln>
        </p:spPr>
      </p:sp>
      <p:sp>
        <p:nvSpPr>
          <p:cNvPr id="55" name="Shape 53"/>
          <p:cNvSpPr/>
          <p:nvPr/>
        </p:nvSpPr>
        <p:spPr>
          <a:xfrm>
            <a:off x="8220456" y="5120640"/>
            <a:ext cx="100584" cy="100584"/>
          </a:xfrm>
          <a:prstGeom prst="ellipse">
            <a:avLst/>
          </a:prstGeom>
          <a:solidFill>
            <a:srgbClr val="00A896">
              <a:alpha val="32000"/>
            </a:srgbClr>
          </a:solidFill>
          <a:ln w="12700">
            <a:solidFill>
              <a:srgbClr val="00A896">
                <a:alpha val="32000"/>
              </a:srgbClr>
            </a:solidFill>
            <a:prstDash val="solid"/>
          </a:ln>
        </p:spPr>
      </p:sp>
      <p:sp>
        <p:nvSpPr>
          <p:cNvPr id="56" name="Text 54"/>
          <p:cNvSpPr/>
          <p:nvPr/>
        </p:nvSpPr>
        <p:spPr>
          <a:xfrm>
            <a:off x="914400" y="960120"/>
            <a:ext cx="7315200" cy="868680"/>
          </a:xfrm>
          <a:prstGeom prst="rect">
            <a:avLst/>
          </a:prstGeom>
          <a:noFill/>
          <a:ln/>
        </p:spPr>
        <p:txBody>
          <a:bodyPr wrap="square" lIns="0" tIns="0" rIns="0" bIns="0" rtlCol="0" anchor="ctr"/>
          <a:lstStyle/>
          <a:p>
            <a:pPr algn="ctr" indent="0" marL="0">
              <a:buNone/>
            </a:pPr>
            <a:r>
              <a:rPr lang="en-US" sz="5400" b="1" dirty="0">
                <a:solidFill>
                  <a:srgbClr val="FFFFFF"/>
                </a:solidFill>
                <a:latin typeface="Trebuchet MS" pitchFamily="34" charset="0"/>
                <a:ea typeface="Trebuchet MS" pitchFamily="34" charset="-122"/>
                <a:cs typeface="Trebuchet MS" pitchFamily="34" charset="-120"/>
              </a:rPr>
              <a:t>Thank You</a:t>
            </a:r>
            <a:endParaRPr lang="en-US" sz="5400" dirty="0"/>
          </a:p>
        </p:txBody>
      </p:sp>
      <p:sp>
        <p:nvSpPr>
          <p:cNvPr id="57" name="Text 55"/>
          <p:cNvSpPr/>
          <p:nvPr/>
        </p:nvSpPr>
        <p:spPr>
          <a:xfrm>
            <a:off x="914400" y="1938528"/>
            <a:ext cx="7315200" cy="420624"/>
          </a:xfrm>
          <a:prstGeom prst="rect">
            <a:avLst/>
          </a:prstGeom>
          <a:noFill/>
          <a:ln/>
        </p:spPr>
        <p:txBody>
          <a:bodyPr wrap="square" lIns="0" tIns="0" rIns="0" bIns="0" rtlCol="0" anchor="ctr"/>
          <a:lstStyle/>
          <a:p>
            <a:pPr algn="ctr" indent="0" marL="0">
              <a:buNone/>
            </a:pPr>
            <a:r>
              <a:rPr lang="en-US" sz="1900" dirty="0">
                <a:solidFill>
                  <a:srgbClr val="02C39A"/>
                </a:solidFill>
                <a:latin typeface="Trebuchet MS" pitchFamily="34" charset="0"/>
                <a:ea typeface="Trebuchet MS" pitchFamily="34" charset="-122"/>
                <a:cs typeface="Trebuchet MS" pitchFamily="34" charset="-120"/>
              </a:rPr>
              <a:t>Questions Welcome</a:t>
            </a:r>
            <a:endParaRPr lang="en-US" sz="1900" dirty="0"/>
          </a:p>
        </p:txBody>
      </p:sp>
      <p:sp>
        <p:nvSpPr>
          <p:cNvPr id="58" name="Shape 56"/>
          <p:cNvSpPr/>
          <p:nvPr/>
        </p:nvSpPr>
        <p:spPr>
          <a:xfrm>
            <a:off x="2926080" y="2487168"/>
            <a:ext cx="3291840" cy="45720"/>
          </a:xfrm>
          <a:prstGeom prst="rect">
            <a:avLst/>
          </a:prstGeom>
          <a:solidFill>
            <a:srgbClr val="00A896">
              <a:alpha val="55000"/>
            </a:srgbClr>
          </a:solidFill>
          <a:ln w="12700">
            <a:solidFill>
              <a:srgbClr val="00A896">
                <a:alpha val="55000"/>
              </a:srgbClr>
            </a:solidFill>
            <a:prstDash val="solid"/>
          </a:ln>
        </p:spPr>
      </p:sp>
      <p:sp>
        <p:nvSpPr>
          <p:cNvPr id="59" name="Shape 57"/>
          <p:cNvSpPr/>
          <p:nvPr/>
        </p:nvSpPr>
        <p:spPr>
          <a:xfrm>
            <a:off x="2560320" y="2743200"/>
            <a:ext cx="4023360" cy="384048"/>
          </a:xfrm>
          <a:prstGeom prst="rect">
            <a:avLst/>
          </a:prstGeom>
          <a:solidFill>
            <a:srgbClr val="028090"/>
          </a:solidFill>
          <a:ln w="12700">
            <a:solidFill>
              <a:srgbClr val="028090"/>
            </a:solidFill>
            <a:prstDash val="solid"/>
          </a:ln>
          <a:effectLst>
            <a:outerShdw sx="100000" sy="100000" kx="0" ky="0" algn="bl" rotWithShape="0" blurRad="88900" dist="38100" dir="8100000">
              <a:srgbClr val="000000">
                <a:alpha val="11000"/>
              </a:srgbClr>
            </a:outerShdw>
          </a:effectLst>
        </p:spPr>
      </p:sp>
      <p:sp>
        <p:nvSpPr>
          <p:cNvPr id="60" name="Text 58"/>
          <p:cNvSpPr/>
          <p:nvPr/>
        </p:nvSpPr>
        <p:spPr>
          <a:xfrm>
            <a:off x="2724912" y="2743200"/>
            <a:ext cx="3749040" cy="384048"/>
          </a:xfrm>
          <a:prstGeom prst="rect">
            <a:avLst/>
          </a:prstGeom>
          <a:noFill/>
          <a:ln/>
        </p:spPr>
        <p:txBody>
          <a:bodyPr wrap="square" lIns="0" tIns="0" rIns="0" bIns="0" rtlCol="0" anchor="ctr"/>
          <a:lstStyle/>
          <a:p>
            <a:pPr algn="l" indent="0" marL="0">
              <a:buNone/>
            </a:pPr>
            <a:r>
              <a:rPr lang="en-US" sz="1200" dirty="0">
                <a:solidFill>
                  <a:srgbClr val="FFFFFF"/>
                </a:solidFill>
                <a:latin typeface="Trebuchet MS" pitchFamily="34" charset="0"/>
                <a:ea typeface="Trebuchet MS" pitchFamily="34" charset="-122"/>
                <a:cs typeface="Trebuchet MS" pitchFamily="34" charset="-120"/>
              </a:rPr>
              <a:t>github.com/nrichar1/wiki-navigation-ai</a:t>
            </a:r>
            <a:endParaRPr lang="en-US" sz="1200" dirty="0"/>
          </a:p>
        </p:txBody>
      </p:sp>
      <p:sp>
        <p:nvSpPr>
          <p:cNvPr id="61" name="Shape 59"/>
          <p:cNvSpPr/>
          <p:nvPr/>
        </p:nvSpPr>
        <p:spPr>
          <a:xfrm>
            <a:off x="0" y="4462272"/>
            <a:ext cx="9144000" cy="681228"/>
          </a:xfrm>
          <a:prstGeom prst="rect">
            <a:avLst/>
          </a:prstGeom>
          <a:solidFill>
            <a:srgbClr val="00A896"/>
          </a:solidFill>
          <a:ln w="12700">
            <a:solidFill>
              <a:srgbClr val="00A896"/>
            </a:solidFill>
            <a:prstDash val="solid"/>
          </a:ln>
        </p:spPr>
      </p:sp>
      <p:sp>
        <p:nvSpPr>
          <p:cNvPr id="62" name="Text 60"/>
          <p:cNvSpPr/>
          <p:nvPr/>
        </p:nvSpPr>
        <p:spPr>
          <a:xfrm>
            <a:off x="0" y="4462272"/>
            <a:ext cx="9144000" cy="681228"/>
          </a:xfrm>
          <a:prstGeom prst="rect">
            <a:avLst/>
          </a:prstGeom>
          <a:noFill/>
          <a:ln/>
        </p:spPr>
        <p:txBody>
          <a:bodyPr wrap="square" lIns="0" tIns="0" rIns="0" bIns="0" rtlCol="0" anchor="ctr"/>
          <a:lstStyle/>
          <a:p>
            <a:pPr algn="ctr" indent="0" marL="0">
              <a:buNone/>
            </a:pPr>
            <a:r>
              <a:rPr lang="en-US" sz="1200" dirty="0">
                <a:solidFill>
                  <a:srgbClr val="FFFFFF"/>
                </a:solidFill>
                <a:latin typeface="Trebuchet MS" pitchFamily="34" charset="0"/>
                <a:ea typeface="Trebuchet MS" pitchFamily="34" charset="-122"/>
                <a:cs typeface="Trebuchet MS" pitchFamily="34" charset="-120"/>
              </a:rPr>
              <a:t>IDDFS  |  A* Search  |  Bidirectional BFS  |  Wikipedia Navigation Problem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2026-03-25T08:28:48Z</dcterms:created>
  <dcterms:modified xsi:type="dcterms:W3CDTF">2026-03-25T08:28:48Z</dcterms:modified>
</cp:coreProperties>
</file>